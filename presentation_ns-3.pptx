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7" r:id="rId6"/>
    <p:sldId id="279" r:id="rId7"/>
    <p:sldId id="282" r:id="rId8"/>
    <p:sldId id="278" r:id="rId9"/>
    <p:sldId id="281" r:id="rId10"/>
  </p:sldIdLst>
  <p:sldSz cx="12192000" cy="6858000"/>
  <p:notesSz cx="6858000" cy="9144000"/>
  <p:defaultTextStyle>
    <a:defPPr rtl="0">
      <a:defRPr lang="el-g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95" autoAdjust="0"/>
  </p:normalViewPr>
  <p:slideViewPr>
    <p:cSldViewPr snapToGrid="0">
      <p:cViewPr varScale="1">
        <p:scale>
          <a:sx n="97" d="100"/>
          <a:sy n="97" d="100"/>
        </p:scale>
        <p:origin x="14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l-GR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0EC7D35-77BB-4867-BAC6-5C40C37B98F1}" type="datetime1">
              <a:rPr lang="el-GR" smtClean="0"/>
              <a:t>30/10/2025</a:t>
            </a:fld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l-GR" dirty="0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l-GR" noProof="0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7ABAE7-72BE-4378-9C66-B300388DE536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l-GR" noProof="0" dirty="0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l-GR" noProof="0" dirty="0"/>
              <a:t>Κάντε κλικ για επεξεργασία των στυλ κειμένου του υποδείγματος</a:t>
            </a:r>
          </a:p>
          <a:p>
            <a:pPr lvl="1" rtl="0"/>
            <a:r>
              <a:rPr lang="el-GR" noProof="0" dirty="0"/>
              <a:t>Δεύτερου επιπέδου</a:t>
            </a:r>
          </a:p>
          <a:p>
            <a:pPr lvl="2" rtl="0"/>
            <a:r>
              <a:rPr lang="el-GR" noProof="0" dirty="0"/>
              <a:t>Τρίτου επιπέδου</a:t>
            </a:r>
          </a:p>
          <a:p>
            <a:pPr lvl="3" rtl="0"/>
            <a:r>
              <a:rPr lang="el-GR" noProof="0" dirty="0"/>
              <a:t>Τέταρτου επιπέδου</a:t>
            </a:r>
          </a:p>
          <a:p>
            <a:pPr lvl="4" rtl="0"/>
            <a:r>
              <a:rPr lang="el-GR" noProof="0" dirty="0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l-GR" smtClean="0"/>
              <a:t>1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Ορθογώνιο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Έλλειψη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el-GR" noProof="0"/>
              <a:t>Κάντε κλικ για να επεξεργαστείτε τον υπότιτλο του υποδείγματος</a:t>
            </a:r>
            <a:endParaRPr lang="el-GR" noProof="0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EABDBA74-E4DB-4313-95D3-B7F630EE7B7F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  <p:cxnSp>
        <p:nvCxnSpPr>
          <p:cNvPr id="8" name="Ευθεία γραμμή σύνδεσης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E5ACA5-56F5-4208-8101-108DA68822C6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Ορθογώνιο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Έλλειψη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AAE694-814A-4F58-A8E2-AA9B6575E0B5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  <p:cxnSp>
        <p:nvCxnSpPr>
          <p:cNvPr id="8" name="Ευθεία γραμμή σύνδεσης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B30D4A-F623-45A5-BE49-543B4B609AF2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Τίτλος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412F62-D18F-463A-9A7E-E4809AAD76E4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009D47-CF8A-48CB-81B8-5988DBFADA28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B075A6-4B0E-489A-92E5-C2C81D969D11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Τίτλος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290451-C354-46E0-BBD8-0317D7A1384C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εικόνας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l-GR" noProof="0"/>
              <a:t>Κάντε κλικ στο εικονίδιο για να προσθέσετε εικόνα</a:t>
            </a:r>
            <a:endParaRPr lang="el-GR" noProof="0" dirty="0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l-GR" noProof="0"/>
              <a:t>Επεξεργασία 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DAA40D-D363-46A0-9276-B6A4797DC9A5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l-GR" noProof="0" smtClean="0"/>
              <a:t>‹#›</a:t>
            </a:fld>
            <a:endParaRPr lang="el-GR" noProof="0" dirty="0"/>
          </a:p>
        </p:txBody>
      </p:sp>
      <p:cxnSp>
        <p:nvCxnSpPr>
          <p:cNvPr id="8" name="Ευθεία γραμμή σύνδεσης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C97E28-F60A-427B-851A-BCC048F06BC7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el-GR" noProof="0"/>
              <a:t>Κάντε κλικ για να επεξεργαστείτε τον τίτλο υποδείγματος</a:t>
            </a:r>
            <a:endParaRPr lang="el-GR" noProof="0" dirty="0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el-GR" noProof="0"/>
              <a:t>Επεξεργασία στυλ υποδείγματος κειμένου</a:t>
            </a:r>
          </a:p>
          <a:p>
            <a:pPr lvl="1" rtl="0"/>
            <a:r>
              <a:rPr lang="el-GR" noProof="0"/>
              <a:t>Δεύτερου επιπέδου</a:t>
            </a:r>
          </a:p>
          <a:p>
            <a:pPr lvl="2" rtl="0"/>
            <a:r>
              <a:rPr lang="el-GR" noProof="0"/>
              <a:t>Τρίτου επιπέδου</a:t>
            </a:r>
          </a:p>
          <a:p>
            <a:pPr lvl="3" rtl="0"/>
            <a:r>
              <a:rPr lang="el-GR" noProof="0"/>
              <a:t>Τέταρτου επιπέδου</a:t>
            </a:r>
          </a:p>
          <a:p>
            <a:pPr lvl="4" rtl="0"/>
            <a:r>
              <a:rPr lang="el-GR" noProof="0"/>
              <a:t>Πέμπτου επιπέδου</a:t>
            </a:r>
            <a:endParaRPr lang="el-GR" noProof="0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A33EDB-81C3-4DAA-87EA-DA21D6A7FC6C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l-GR" noProof="0" smtClean="0"/>
              <a:t>‹#›</a:t>
            </a:fld>
            <a:endParaRPr lang="el-GR" noProof="0" dirty="0"/>
          </a:p>
        </p:txBody>
      </p:sp>
      <p:cxnSp>
        <p:nvCxnSpPr>
          <p:cNvPr id="7" name="Ευθεία γραμμή σύνδεσης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l-GR" noProof="0" dirty="0"/>
              <a:t>Κάντε κλικ για να επεξεργαστείτε το 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el-GR" noProof="0" dirty="0"/>
              <a:t>Κάντε κλικ για επεξεργασία των στυλ κειμένου του υποδείγματος</a:t>
            </a:r>
          </a:p>
          <a:p>
            <a:pPr lvl="1" rtl="0"/>
            <a:r>
              <a:rPr lang="el-GR" noProof="0" dirty="0"/>
              <a:t>Δεύτερου επιπέδου</a:t>
            </a:r>
          </a:p>
          <a:p>
            <a:pPr lvl="2" rtl="0"/>
            <a:r>
              <a:rPr lang="el-GR" noProof="0" dirty="0"/>
              <a:t>Τρίτου επιπέδου</a:t>
            </a:r>
          </a:p>
          <a:p>
            <a:pPr lvl="3" rtl="0"/>
            <a:r>
              <a:rPr lang="el-GR" noProof="0" dirty="0"/>
              <a:t>Τέταρτου επιπέδου</a:t>
            </a:r>
          </a:p>
          <a:p>
            <a:pPr lvl="4" rtl="0"/>
            <a:r>
              <a:rPr lang="el-GR" noProof="0" dirty="0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F98FDC76-A1F5-4EE8-BDE3-5EFC56AAE7AD}" type="datetime1">
              <a:rPr lang="el-GR" noProof="0" smtClean="0"/>
              <a:t>30/10/2025</a:t>
            </a:fld>
            <a:endParaRPr lang="el-GR" noProof="0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l-GR" noProof="0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4FAB73BC-B049-4115-A692-8D63A059BFB8}" type="slidenum">
              <a:rPr lang="el-GR" noProof="0" smtClean="0"/>
              <a:pPr/>
              <a:t>‹#›</a:t>
            </a:fld>
            <a:endParaRPr lang="el-GR" noProof="0" dirty="0"/>
          </a:p>
        </p:txBody>
      </p:sp>
      <p:cxnSp>
        <p:nvCxnSpPr>
          <p:cNvPr id="7" name="Ευθεία γραμμή σύνδεσης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snam.org/docs/contributing/html/coding-style.html#header-file-includes" TargetMode="External"/><Relationship Id="rId7" Type="http://schemas.openxmlformats.org/officeDocument/2006/relationships/hyperlink" Target="https://www.nsnam.org/docs/tutorial/html/building-topologies.html" TargetMode="External"/><Relationship Id="rId2" Type="http://schemas.openxmlformats.org/officeDocument/2006/relationships/hyperlink" Target="https://www.nsnam.org/document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2W5mdzQrwXI" TargetMode="External"/><Relationship Id="rId5" Type="http://schemas.openxmlformats.org/officeDocument/2006/relationships/hyperlink" Target="https://www.youtube.com/watch?v=Jv_swgcykjQ" TargetMode="External"/><Relationship Id="rId4" Type="http://schemas.openxmlformats.org/officeDocument/2006/relationships/hyperlink" Target="https://www.nsnam.org/docs/tutorial/htm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Ορθογώνιο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l-GR" dirty="0">
              <a:latin typeface="Calibri" panose="020F0502020204030204" pitchFamily="34" charset="0"/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Ορθογώνιο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l-GR" dirty="0">
              <a:latin typeface="Calibri" panose="020F0502020204030204" pitchFamily="34" charset="0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 fontScale="90000"/>
          </a:bodyPr>
          <a:lstStyle/>
          <a:p>
            <a:pPr algn="l"/>
            <a:r>
              <a:rPr lang="el-GR" b="1" dirty="0">
                <a:solidFill>
                  <a:srgbClr val="FFFFFF"/>
                </a:solidFill>
              </a:rPr>
              <a:t>ΠΡΟΣΟΜΟΙΩΣΗ ΔΙΚΤΥΟΥ ΜΕ</a:t>
            </a:r>
            <a:r>
              <a:rPr lang="en-US" b="1" dirty="0">
                <a:solidFill>
                  <a:srgbClr val="FFFFFF"/>
                </a:solidFill>
              </a:rPr>
              <a:t> NS-3</a:t>
            </a:r>
            <a:endParaRPr lang="el-GR" b="1" dirty="0">
              <a:solidFill>
                <a:srgbClr val="FFFFFF"/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165476" cy="474006"/>
          </a:xfrm>
        </p:spPr>
        <p:txBody>
          <a:bodyPr rtlCol="0" anchor="t">
            <a:normAutofit fontScale="77500" lnSpcReduction="20000"/>
          </a:bodyPr>
          <a:lstStyle/>
          <a:p>
            <a:r>
              <a:rPr lang="el-GR" dirty="0">
                <a:solidFill>
                  <a:srgbClr val="FFFFFF"/>
                </a:solidFill>
              </a:rPr>
              <a:t>Κωσταντίνος Γκύλλης, ΑΜ:1100526</a:t>
            </a:r>
          </a:p>
          <a:p>
            <a:r>
              <a:rPr lang="el-GR" dirty="0">
                <a:solidFill>
                  <a:srgbClr val="FFFFFF"/>
                </a:solidFill>
              </a:rPr>
              <a:t>Γεωργία Μυλωνά, ΑΜ: 1104783</a:t>
            </a:r>
          </a:p>
        </p:txBody>
      </p:sp>
      <p:cxnSp>
        <p:nvCxnSpPr>
          <p:cNvPr id="23" name="Ευθεία γραμμή σύνδεσης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el-GR" b="1" dirty="0"/>
              <a:t>Κυριο θεμα της εργασιασ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7415F4C-54AA-443E-9712-CE3889761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l-GR" dirty="0"/>
              <a:t>Προσομοιώσαμε την λειτουργία μιας σύνδεσης </a:t>
            </a:r>
            <a:r>
              <a:rPr lang="en-US" dirty="0"/>
              <a:t> point to point </a:t>
            </a:r>
            <a:r>
              <a:rPr lang="el-GR" dirty="0"/>
              <a:t>στην οποία στέλνονται πακέτα από το έναν κόμβο στον άλλον.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l-GR" dirty="0"/>
              <a:t>Η μετάδοση αυτή έγινε με την τεχνική του </a:t>
            </a:r>
            <a:r>
              <a:rPr lang="en-US" dirty="0"/>
              <a:t>UDP-echo (more info about UDP-echo</a:t>
            </a:r>
            <a:r>
              <a:rPr lang="el-GR" dirty="0"/>
              <a:t> :</a:t>
            </a:r>
            <a:br>
              <a:rPr lang="el-GR" dirty="0"/>
            </a:br>
            <a:r>
              <a:rPr lang="el-GR" dirty="0"/>
              <a:t>«</a:t>
            </a:r>
            <a:r>
              <a:rPr lang="en-GB" dirty="0"/>
              <a:t>a process for testing network connectivity and measuring response time by sending a UDP packet to a destination and waiting for the destination to send it back</a:t>
            </a:r>
            <a:r>
              <a:rPr lang="el-GR" dirty="0"/>
              <a:t>» ).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l-GR" dirty="0"/>
              <a:t>Έχουμε 2 </a:t>
            </a:r>
            <a:r>
              <a:rPr lang="en-US" dirty="0"/>
              <a:t>servers </a:t>
            </a:r>
            <a:r>
              <a:rPr lang="el-GR" dirty="0"/>
              <a:t>(κόμβος 1) που εξυπηρετούν 2 πελάτες (κόμβος 0)</a:t>
            </a:r>
            <a:r>
              <a:rPr lang="en-US" dirty="0"/>
              <a:t>.</a:t>
            </a:r>
            <a:r>
              <a:rPr lang="el-GR" dirty="0"/>
              <a:t> Στην διάταξη αυτή, οι πελάτες παίρνουν διευθύνσεις από τους </a:t>
            </a:r>
            <a:r>
              <a:rPr lang="en-US" dirty="0"/>
              <a:t>servers</a:t>
            </a:r>
            <a:r>
              <a:rPr lang="el-GR" dirty="0"/>
              <a:t> αφού πρώτα  εγκαθιδρυθεί η σύνδεση μεταξύ τους.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83BE075-A1BA-4528-A907-BE892544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ΒΗΜΑΤΑ ΥΛΟΠΟΙΗΣΗΣ ΤΗΣ ΕΡΓΑΣΙΑΣ</a:t>
            </a:r>
            <a:r>
              <a:rPr lang="en-US" b="1" dirty="0"/>
              <a:t> (1)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846792E-DE04-4CE2-B5D8-B785F3F8C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/>
              <a:t>Χρησιμοποιήσαμε τα εξής εργαλεία για την υλοποίηση της άσκησης :</a:t>
            </a:r>
            <a:br>
              <a:rPr lang="el-GR" dirty="0"/>
            </a:br>
            <a:r>
              <a:rPr lang="el-GR" dirty="0"/>
              <a:t>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VMware Workstation Pro</a:t>
            </a:r>
            <a:r>
              <a:rPr lang="el-GR" dirty="0"/>
              <a:t> για το </a:t>
            </a:r>
            <a:r>
              <a:rPr lang="en-US" dirty="0"/>
              <a:t>Linux VM.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Ubuntu Linux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Discord </a:t>
            </a:r>
            <a:r>
              <a:rPr lang="el-GR" dirty="0"/>
              <a:t>για την επικοινωνία και συγχρονισμό των μελών της ομάδας.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FC7C8-3E1A-1BC4-1438-EB7E3E40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3179" y="4618275"/>
            <a:ext cx="2119364" cy="2119364"/>
          </a:xfrm>
          <a:prstGeom prst="rect">
            <a:avLst/>
          </a:prstGeom>
        </p:spPr>
      </p:pic>
      <p:pic>
        <p:nvPicPr>
          <p:cNvPr id="7" name="Picture 6" descr="A blue and orange square logo&#10;&#10;AI-generated content may be incorrect.">
            <a:extLst>
              <a:ext uri="{FF2B5EF4-FFF2-40B4-BE49-F238E27FC236}">
                <a16:creationId xmlns:a16="http://schemas.microsoft.com/office/drawing/2014/main" id="{C9DE2D26-6AFA-0109-C2F1-F425F3EA2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91" y="4316772"/>
            <a:ext cx="2722370" cy="2722370"/>
          </a:xfrm>
          <a:prstGeom prst="rect">
            <a:avLst/>
          </a:prstGeom>
        </p:spPr>
      </p:pic>
      <p:pic>
        <p:nvPicPr>
          <p:cNvPr id="9" name="Picture 8" descr="A logo with a circle and a circle with a circle and a circle with a circle with a circle with a circle with a circle with a circle with a circle with a circle with a circle with&#10;&#10;AI-generated content may be incorrect.">
            <a:extLst>
              <a:ext uri="{FF2B5EF4-FFF2-40B4-BE49-F238E27FC236}">
                <a16:creationId xmlns:a16="http://schemas.microsoft.com/office/drawing/2014/main" id="{A059D40E-1E60-0DBC-1A62-414710D2E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040" y="4777844"/>
            <a:ext cx="25431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0311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682E-C30A-EC5F-F169-76ED3D8D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65C177-78EC-E045-063E-270C7A4F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338942"/>
          </a:xfrm>
        </p:spPr>
        <p:txBody>
          <a:bodyPr/>
          <a:lstStyle/>
          <a:p>
            <a:r>
              <a:rPr lang="el-GR" b="1" dirty="0"/>
              <a:t>ΒΗΜΑΤΑ ΥΛΟΠΟΙΗΣΗΣ ΤΗΣ ΕΡΓΑΣΙΑΣ</a:t>
            </a:r>
            <a:r>
              <a:rPr lang="en-US" b="1" dirty="0"/>
              <a:t> (</a:t>
            </a:r>
            <a:r>
              <a:rPr lang="el-GR" b="1" dirty="0"/>
              <a:t>2</a:t>
            </a:r>
            <a:r>
              <a:rPr lang="en-US" b="1" dirty="0"/>
              <a:t>)</a:t>
            </a:r>
            <a:endParaRPr lang="el-GR" b="1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1F1056E-B878-8B1C-3420-F817646D1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882" y="2898459"/>
            <a:ext cx="4749282" cy="300800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l-GR" sz="2000" dirty="0"/>
              <a:t>Μελετήσαμε την βιβλιογραφία του </a:t>
            </a:r>
            <a:r>
              <a:rPr lang="en-US" sz="2000" dirty="0"/>
              <a:t>NS-3</a:t>
            </a:r>
            <a:r>
              <a:rPr lang="el-GR" sz="2000" dirty="0"/>
              <a:t> και πιο συγκεκριμένα το  </a:t>
            </a:r>
            <a:r>
              <a:rPr lang="en-US" sz="2000" dirty="0"/>
              <a:t>“ns-3 tutorial” </a:t>
            </a:r>
            <a:r>
              <a:rPr lang="el-GR" sz="2000" dirty="0"/>
              <a:t>για απλά παραδείγματα χρήσης του νέου αυτού εργαλείου.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l-GR" sz="2000" dirty="0"/>
              <a:t>Στην συνέχεια ανατρέξαμε στο </a:t>
            </a:r>
            <a:r>
              <a:rPr lang="en-US" sz="2000" dirty="0"/>
              <a:t>“ns-3 Model Library” </a:t>
            </a:r>
            <a:r>
              <a:rPr lang="el-GR" sz="2000" dirty="0"/>
              <a:t>για διασαφηνίσουμε κάποιες έννοιες που αναφέρονταν στην εργασία.</a:t>
            </a:r>
            <a:br>
              <a:rPr lang="en-US" sz="2000" dirty="0"/>
            </a:br>
            <a:endParaRPr lang="el-G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FED06-2B00-5AAC-F37F-EE97C2DA7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710" y="1924158"/>
            <a:ext cx="5483290" cy="49566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938350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356E8B7-F79F-49D2-A78C-DB579403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66165"/>
            <a:ext cx="9720072" cy="1618667"/>
          </a:xfrm>
        </p:spPr>
        <p:txBody>
          <a:bodyPr>
            <a:normAutofit fontScale="90000"/>
          </a:bodyPr>
          <a:lstStyle/>
          <a:p>
            <a:r>
              <a:rPr lang="el-GR" b="1" dirty="0"/>
              <a:t>δεδομενΑ και αποτελεσματα του ερωτηματοσ 1</a:t>
            </a:r>
            <a:br>
              <a:rPr lang="el-GR" dirty="0"/>
            </a:b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4EFDE80-4506-46C6-AB1D-895B4578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Εκτελώντας την προσομοίωση </a:t>
            </a:r>
            <a:r>
              <a:rPr lang="en-US" dirty="0"/>
              <a:t>point </a:t>
            </a:r>
            <a:r>
              <a:rPr lang="en-US"/>
              <a:t>to point </a:t>
            </a:r>
            <a:r>
              <a:rPr lang="el-GR" dirty="0"/>
              <a:t>σύνδεσης στο </a:t>
            </a:r>
            <a:r>
              <a:rPr lang="en-US" dirty="0"/>
              <a:t>Ubuntu</a:t>
            </a:r>
            <a:r>
              <a:rPr lang="el-GR" dirty="0"/>
              <a:t> σύστημα μας, προέκυψαν τα εξής δεδομένα :</a:t>
            </a:r>
          </a:p>
          <a:p>
            <a:pPr>
              <a:buFont typeface="Arial" panose="020B0604020202020204" pitchFamily="34" charset="0"/>
              <a:buChar char="•"/>
            </a:pPr>
            <a:endParaRPr lang="el-GR" u="sng" dirty="0"/>
          </a:p>
          <a:p>
            <a:r>
              <a:rPr lang="el-GR" u="sng" dirty="0"/>
              <a:t>[</a:t>
            </a:r>
            <a:r>
              <a:rPr lang="en-US" u="sng" dirty="0"/>
              <a:t>screenshot]</a:t>
            </a:r>
            <a:endParaRPr lang="el-GR" u="sng" dirty="0"/>
          </a:p>
        </p:txBody>
      </p:sp>
    </p:spTree>
    <p:extLst>
      <p:ext uri="{BB962C8B-B14F-4D97-AF65-F5344CB8AC3E}">
        <p14:creationId xmlns:p14="http://schemas.microsoft.com/office/powerpoint/2010/main" val="304525112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3B5979B-DAA2-4179-A467-7A963AB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Πηγες</a:t>
            </a:r>
            <a:r>
              <a:rPr lang="en-US" b="1" dirty="0"/>
              <a:t> kai </a:t>
            </a:r>
            <a:r>
              <a:rPr lang="el-GR" b="1" dirty="0"/>
              <a:t>Βιβλιογραφια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C15E7EE-1AAC-44FA-9CBE-14186AB94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435291"/>
            <a:ext cx="9720073" cy="3508310"/>
          </a:xfrm>
        </p:spPr>
        <p:txBody>
          <a:bodyPr>
            <a:normAutofit fontScale="77500" lnSpcReduction="20000"/>
          </a:bodyPr>
          <a:lstStyle/>
          <a:p>
            <a:r>
              <a:rPr lang="el-GR" sz="2600" dirty="0"/>
              <a:t>Από τα εξής </a:t>
            </a:r>
            <a:r>
              <a:rPr lang="en-US" sz="2600" dirty="0"/>
              <a:t>link</a:t>
            </a:r>
            <a:r>
              <a:rPr lang="el-GR" sz="2600" dirty="0"/>
              <a:t>:</a:t>
            </a:r>
            <a:br>
              <a:rPr lang="en-US" dirty="0"/>
            </a:br>
            <a:br>
              <a:rPr lang="en-US" sz="2600" dirty="0"/>
            </a:br>
            <a:r>
              <a:rPr lang="en-US" sz="2600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https://www.nsnam.org/documentation/</a:t>
            </a:r>
            <a:endParaRPr lang="el-GR" sz="2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600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https://www.nsnam.org/docs/contributing/html/coding-style.html#header-file-includes</a:t>
            </a:r>
            <a:endParaRPr lang="el-GR" sz="2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600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https://www.nsnam.org/docs/tutorial/html/</a:t>
            </a:r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600" dirty="0">
                <a:solidFill>
                  <a:schemeClr val="accent1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https://www.youtube.com/watch?v=Jv_swgcykjQ</a:t>
            </a:r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600" dirty="0">
                <a:solidFill>
                  <a:schemeClr val="accent1">
                    <a:lumMod val="7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https://www.youtube.com/watch?v=2W5mdzQrwXI</a:t>
            </a:r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600" dirty="0">
                <a:solidFill>
                  <a:schemeClr val="accent1">
                    <a:lumMod val="7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https://www.nsnam.org/docs/tutorial/html/building-topologies.html</a:t>
            </a:r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  <a:p>
            <a:br>
              <a:rPr lang="en-US" dirty="0"/>
            </a:b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234120531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Ολοκλήρωμα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159_TF22378848.potx" id="{51E92035-72BC-4B07-89CE-59A925E51368}" vid="{AC9007D9-22C0-4E44-B232-42ADFD1A74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Ολοκληρωμένος σχεδιασμός</Template>
  <TotalTime>112</TotalTime>
  <Words>339</Words>
  <Application>Microsoft Office PowerPoint</Application>
  <PresentationFormat>Ευρεία οθόνη</PresentationFormat>
  <Paragraphs>29</Paragraphs>
  <Slides>6</Slides>
  <Notes>2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</vt:i4>
      </vt:variant>
    </vt:vector>
  </HeadingPairs>
  <TitlesOfParts>
    <vt:vector size="11" baseType="lpstr">
      <vt:lpstr>Arial</vt:lpstr>
      <vt:lpstr>Calibri</vt:lpstr>
      <vt:lpstr>Tw Cen MT</vt:lpstr>
      <vt:lpstr>Wingdings 3</vt:lpstr>
      <vt:lpstr>Ολοκλήρωμα</vt:lpstr>
      <vt:lpstr>ΠΡΟΣΟΜΟΙΩΣΗ ΔΙΚΤΥΟΥ ΜΕ NS-3</vt:lpstr>
      <vt:lpstr>Κυριο θεμα της εργασιασ</vt:lpstr>
      <vt:lpstr>ΒΗΜΑΤΑ ΥΛΟΠΟΙΗΣΗΣ ΤΗΣ ΕΡΓΑΣΙΑΣ (1)</vt:lpstr>
      <vt:lpstr>ΒΗΜΑΤΑ ΥΛΟΠΟΙΗΣΗΣ ΤΗΣ ΕΡΓΑΣΙΑΣ (2)</vt:lpstr>
      <vt:lpstr>δεδομενΑ και αποτελεσματα του ερωτηματοσ 1 </vt:lpstr>
      <vt:lpstr>Πηγες kai Βιβλιογραφια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ΠΡΟΣΟΜΟΙΩΣΗ ΔΙΚΤΥΟΥ ΜΕ NS-3</dc:title>
  <dc:creator/>
  <cp:lastModifiedBy>Georgia</cp:lastModifiedBy>
  <cp:revision>30</cp:revision>
  <dcterms:created xsi:type="dcterms:W3CDTF">2025-10-19T19:42:56Z</dcterms:created>
  <dcterms:modified xsi:type="dcterms:W3CDTF">2025-10-30T10:40:55Z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