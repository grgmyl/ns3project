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4"/>
  </p:notesMasterIdLst>
  <p:handoutMasterIdLst>
    <p:handoutMasterId r:id="rId25"/>
  </p:handoutMasterIdLst>
  <p:sldIdLst>
    <p:sldId id="256" r:id="rId5"/>
    <p:sldId id="277" r:id="rId6"/>
    <p:sldId id="279" r:id="rId7"/>
    <p:sldId id="282" r:id="rId8"/>
    <p:sldId id="284" r:id="rId9"/>
    <p:sldId id="283" r:id="rId10"/>
    <p:sldId id="278" r:id="rId11"/>
    <p:sldId id="290" r:id="rId12"/>
    <p:sldId id="287" r:id="rId13"/>
    <p:sldId id="293" r:id="rId14"/>
    <p:sldId id="298" r:id="rId15"/>
    <p:sldId id="299" r:id="rId16"/>
    <p:sldId id="294" r:id="rId17"/>
    <p:sldId id="296" r:id="rId18"/>
    <p:sldId id="300" r:id="rId19"/>
    <p:sldId id="295" r:id="rId20"/>
    <p:sldId id="301" r:id="rId21"/>
    <p:sldId id="288" r:id="rId22"/>
    <p:sldId id="281" r:id="rId23"/>
  </p:sldIdLst>
  <p:sldSz cx="12192000" cy="6858000"/>
  <p:notesSz cx="6858000" cy="9144000"/>
  <p:defaultTextStyle>
    <a:defPPr rtl="0">
      <a:defRPr lang="el-g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95"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dirty="0"/>
          </a:p>
        </p:txBody>
      </p:sp>
      <p:sp>
        <p:nvSpPr>
          <p:cNvPr id="3" name="Θέση ημερομηνίας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0EC7D35-77BB-4867-BAC6-5C40C37B98F1}" type="datetime1">
              <a:rPr lang="el-GR" smtClean="0"/>
              <a:t>9/12/2025</a:t>
            </a:fld>
            <a:endParaRPr lang="el-GR" dirty="0"/>
          </a:p>
        </p:txBody>
      </p:sp>
      <p:sp>
        <p:nvSpPr>
          <p:cNvPr id="4" name="Θέση υποσέλιδου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dirty="0"/>
          </a:p>
        </p:txBody>
      </p:sp>
      <p:sp>
        <p:nvSpPr>
          <p:cNvPr id="5" name="Θέση αριθμού διαφάνειας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B53ADFC-ABB8-401A-BB24-33FDAFEDCEBD}" type="slidenum">
              <a:rPr lang="el-GR" smtClean="0"/>
              <a:t>‹#›</a:t>
            </a:fld>
            <a:endParaRPr lang="el-GR" dirty="0"/>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noProof="0" dirty="0"/>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707ABAE7-72BE-4378-9C66-B300388DE536}" type="datetime1">
              <a:rPr lang="el-GR" noProof="0" smtClean="0"/>
              <a:t>9/12/2025</a:t>
            </a:fld>
            <a:endParaRPr lang="el-GR" noProof="0" dirty="0"/>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l-GR" noProof="0" dirty="0"/>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l-GR" noProof="0" dirty="0"/>
              <a:t>Κάντε κλικ για επεξεργασία των στυλ κειμένου του υποδείγματος</a:t>
            </a:r>
          </a:p>
          <a:p>
            <a:pPr lvl="1" rtl="0"/>
            <a:r>
              <a:rPr lang="el-GR" noProof="0" dirty="0"/>
              <a:t>Δεύτερου επιπέδου</a:t>
            </a:r>
          </a:p>
          <a:p>
            <a:pPr lvl="2" rtl="0"/>
            <a:r>
              <a:rPr lang="el-GR" noProof="0" dirty="0"/>
              <a:t>Τρίτου επιπέδου</a:t>
            </a:r>
          </a:p>
          <a:p>
            <a:pPr lvl="3" rtl="0"/>
            <a:r>
              <a:rPr lang="el-GR" noProof="0" dirty="0"/>
              <a:t>Τέταρτου επιπέδου</a:t>
            </a:r>
          </a:p>
          <a:p>
            <a:pPr lvl="4" rtl="0"/>
            <a:r>
              <a:rPr lang="el-GR" noProof="0" dirty="0"/>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noProof="0" dirty="0"/>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725628-3A68-42F4-BA86-981817953149}" type="slidenum">
              <a:rPr lang="el-GR" noProof="0" smtClean="0"/>
              <a:t>‹#›</a:t>
            </a:fld>
            <a:endParaRPr lang="el-GR" noProof="0"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txBody>
          <a:bodyPr/>
          <a:lstStyle/>
          <a:p>
            <a:endParaRPr lang="en-GB" dirty="0"/>
          </a:p>
        </p:txBody>
      </p:sp>
      <p:sp>
        <p:nvSpPr>
          <p:cNvPr id="3" name="Θέση σημειώσεων 2"/>
          <p:cNvSpPr>
            <a:spLocks noGrp="1"/>
          </p:cNvSpPr>
          <p:nvPr>
            <p:ph type="body" idx="1"/>
          </p:nvPr>
        </p:nvSpPr>
        <p:spPr/>
        <p:txBody>
          <a:bodyPr rtlCol="0"/>
          <a:lstStyle/>
          <a:p>
            <a:pPr rtl="0"/>
            <a:endParaRPr lang="el-GR" dirty="0"/>
          </a:p>
        </p:txBody>
      </p:sp>
      <p:sp>
        <p:nvSpPr>
          <p:cNvPr id="4" name="Θέση αριθμού διαφάνειας 3"/>
          <p:cNvSpPr>
            <a:spLocks noGrp="1"/>
          </p:cNvSpPr>
          <p:nvPr>
            <p:ph type="sldNum" sz="quarter" idx="10"/>
          </p:nvPr>
        </p:nvSpPr>
        <p:spPr/>
        <p:txBody>
          <a:bodyPr rtlCol="0"/>
          <a:lstStyle/>
          <a:p>
            <a:pPr rtl="0"/>
            <a:fld id="{4B725628-3A68-42F4-BA86-981817953149}" type="slidenum">
              <a:rPr lang="el-GR" smtClean="0"/>
              <a:t>1</a:t>
            </a:fld>
            <a:endParaRPr lang="el-GR" dirty="0"/>
          </a:p>
        </p:txBody>
      </p:sp>
    </p:spTree>
    <p:extLst>
      <p:ext uri="{BB962C8B-B14F-4D97-AF65-F5344CB8AC3E}">
        <p14:creationId xmlns:p14="http://schemas.microsoft.com/office/powerpoint/2010/main" val="3859257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txBody>
          <a:bodyPr/>
          <a:lstStyle/>
          <a:p>
            <a:endParaRPr lang="en-GB" dirty="0"/>
          </a:p>
        </p:txBody>
      </p:sp>
      <p:sp>
        <p:nvSpPr>
          <p:cNvPr id="3" name="Θέση σημειώσεων 2"/>
          <p:cNvSpPr>
            <a:spLocks noGrp="1"/>
          </p:cNvSpPr>
          <p:nvPr>
            <p:ph type="body" idx="1"/>
          </p:nvPr>
        </p:nvSpPr>
        <p:spPr/>
        <p:txBody>
          <a:bodyPr rtlCol="0"/>
          <a:lstStyle/>
          <a:p>
            <a:pPr rtl="0"/>
            <a:endParaRPr lang="el-GR" dirty="0"/>
          </a:p>
        </p:txBody>
      </p:sp>
      <p:sp>
        <p:nvSpPr>
          <p:cNvPr id="4" name="Θέση αριθμού διαφάνειας 3"/>
          <p:cNvSpPr>
            <a:spLocks noGrp="1"/>
          </p:cNvSpPr>
          <p:nvPr>
            <p:ph type="sldNum" sz="quarter" idx="10"/>
          </p:nvPr>
        </p:nvSpPr>
        <p:spPr/>
        <p:txBody>
          <a:bodyPr rtlCol="0"/>
          <a:lstStyle/>
          <a:p>
            <a:pPr rtl="0"/>
            <a:fld id="{4B725628-3A68-42F4-BA86-981817953149}" type="slidenum">
              <a:rPr lang="el-GR" smtClean="0"/>
              <a:t>2</a:t>
            </a:fld>
            <a:endParaRPr lang="el-GR" dirty="0"/>
          </a:p>
        </p:txBody>
      </p:sp>
    </p:spTree>
    <p:extLst>
      <p:ext uri="{BB962C8B-B14F-4D97-AF65-F5344CB8AC3E}">
        <p14:creationId xmlns:p14="http://schemas.microsoft.com/office/powerpoint/2010/main" val="3959845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Διαφάνεια τίτλου">
    <p:spTree>
      <p:nvGrpSpPr>
        <p:cNvPr id="1" name=""/>
        <p:cNvGrpSpPr/>
        <p:nvPr/>
      </p:nvGrpSpPr>
      <p:grpSpPr>
        <a:xfrm>
          <a:off x="0" y="0"/>
          <a:ext cx="0" cy="0"/>
          <a:chOff x="0" y="0"/>
          <a:chExt cx="0" cy="0"/>
        </a:xfrm>
      </p:grpSpPr>
      <p:sp>
        <p:nvSpPr>
          <p:cNvPr id="10" name="Ορθογώνιο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1" name="Έλλειψη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Τίτλος 1"/>
          <p:cNvSpPr>
            <a:spLocks noGrp="1"/>
          </p:cNvSpPr>
          <p:nvPr>
            <p:ph type="ctrTitle"/>
          </p:nvPr>
        </p:nvSpPr>
        <p:spPr>
          <a:xfrm>
            <a:off x="457200" y="4960137"/>
            <a:ext cx="7772400" cy="1463040"/>
          </a:xfrm>
        </p:spPr>
        <p:txBody>
          <a:bodyPr rtlCol="0" anchor="ctr">
            <a:normAutofit/>
          </a:bodyPr>
          <a:lstStyle>
            <a:lvl1pPr algn="r">
              <a:defRPr sz="5000" spc="200" baseline="0"/>
            </a:lvl1pPr>
          </a:lstStyle>
          <a:p>
            <a:pPr rtl="0"/>
            <a:r>
              <a:rPr lang="el-GR" noProof="0"/>
              <a:t>Κάντε κλικ για να επεξεργαστείτε τον τίτλο υποδείγματος</a:t>
            </a:r>
            <a:endParaRPr lang="el-GR" noProof="0" dirty="0"/>
          </a:p>
        </p:txBody>
      </p:sp>
      <p:sp>
        <p:nvSpPr>
          <p:cNvPr id="3" name="Υπότιτλος 2"/>
          <p:cNvSpPr>
            <a:spLocks noGrp="1"/>
          </p:cNvSpPr>
          <p:nvPr>
            <p:ph type="subTitle" idx="1"/>
          </p:nvPr>
        </p:nvSpPr>
        <p:spPr>
          <a:xfrm>
            <a:off x="8610600" y="4960137"/>
            <a:ext cx="3200400" cy="1463040"/>
          </a:xfrm>
        </p:spPr>
        <p:txBody>
          <a:bodyPr lIns="91440" rIns="91440" rtlCol="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el-GR" noProof="0" dirty="0"/>
              <a:t>Κάντε κλικ για να επεξεργαστείτε τον υπότιτλο του υποδείγματος</a:t>
            </a:r>
          </a:p>
        </p:txBody>
      </p:sp>
      <p:sp>
        <p:nvSpPr>
          <p:cNvPr id="4" name="Θέση ημερομηνίας 3"/>
          <p:cNvSpPr>
            <a:spLocks noGrp="1"/>
          </p:cNvSpPr>
          <p:nvPr>
            <p:ph type="dt" sz="half" idx="10"/>
          </p:nvPr>
        </p:nvSpPr>
        <p:spPr/>
        <p:txBody>
          <a:bodyPr rtlCol="0"/>
          <a:lstStyle>
            <a:lvl1pPr algn="l">
              <a:defRPr/>
            </a:lvl1pPr>
          </a:lstStyle>
          <a:p>
            <a:pPr rtl="0"/>
            <a:fld id="{EABDBA74-E4DB-4313-95D3-B7F630EE7B7F}" type="datetime1">
              <a:rPr lang="el-GR" noProof="0" smtClean="0"/>
              <a:t>9/12/2025</a:t>
            </a:fld>
            <a:endParaRPr lang="el-GR" noProof="0" dirty="0"/>
          </a:p>
        </p:txBody>
      </p:sp>
      <p:sp>
        <p:nvSpPr>
          <p:cNvPr id="5" name="Θέση υποσέλιδου 4"/>
          <p:cNvSpPr>
            <a:spLocks noGrp="1"/>
          </p:cNvSpPr>
          <p:nvPr>
            <p:ph type="ftr" sz="quarter" idx="11"/>
          </p:nvPr>
        </p:nvSpPr>
        <p:spPr/>
        <p:txBody>
          <a:bodyPr rtlCol="0"/>
          <a:lstStyle/>
          <a:p>
            <a:pPr rtl="0"/>
            <a:endParaRPr lang="el-GR" noProof="0" dirty="0"/>
          </a:p>
        </p:txBody>
      </p:sp>
      <p:sp>
        <p:nvSpPr>
          <p:cNvPr id="6" name="Θέση αριθμού διαφάνειας 5"/>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cxnSp>
        <p:nvCxnSpPr>
          <p:cNvPr id="8" name="Ευθεία γραμμή σύνδεσης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lstStyle/>
          <a:p>
            <a:pPr rtl="0"/>
            <a:r>
              <a:rPr lang="el-GR" noProof="0"/>
              <a:t>Κάντε κλικ για να επεξεργαστείτε τον τίτλο υποδείγματος</a:t>
            </a:r>
            <a:endParaRPr lang="el-GR" noProof="0" dirty="0"/>
          </a:p>
        </p:txBody>
      </p:sp>
      <p:sp>
        <p:nvSpPr>
          <p:cNvPr id="3" name="Θέση περιεχομένου 2"/>
          <p:cNvSpPr>
            <a:spLocks noGrp="1"/>
          </p:cNvSpPr>
          <p:nvPr>
            <p:ph idx="1"/>
          </p:nvPr>
        </p:nvSpPr>
        <p:spPr/>
        <p:txBody>
          <a:bodyPr rtlCol="0"/>
          <a:lstStyle/>
          <a:p>
            <a:pPr lvl="0" rtl="0"/>
            <a:r>
              <a:rPr lang="el-GR" noProof="0"/>
              <a:t>Επεξεργασία στυλ υποδείγματος κειμένου</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endParaRPr lang="el-GR" noProof="0" dirty="0"/>
          </a:p>
        </p:txBody>
      </p:sp>
      <p:sp>
        <p:nvSpPr>
          <p:cNvPr id="4" name="Θέση ημερομηνίας 3"/>
          <p:cNvSpPr>
            <a:spLocks noGrp="1"/>
          </p:cNvSpPr>
          <p:nvPr>
            <p:ph type="dt" sz="half" idx="10"/>
          </p:nvPr>
        </p:nvSpPr>
        <p:spPr/>
        <p:txBody>
          <a:bodyPr rtlCol="0"/>
          <a:lstStyle/>
          <a:p>
            <a:pPr rtl="0"/>
            <a:fld id="{0FE5ACA5-56F5-4208-8101-108DA68822C6}" type="datetime1">
              <a:rPr lang="el-GR" noProof="0" smtClean="0"/>
              <a:t>9/12/2025</a:t>
            </a:fld>
            <a:endParaRPr lang="el-GR" noProof="0" dirty="0"/>
          </a:p>
        </p:txBody>
      </p:sp>
      <p:sp>
        <p:nvSpPr>
          <p:cNvPr id="5" name="Θέση υποσέλιδου 4"/>
          <p:cNvSpPr>
            <a:spLocks noGrp="1"/>
          </p:cNvSpPr>
          <p:nvPr>
            <p:ph type="ftr" sz="quarter" idx="11"/>
          </p:nvPr>
        </p:nvSpPr>
        <p:spPr/>
        <p:txBody>
          <a:bodyPr rtlCol="0"/>
          <a:lstStyle/>
          <a:p>
            <a:pPr rtl="0"/>
            <a:endParaRPr lang="el-GR" noProof="0" dirty="0"/>
          </a:p>
        </p:txBody>
      </p:sp>
      <p:sp>
        <p:nvSpPr>
          <p:cNvPr id="6" name="Θέση αριθμού διαφάνειας 5"/>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Κεφαλίδα ενότητας">
    <p:spTree>
      <p:nvGrpSpPr>
        <p:cNvPr id="1" name=""/>
        <p:cNvGrpSpPr/>
        <p:nvPr/>
      </p:nvGrpSpPr>
      <p:grpSpPr>
        <a:xfrm>
          <a:off x="0" y="0"/>
          <a:ext cx="0" cy="0"/>
          <a:chOff x="0" y="0"/>
          <a:chExt cx="0" cy="0"/>
        </a:xfrm>
      </p:grpSpPr>
      <p:sp>
        <p:nvSpPr>
          <p:cNvPr id="9" name="Ορθογώνιο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1" name="Έλλειψη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Τίτλος 1"/>
          <p:cNvSpPr>
            <a:spLocks noGrp="1"/>
          </p:cNvSpPr>
          <p:nvPr>
            <p:ph type="title"/>
          </p:nvPr>
        </p:nvSpPr>
        <p:spPr>
          <a:xfrm>
            <a:off x="457200" y="4960137"/>
            <a:ext cx="7772400" cy="1463040"/>
          </a:xfrm>
        </p:spPr>
        <p:txBody>
          <a:bodyPr rtlCol="0" anchor="ctr">
            <a:normAutofit/>
          </a:bodyPr>
          <a:lstStyle>
            <a:lvl1pPr algn="r">
              <a:defRPr sz="5000" b="0" spc="200" baseline="0"/>
            </a:lvl1pPr>
          </a:lstStyle>
          <a:p>
            <a:pPr rtl="0"/>
            <a:r>
              <a:rPr lang="el-GR" noProof="0"/>
              <a:t>Κάντε κλικ για να επεξεργαστείτε τον τίτλο υποδείγματος</a:t>
            </a:r>
            <a:endParaRPr lang="el-GR" noProof="0" dirty="0"/>
          </a:p>
        </p:txBody>
      </p:sp>
      <p:sp>
        <p:nvSpPr>
          <p:cNvPr id="3" name="Θέση κειμένου 2"/>
          <p:cNvSpPr>
            <a:spLocks noGrp="1"/>
          </p:cNvSpPr>
          <p:nvPr>
            <p:ph type="body" idx="1"/>
          </p:nvPr>
        </p:nvSpPr>
        <p:spPr>
          <a:xfrm>
            <a:off x="8610600" y="4960137"/>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l-GR" noProof="0"/>
              <a:t>Επεξεργασία στυλ υποδείγματος κειμένου</a:t>
            </a:r>
          </a:p>
        </p:txBody>
      </p:sp>
      <p:sp>
        <p:nvSpPr>
          <p:cNvPr id="4" name="Θέση ημερομηνίας 3"/>
          <p:cNvSpPr>
            <a:spLocks noGrp="1"/>
          </p:cNvSpPr>
          <p:nvPr>
            <p:ph type="dt" sz="half" idx="10"/>
          </p:nvPr>
        </p:nvSpPr>
        <p:spPr/>
        <p:txBody>
          <a:bodyPr rtlCol="0"/>
          <a:lstStyle/>
          <a:p>
            <a:pPr rtl="0"/>
            <a:fld id="{98AAE694-814A-4F58-A8E2-AA9B6575E0B5}" type="datetime1">
              <a:rPr lang="el-GR" noProof="0" smtClean="0"/>
              <a:t>9/12/2025</a:t>
            </a:fld>
            <a:endParaRPr lang="el-GR" noProof="0" dirty="0"/>
          </a:p>
        </p:txBody>
      </p:sp>
      <p:sp>
        <p:nvSpPr>
          <p:cNvPr id="5" name="Θέση υποσέλιδου 4"/>
          <p:cNvSpPr>
            <a:spLocks noGrp="1"/>
          </p:cNvSpPr>
          <p:nvPr>
            <p:ph type="ftr" sz="quarter" idx="11"/>
          </p:nvPr>
        </p:nvSpPr>
        <p:spPr/>
        <p:txBody>
          <a:bodyPr rtlCol="0"/>
          <a:lstStyle/>
          <a:p>
            <a:pPr rtl="0"/>
            <a:endParaRPr lang="el-GR" noProof="0" dirty="0"/>
          </a:p>
        </p:txBody>
      </p:sp>
      <p:sp>
        <p:nvSpPr>
          <p:cNvPr id="6" name="Θέση αριθμού διαφάνειας 5"/>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cxnSp>
        <p:nvCxnSpPr>
          <p:cNvPr id="8" name="Ευθεία γραμμή σύνδεσης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a:xfrm>
            <a:off x="1024128" y="585216"/>
            <a:ext cx="9720072" cy="1499616"/>
          </a:xfrm>
        </p:spPr>
        <p:txBody>
          <a:bodyPr rtlCol="0"/>
          <a:lstStyle/>
          <a:p>
            <a:pPr rtl="0"/>
            <a:r>
              <a:rPr lang="el-GR" noProof="0"/>
              <a:t>Κάντε κλικ για να επεξεργαστείτε τον τίτλο υποδείγματος</a:t>
            </a:r>
            <a:endParaRPr lang="el-GR" noProof="0" dirty="0"/>
          </a:p>
        </p:txBody>
      </p:sp>
      <p:sp>
        <p:nvSpPr>
          <p:cNvPr id="3" name="Θέση περιεχομένου 2"/>
          <p:cNvSpPr>
            <a:spLocks noGrp="1"/>
          </p:cNvSpPr>
          <p:nvPr>
            <p:ph sz="half" idx="1"/>
          </p:nvPr>
        </p:nvSpPr>
        <p:spPr>
          <a:xfrm>
            <a:off x="1024127" y="2286000"/>
            <a:ext cx="4754880" cy="4023360"/>
          </a:xfrm>
        </p:spPr>
        <p:txBody>
          <a:bodyPr rtlCol="0"/>
          <a:lstStyle/>
          <a:p>
            <a:pPr lvl="0" rtl="0"/>
            <a:r>
              <a:rPr lang="el-GR" noProof="0"/>
              <a:t>Επεξεργασία στυλ υποδείγματος κειμένου</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endParaRPr lang="el-GR" noProof="0" dirty="0"/>
          </a:p>
        </p:txBody>
      </p:sp>
      <p:sp>
        <p:nvSpPr>
          <p:cNvPr id="4" name="Θέση περιεχομένου 3"/>
          <p:cNvSpPr>
            <a:spLocks noGrp="1"/>
          </p:cNvSpPr>
          <p:nvPr>
            <p:ph sz="half" idx="2"/>
          </p:nvPr>
        </p:nvSpPr>
        <p:spPr>
          <a:xfrm>
            <a:off x="5989320" y="2286000"/>
            <a:ext cx="4754880" cy="4023360"/>
          </a:xfrm>
        </p:spPr>
        <p:txBody>
          <a:bodyPr rtlCol="0"/>
          <a:lstStyle/>
          <a:p>
            <a:pPr lvl="0" rtl="0"/>
            <a:r>
              <a:rPr lang="el-GR" noProof="0"/>
              <a:t>Επεξεργασία στυλ υποδείγματος κειμένου</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endParaRPr lang="el-GR" noProof="0" dirty="0"/>
          </a:p>
        </p:txBody>
      </p:sp>
      <p:sp>
        <p:nvSpPr>
          <p:cNvPr id="5" name="Θέση ημερομηνίας 4"/>
          <p:cNvSpPr>
            <a:spLocks noGrp="1"/>
          </p:cNvSpPr>
          <p:nvPr>
            <p:ph type="dt" sz="half" idx="10"/>
          </p:nvPr>
        </p:nvSpPr>
        <p:spPr/>
        <p:txBody>
          <a:bodyPr rtlCol="0"/>
          <a:lstStyle/>
          <a:p>
            <a:pPr rtl="0"/>
            <a:fld id="{98B30D4A-F623-45A5-BE49-543B4B609AF2}" type="datetime1">
              <a:rPr lang="el-GR" noProof="0" smtClean="0"/>
              <a:t>9/12/2025</a:t>
            </a:fld>
            <a:endParaRPr lang="el-GR" noProof="0" dirty="0"/>
          </a:p>
        </p:txBody>
      </p:sp>
      <p:sp>
        <p:nvSpPr>
          <p:cNvPr id="6" name="Θέση υποσέλιδου 5"/>
          <p:cNvSpPr>
            <a:spLocks noGrp="1"/>
          </p:cNvSpPr>
          <p:nvPr>
            <p:ph type="ftr" sz="quarter" idx="11"/>
          </p:nvPr>
        </p:nvSpPr>
        <p:spPr/>
        <p:txBody>
          <a:bodyPr rtlCol="0"/>
          <a:lstStyle/>
          <a:p>
            <a:pPr rtl="0"/>
            <a:endParaRPr lang="el-GR" noProof="0" dirty="0"/>
          </a:p>
        </p:txBody>
      </p:sp>
      <p:sp>
        <p:nvSpPr>
          <p:cNvPr id="7" name="Θέση αριθμού διαφάνειας 6"/>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10" name="Τίτλος 9"/>
          <p:cNvSpPr>
            <a:spLocks noGrp="1"/>
          </p:cNvSpPr>
          <p:nvPr>
            <p:ph type="title"/>
          </p:nvPr>
        </p:nvSpPr>
        <p:spPr/>
        <p:txBody>
          <a:bodyPr rtlCol="0"/>
          <a:lstStyle/>
          <a:p>
            <a:pPr rtl="0"/>
            <a:r>
              <a:rPr lang="el-GR" noProof="0"/>
              <a:t>Κάντε κλικ για να επεξεργαστείτε τον τίτλο υποδείγματος</a:t>
            </a:r>
            <a:endParaRPr lang="el-GR" noProof="0" dirty="0"/>
          </a:p>
        </p:txBody>
      </p:sp>
      <p:sp>
        <p:nvSpPr>
          <p:cNvPr id="3" name="Θέση κειμένου 2"/>
          <p:cNvSpPr>
            <a:spLocks noGrp="1"/>
          </p:cNvSpPr>
          <p:nvPr>
            <p:ph type="body" idx="1"/>
          </p:nvPr>
        </p:nvSpPr>
        <p:spPr>
          <a:xfrm>
            <a:off x="1024128" y="2179636"/>
            <a:ext cx="4754880" cy="822960"/>
          </a:xfrm>
        </p:spPr>
        <p:txBody>
          <a:bodyPr lIns="137160" rIns="137160" rtlCol="0" anchor="ctr">
            <a:normAutofit/>
          </a:bodyPr>
          <a:lstStyle>
            <a:lvl1pPr marL="0" indent="0">
              <a:spcBef>
                <a:spcPts val="0"/>
              </a:spcBef>
              <a:spcAft>
                <a:spcPts val="0"/>
              </a:spcAft>
              <a:buNone/>
              <a:defRPr sz="2300" b="0" cap="none" baseline="0">
                <a:solidFill>
                  <a:schemeClr val="accent1"/>
                </a:solidFill>
                <a:latin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l-GR" noProof="0"/>
              <a:t>Επεξεργασία στυλ υποδείγματος κειμένου</a:t>
            </a:r>
          </a:p>
        </p:txBody>
      </p:sp>
      <p:sp>
        <p:nvSpPr>
          <p:cNvPr id="4" name="Θέση περιεχομένου 3"/>
          <p:cNvSpPr>
            <a:spLocks noGrp="1"/>
          </p:cNvSpPr>
          <p:nvPr>
            <p:ph sz="half" idx="2"/>
          </p:nvPr>
        </p:nvSpPr>
        <p:spPr>
          <a:xfrm>
            <a:off x="1024128" y="2967788"/>
            <a:ext cx="4754880" cy="3341572"/>
          </a:xfrm>
        </p:spPr>
        <p:txBody>
          <a:bodyPr rtlCol="0"/>
          <a:lstStyle/>
          <a:p>
            <a:pPr lvl="0" rtl="0"/>
            <a:r>
              <a:rPr lang="el-GR" noProof="0"/>
              <a:t>Επεξεργασία στυλ υποδείγματος κειμένου</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endParaRPr lang="el-GR" noProof="0" dirty="0"/>
          </a:p>
        </p:txBody>
      </p:sp>
      <p:sp>
        <p:nvSpPr>
          <p:cNvPr id="5" name="Θέση κειμένου 4"/>
          <p:cNvSpPr>
            <a:spLocks noGrp="1"/>
          </p:cNvSpPr>
          <p:nvPr>
            <p:ph type="body" sz="quarter" idx="3"/>
          </p:nvPr>
        </p:nvSpPr>
        <p:spPr>
          <a:xfrm>
            <a:off x="5990888" y="2179636"/>
            <a:ext cx="4754880" cy="822960"/>
          </a:xfrm>
        </p:spPr>
        <p:txBody>
          <a:bodyPr lIns="137160" rIns="137160" rtlCol="0" anchor="ctr">
            <a:normAutofit/>
          </a:bodyPr>
          <a:lstStyle>
            <a:lvl1pPr marL="0" indent="0">
              <a:spcBef>
                <a:spcPts val="0"/>
              </a:spcBef>
              <a:spcAft>
                <a:spcPts val="0"/>
              </a:spcAft>
              <a:buNone/>
              <a:defRPr lang="en-US" sz="2300" b="0" kern="1200" cap="none" baseline="0" dirty="0">
                <a:solidFill>
                  <a:schemeClr val="accent1"/>
                </a:solidFill>
                <a:latin typeface="Calibri" panose="020F050202020403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l-GR" noProof="0"/>
              <a:t>Επεξεργασία στυλ υποδείγματος κειμένου</a:t>
            </a:r>
          </a:p>
        </p:txBody>
      </p:sp>
      <p:sp>
        <p:nvSpPr>
          <p:cNvPr id="6" name="Θέση περιεχομένου 5"/>
          <p:cNvSpPr>
            <a:spLocks noGrp="1"/>
          </p:cNvSpPr>
          <p:nvPr>
            <p:ph sz="quarter" idx="4"/>
          </p:nvPr>
        </p:nvSpPr>
        <p:spPr>
          <a:xfrm>
            <a:off x="5990888" y="2967788"/>
            <a:ext cx="4754880" cy="3341572"/>
          </a:xfrm>
        </p:spPr>
        <p:txBody>
          <a:bodyPr rtlCol="0"/>
          <a:lstStyle/>
          <a:p>
            <a:pPr lvl="0" rtl="0"/>
            <a:r>
              <a:rPr lang="el-GR" noProof="0"/>
              <a:t>Επεξεργασία στυλ υποδείγματος κειμένου</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endParaRPr lang="el-GR" noProof="0" dirty="0"/>
          </a:p>
        </p:txBody>
      </p:sp>
      <p:sp>
        <p:nvSpPr>
          <p:cNvPr id="7" name="Θέση ημερομηνίας 6"/>
          <p:cNvSpPr>
            <a:spLocks noGrp="1"/>
          </p:cNvSpPr>
          <p:nvPr>
            <p:ph type="dt" sz="half" idx="10"/>
          </p:nvPr>
        </p:nvSpPr>
        <p:spPr/>
        <p:txBody>
          <a:bodyPr rtlCol="0"/>
          <a:lstStyle/>
          <a:p>
            <a:pPr rtl="0"/>
            <a:fld id="{06412F62-D18F-463A-9A7E-E4809AAD76E4}" type="datetime1">
              <a:rPr lang="el-GR" noProof="0" smtClean="0"/>
              <a:t>9/12/2025</a:t>
            </a:fld>
            <a:endParaRPr lang="el-GR" noProof="0" dirty="0"/>
          </a:p>
        </p:txBody>
      </p:sp>
      <p:sp>
        <p:nvSpPr>
          <p:cNvPr id="8" name="Θέση υποσέλιδου 7"/>
          <p:cNvSpPr>
            <a:spLocks noGrp="1"/>
          </p:cNvSpPr>
          <p:nvPr>
            <p:ph type="ftr" sz="quarter" idx="11"/>
          </p:nvPr>
        </p:nvSpPr>
        <p:spPr/>
        <p:txBody>
          <a:bodyPr rtlCol="0"/>
          <a:lstStyle/>
          <a:p>
            <a:pPr rtl="0"/>
            <a:endParaRPr lang="el-GR" noProof="0" dirty="0"/>
          </a:p>
        </p:txBody>
      </p:sp>
      <p:sp>
        <p:nvSpPr>
          <p:cNvPr id="9" name="Θέση αριθμού διαφάνειας 8"/>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lstStyle/>
          <a:p>
            <a:pPr rtl="0"/>
            <a:r>
              <a:rPr lang="el-GR" noProof="0"/>
              <a:t>Κάντε κλικ για να επεξεργαστείτε τον τίτλο υποδείγματος</a:t>
            </a:r>
            <a:endParaRPr lang="el-GR" noProof="0" dirty="0"/>
          </a:p>
        </p:txBody>
      </p:sp>
      <p:sp>
        <p:nvSpPr>
          <p:cNvPr id="3" name="Θέση ημερομηνίας 2"/>
          <p:cNvSpPr>
            <a:spLocks noGrp="1"/>
          </p:cNvSpPr>
          <p:nvPr>
            <p:ph type="dt" sz="half" idx="10"/>
          </p:nvPr>
        </p:nvSpPr>
        <p:spPr/>
        <p:txBody>
          <a:bodyPr rtlCol="0"/>
          <a:lstStyle/>
          <a:p>
            <a:pPr rtl="0"/>
            <a:fld id="{D2009D47-CF8A-48CB-81B8-5988DBFADA28}" type="datetime1">
              <a:rPr lang="el-GR" noProof="0" smtClean="0"/>
              <a:t>9/12/2025</a:t>
            </a:fld>
            <a:endParaRPr lang="el-GR" noProof="0" dirty="0"/>
          </a:p>
        </p:txBody>
      </p:sp>
      <p:sp>
        <p:nvSpPr>
          <p:cNvPr id="4" name="Θέση υποσέλιδου 3"/>
          <p:cNvSpPr>
            <a:spLocks noGrp="1"/>
          </p:cNvSpPr>
          <p:nvPr>
            <p:ph type="ftr" sz="quarter" idx="11"/>
          </p:nvPr>
        </p:nvSpPr>
        <p:spPr/>
        <p:txBody>
          <a:bodyPr rtlCol="0"/>
          <a:lstStyle/>
          <a:p>
            <a:pPr rtl="0"/>
            <a:endParaRPr lang="el-GR" noProof="0" dirty="0"/>
          </a:p>
        </p:txBody>
      </p:sp>
      <p:sp>
        <p:nvSpPr>
          <p:cNvPr id="5" name="Θέση αριθμού διαφάνειας 4"/>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Κενό">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rtlCol="0"/>
          <a:lstStyle/>
          <a:p>
            <a:pPr rtl="0"/>
            <a:fld id="{89B075A6-4B0E-489A-92E5-C2C81D969D11}" type="datetime1">
              <a:rPr lang="el-GR" noProof="0" smtClean="0"/>
              <a:t>9/12/2025</a:t>
            </a:fld>
            <a:endParaRPr lang="el-GR" noProof="0" dirty="0"/>
          </a:p>
        </p:txBody>
      </p:sp>
      <p:sp>
        <p:nvSpPr>
          <p:cNvPr id="3" name="Θέση υποσέλιδου 2"/>
          <p:cNvSpPr>
            <a:spLocks noGrp="1"/>
          </p:cNvSpPr>
          <p:nvPr>
            <p:ph type="ftr" sz="quarter" idx="11"/>
          </p:nvPr>
        </p:nvSpPr>
        <p:spPr/>
        <p:txBody>
          <a:bodyPr rtlCol="0"/>
          <a:lstStyle/>
          <a:p>
            <a:pPr rtl="0"/>
            <a:endParaRPr lang="el-GR" noProof="0" dirty="0"/>
          </a:p>
        </p:txBody>
      </p:sp>
      <p:sp>
        <p:nvSpPr>
          <p:cNvPr id="4" name="Θέση αριθμού διαφάνειας 3"/>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8" name="Τίτλος 7"/>
          <p:cNvSpPr>
            <a:spLocks noGrp="1"/>
          </p:cNvSpPr>
          <p:nvPr>
            <p:ph type="title"/>
          </p:nvPr>
        </p:nvSpPr>
        <p:spPr>
          <a:xfrm>
            <a:off x="1024128" y="471509"/>
            <a:ext cx="4389120" cy="1737360"/>
          </a:xfrm>
        </p:spPr>
        <p:txBody>
          <a:bodyPr rtlCol="0">
            <a:noAutofit/>
          </a:bodyPr>
          <a:lstStyle>
            <a:lvl1pPr>
              <a:lnSpc>
                <a:spcPct val="80000"/>
              </a:lnSpc>
              <a:defRPr sz="4000"/>
            </a:lvl1pPr>
          </a:lstStyle>
          <a:p>
            <a:pPr rtl="0"/>
            <a:r>
              <a:rPr lang="el-GR" noProof="0"/>
              <a:t>Κάντε κλικ για να επεξεργαστείτε τον τίτλο υποδείγματος</a:t>
            </a:r>
            <a:endParaRPr lang="el-GR" noProof="0" dirty="0"/>
          </a:p>
        </p:txBody>
      </p:sp>
      <p:sp>
        <p:nvSpPr>
          <p:cNvPr id="3" name="Θέση περιεχομένου 2"/>
          <p:cNvSpPr>
            <a:spLocks noGrp="1"/>
          </p:cNvSpPr>
          <p:nvPr>
            <p:ph idx="1"/>
          </p:nvPr>
        </p:nvSpPr>
        <p:spPr>
          <a:xfrm>
            <a:off x="5715000" y="822960"/>
            <a:ext cx="5678424" cy="5184648"/>
          </a:xfrm>
        </p:spPr>
        <p:txBody>
          <a:bodyPr rtlCol="0"/>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rtl="0"/>
            <a:r>
              <a:rPr lang="el-GR" noProof="0"/>
              <a:t>Επεξεργασία στυλ υποδείγματος κειμένου</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endParaRPr lang="el-GR" noProof="0" dirty="0"/>
          </a:p>
        </p:txBody>
      </p:sp>
      <p:sp>
        <p:nvSpPr>
          <p:cNvPr id="4" name="Θέση κειμένου 3"/>
          <p:cNvSpPr>
            <a:spLocks noGrp="1"/>
          </p:cNvSpPr>
          <p:nvPr>
            <p:ph type="body" sz="half" idx="2"/>
          </p:nvPr>
        </p:nvSpPr>
        <p:spPr>
          <a:xfrm>
            <a:off x="1024128" y="2257506"/>
            <a:ext cx="4389120" cy="3762294"/>
          </a:xfrm>
        </p:spPr>
        <p:txBody>
          <a:bodyPr lIns="91440" rIns="91440" rtlCol="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l-GR" noProof="0"/>
              <a:t>Επεξεργασία στυλ υποδείγματος κειμένου</a:t>
            </a:r>
          </a:p>
        </p:txBody>
      </p:sp>
      <p:sp>
        <p:nvSpPr>
          <p:cNvPr id="5" name="Θέση ημερομηνίας 4"/>
          <p:cNvSpPr>
            <a:spLocks noGrp="1"/>
          </p:cNvSpPr>
          <p:nvPr>
            <p:ph type="dt" sz="half" idx="10"/>
          </p:nvPr>
        </p:nvSpPr>
        <p:spPr/>
        <p:txBody>
          <a:bodyPr rtlCol="0"/>
          <a:lstStyle/>
          <a:p>
            <a:pPr rtl="0"/>
            <a:fld id="{7C290451-C354-46E0-BBD8-0317D7A1384C}" type="datetime1">
              <a:rPr lang="el-GR" noProof="0" smtClean="0"/>
              <a:t>9/12/2025</a:t>
            </a:fld>
            <a:endParaRPr lang="el-GR" noProof="0" dirty="0"/>
          </a:p>
        </p:txBody>
      </p:sp>
      <p:sp>
        <p:nvSpPr>
          <p:cNvPr id="6" name="Θέση υποσέλιδου 5"/>
          <p:cNvSpPr>
            <a:spLocks noGrp="1"/>
          </p:cNvSpPr>
          <p:nvPr>
            <p:ph type="ftr" sz="quarter" idx="11"/>
          </p:nvPr>
        </p:nvSpPr>
        <p:spPr/>
        <p:txBody>
          <a:bodyPr rtlCol="0"/>
          <a:lstStyle/>
          <a:p>
            <a:pPr rtl="0"/>
            <a:endParaRPr lang="el-GR" noProof="0" dirty="0"/>
          </a:p>
        </p:txBody>
      </p:sp>
      <p:sp>
        <p:nvSpPr>
          <p:cNvPr id="7" name="Θέση αριθμού διαφάνειας 6"/>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4960138"/>
            <a:ext cx="7772400" cy="1463040"/>
          </a:xfrm>
        </p:spPr>
        <p:txBody>
          <a:bodyPr rtlCol="0" anchor="ctr">
            <a:normAutofit/>
          </a:bodyPr>
          <a:lstStyle>
            <a:lvl1pPr algn="r">
              <a:defRPr sz="5000" spc="200" baseline="0"/>
            </a:lvl1pPr>
          </a:lstStyle>
          <a:p>
            <a:pPr rtl="0"/>
            <a:r>
              <a:rPr lang="el-GR" noProof="0"/>
              <a:t>Κάντε κλικ για να επεξεργαστείτε τον τίτλο υποδείγματος</a:t>
            </a:r>
            <a:endParaRPr lang="el-GR" noProof="0" dirty="0"/>
          </a:p>
        </p:txBody>
      </p:sp>
      <p:sp>
        <p:nvSpPr>
          <p:cNvPr id="3" name="Θέση εικόνας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l-GR" noProof="0" dirty="0"/>
              <a:t>Κάντε κλικ στο εικονίδιο για να προσθέσετε εικόνα</a:t>
            </a:r>
          </a:p>
        </p:txBody>
      </p:sp>
      <p:sp>
        <p:nvSpPr>
          <p:cNvPr id="4" name="Θέση κειμένου 3"/>
          <p:cNvSpPr>
            <a:spLocks noGrp="1"/>
          </p:cNvSpPr>
          <p:nvPr>
            <p:ph type="body" sz="half" idx="2"/>
          </p:nvPr>
        </p:nvSpPr>
        <p:spPr>
          <a:xfrm>
            <a:off x="8610600" y="4960138"/>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l-GR" noProof="0"/>
              <a:t>Επεξεργασία στυλ υποδείγματος κειμένου</a:t>
            </a:r>
          </a:p>
        </p:txBody>
      </p:sp>
      <p:sp>
        <p:nvSpPr>
          <p:cNvPr id="5" name="Θέση ημερομηνίας 4"/>
          <p:cNvSpPr>
            <a:spLocks noGrp="1"/>
          </p:cNvSpPr>
          <p:nvPr>
            <p:ph type="dt" sz="half" idx="10"/>
          </p:nvPr>
        </p:nvSpPr>
        <p:spPr/>
        <p:txBody>
          <a:bodyPr rtlCol="0"/>
          <a:lstStyle/>
          <a:p>
            <a:pPr rtl="0"/>
            <a:fld id="{05DAA40D-D363-46A0-9276-B6A4797DC9A5}" type="datetime1">
              <a:rPr lang="el-GR" noProof="0" smtClean="0"/>
              <a:t>9/12/2025</a:t>
            </a:fld>
            <a:endParaRPr lang="el-GR" noProof="0" dirty="0"/>
          </a:p>
        </p:txBody>
      </p:sp>
      <p:sp>
        <p:nvSpPr>
          <p:cNvPr id="6" name="Θέση υποσέλιδου 5"/>
          <p:cNvSpPr>
            <a:spLocks noGrp="1"/>
          </p:cNvSpPr>
          <p:nvPr>
            <p:ph type="ftr" sz="quarter" idx="11"/>
          </p:nvPr>
        </p:nvSpPr>
        <p:spPr/>
        <p:txBody>
          <a:bodyPr rtlCol="0"/>
          <a:lstStyle/>
          <a:p>
            <a:pPr rtl="0"/>
            <a:endParaRPr lang="el-GR" noProof="0" dirty="0"/>
          </a:p>
        </p:txBody>
      </p:sp>
      <p:sp>
        <p:nvSpPr>
          <p:cNvPr id="7" name="Θέση αριθμού διαφάνειας 6"/>
          <p:cNvSpPr>
            <a:spLocks noGrp="1"/>
          </p:cNvSpPr>
          <p:nvPr>
            <p:ph type="sldNum" sz="quarter" idx="12"/>
          </p:nvPr>
        </p:nvSpPr>
        <p:spPr/>
        <p:txBody>
          <a:bodyPr rtlCol="0"/>
          <a:lstStyle/>
          <a:p>
            <a:pPr rtl="0"/>
            <a:fld id="{867E5644-1E61-4311-A31E-84CB9C7AA8A9}" type="slidenum">
              <a:rPr lang="el-GR" noProof="0" smtClean="0"/>
              <a:t>‹#›</a:t>
            </a:fld>
            <a:endParaRPr lang="el-GR" noProof="0" dirty="0"/>
          </a:p>
        </p:txBody>
      </p:sp>
      <p:cxnSp>
        <p:nvCxnSpPr>
          <p:cNvPr id="8" name="Ευθεία γραμμή σύνδεσης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lstStyle/>
          <a:p>
            <a:pPr rtl="0"/>
            <a:r>
              <a:rPr lang="el-GR" noProof="0"/>
              <a:t>Κάντε κλικ για να επεξεργαστείτε τον τίτλο υποδείγματος</a:t>
            </a:r>
            <a:endParaRPr lang="el-GR" noProof="0" dirty="0"/>
          </a:p>
        </p:txBody>
      </p:sp>
      <p:sp>
        <p:nvSpPr>
          <p:cNvPr id="3" name="Θέση κατακόρυφου κειμένου 2"/>
          <p:cNvSpPr>
            <a:spLocks noGrp="1"/>
          </p:cNvSpPr>
          <p:nvPr>
            <p:ph type="body" orient="vert" idx="1"/>
          </p:nvPr>
        </p:nvSpPr>
        <p:spPr/>
        <p:txBody>
          <a:bodyPr vert="eaVert" rtlCol="0"/>
          <a:lstStyle/>
          <a:p>
            <a:pPr lvl="0" rtl="0"/>
            <a:r>
              <a:rPr lang="el-GR" noProof="0"/>
              <a:t>Επεξεργασία στυλ υποδείγματος κειμένου</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endParaRPr lang="el-GR" noProof="0" dirty="0"/>
          </a:p>
        </p:txBody>
      </p:sp>
      <p:sp>
        <p:nvSpPr>
          <p:cNvPr id="4" name="Θέση ημερομηνίας 3"/>
          <p:cNvSpPr>
            <a:spLocks noGrp="1"/>
          </p:cNvSpPr>
          <p:nvPr>
            <p:ph type="dt" sz="half" idx="10"/>
          </p:nvPr>
        </p:nvSpPr>
        <p:spPr/>
        <p:txBody>
          <a:bodyPr rtlCol="0"/>
          <a:lstStyle/>
          <a:p>
            <a:pPr rtl="0"/>
            <a:fld id="{D9C97E28-F60A-427B-851A-BCC048F06BC7}" type="datetime1">
              <a:rPr lang="el-GR" noProof="0" smtClean="0"/>
              <a:t>9/12/2025</a:t>
            </a:fld>
            <a:endParaRPr lang="el-GR" noProof="0" dirty="0"/>
          </a:p>
        </p:txBody>
      </p:sp>
      <p:sp>
        <p:nvSpPr>
          <p:cNvPr id="5" name="Θέση υποσέλιδου 4"/>
          <p:cNvSpPr>
            <a:spLocks noGrp="1"/>
          </p:cNvSpPr>
          <p:nvPr>
            <p:ph type="ftr" sz="quarter" idx="11"/>
          </p:nvPr>
        </p:nvSpPr>
        <p:spPr/>
        <p:txBody>
          <a:bodyPr rtlCol="0"/>
          <a:lstStyle/>
          <a:p>
            <a:pPr rtl="0"/>
            <a:endParaRPr lang="el-GR" noProof="0" dirty="0"/>
          </a:p>
        </p:txBody>
      </p:sp>
      <p:sp>
        <p:nvSpPr>
          <p:cNvPr id="6" name="Θέση αριθμού διαφάνειας 5"/>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1" y="762000"/>
            <a:ext cx="2628900" cy="5410200"/>
          </a:xfrm>
        </p:spPr>
        <p:txBody>
          <a:bodyPr vert="eaVert" lIns="45720" tIns="91440" rIns="45720" bIns="91440" rtlCol="0"/>
          <a:lstStyle/>
          <a:p>
            <a:pPr rtl="0"/>
            <a:r>
              <a:rPr lang="el-GR" noProof="0"/>
              <a:t>Κάντε κλικ για να επεξεργαστείτε τον τίτλο υποδείγματος</a:t>
            </a:r>
            <a:endParaRPr lang="el-GR" noProof="0" dirty="0"/>
          </a:p>
        </p:txBody>
      </p:sp>
      <p:sp>
        <p:nvSpPr>
          <p:cNvPr id="3" name="Θέση κατακόρυφου κειμένου 2"/>
          <p:cNvSpPr>
            <a:spLocks noGrp="1"/>
          </p:cNvSpPr>
          <p:nvPr>
            <p:ph type="body" orient="vert" idx="1"/>
          </p:nvPr>
        </p:nvSpPr>
        <p:spPr>
          <a:xfrm>
            <a:off x="990601" y="762000"/>
            <a:ext cx="7581900" cy="5410200"/>
          </a:xfrm>
        </p:spPr>
        <p:txBody>
          <a:bodyPr vert="eaVert" rtlCol="0"/>
          <a:lstStyle/>
          <a:p>
            <a:pPr lvl="0" rtl="0"/>
            <a:r>
              <a:rPr lang="el-GR" noProof="0"/>
              <a:t>Επεξεργασία στυλ υποδείγματος κειμένου</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endParaRPr lang="el-GR" noProof="0" dirty="0"/>
          </a:p>
        </p:txBody>
      </p:sp>
      <p:sp>
        <p:nvSpPr>
          <p:cNvPr id="4" name="Θέση ημερομηνίας 3"/>
          <p:cNvSpPr>
            <a:spLocks noGrp="1"/>
          </p:cNvSpPr>
          <p:nvPr>
            <p:ph type="dt" sz="half" idx="10"/>
          </p:nvPr>
        </p:nvSpPr>
        <p:spPr/>
        <p:txBody>
          <a:bodyPr rtlCol="0"/>
          <a:lstStyle/>
          <a:p>
            <a:pPr rtl="0"/>
            <a:fld id="{4EA33EDB-81C3-4DAA-87EA-DA21D6A7FC6C}" type="datetime1">
              <a:rPr lang="el-GR" noProof="0" smtClean="0"/>
              <a:t>9/12/2025</a:t>
            </a:fld>
            <a:endParaRPr lang="el-GR" noProof="0" dirty="0"/>
          </a:p>
        </p:txBody>
      </p:sp>
      <p:sp>
        <p:nvSpPr>
          <p:cNvPr id="5" name="Θέση υποσέλιδου 4"/>
          <p:cNvSpPr>
            <a:spLocks noGrp="1"/>
          </p:cNvSpPr>
          <p:nvPr>
            <p:ph type="ftr" sz="quarter" idx="11"/>
          </p:nvPr>
        </p:nvSpPr>
        <p:spPr/>
        <p:txBody>
          <a:bodyPr rtlCol="0"/>
          <a:lstStyle/>
          <a:p>
            <a:pPr rtl="0"/>
            <a:endParaRPr lang="el-GR" noProof="0" dirty="0"/>
          </a:p>
        </p:txBody>
      </p:sp>
      <p:sp>
        <p:nvSpPr>
          <p:cNvPr id="6" name="Θέση αριθμού διαφάνειας 5"/>
          <p:cNvSpPr>
            <a:spLocks noGrp="1"/>
          </p:cNvSpPr>
          <p:nvPr>
            <p:ph type="sldNum" sz="quarter" idx="12"/>
          </p:nvPr>
        </p:nvSpPr>
        <p:spPr/>
        <p:txBody>
          <a:bodyPr rtlCol="0"/>
          <a:lstStyle/>
          <a:p>
            <a:pPr rtl="0"/>
            <a:fld id="{4FAB73BC-B049-4115-A692-8D63A059BFB8}" type="slidenum">
              <a:rPr lang="el-GR" noProof="0" smtClean="0"/>
              <a:t>‹#›</a:t>
            </a:fld>
            <a:endParaRPr lang="el-GR" noProof="0" dirty="0"/>
          </a:p>
        </p:txBody>
      </p:sp>
      <p:cxnSp>
        <p:nvCxnSpPr>
          <p:cNvPr id="7" name="Ευθεία γραμμή σύνδεσης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pPr rtl="0"/>
            <a:r>
              <a:rPr lang="el-GR" noProof="0" dirty="0"/>
              <a:t>Κάντε κλικ για να επεξεργαστείτε το Στυλ κύριου τίτλου</a:t>
            </a:r>
          </a:p>
        </p:txBody>
      </p:sp>
      <p:sp>
        <p:nvSpPr>
          <p:cNvPr id="3" name="Θέση κειμένου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rtl="0"/>
            <a:r>
              <a:rPr lang="el-GR" noProof="0" dirty="0"/>
              <a:t>Κάντε κλικ για επεξεργασία των στυλ κειμένου του υποδείγματος</a:t>
            </a:r>
          </a:p>
          <a:p>
            <a:pPr lvl="1" rtl="0"/>
            <a:r>
              <a:rPr lang="el-GR" noProof="0" dirty="0"/>
              <a:t>Δεύτερου επιπέδου</a:t>
            </a:r>
          </a:p>
          <a:p>
            <a:pPr lvl="2" rtl="0"/>
            <a:r>
              <a:rPr lang="el-GR" noProof="0" dirty="0"/>
              <a:t>Τρίτου επιπέδου</a:t>
            </a:r>
          </a:p>
          <a:p>
            <a:pPr lvl="3" rtl="0"/>
            <a:r>
              <a:rPr lang="el-GR" noProof="0" dirty="0"/>
              <a:t>Τέταρτου επιπέδου</a:t>
            </a:r>
          </a:p>
          <a:p>
            <a:pPr lvl="4" rtl="0"/>
            <a:r>
              <a:rPr lang="el-GR" noProof="0" dirty="0"/>
              <a:t>Πέμπτου επιπέδου</a:t>
            </a:r>
          </a:p>
        </p:txBody>
      </p:sp>
      <p:sp>
        <p:nvSpPr>
          <p:cNvPr id="4" name="Θέση ημερομηνίας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Calibri" panose="020F0502020204030204" pitchFamily="34" charset="0"/>
              </a:defRPr>
            </a:lvl1pPr>
          </a:lstStyle>
          <a:p>
            <a:fld id="{F98FDC76-A1F5-4EE8-BDE3-5EFC56AAE7AD}" type="datetime1">
              <a:rPr lang="el-GR" noProof="0" smtClean="0"/>
              <a:t>9/12/2025</a:t>
            </a:fld>
            <a:endParaRPr lang="el-GR" noProof="0" dirty="0"/>
          </a:p>
        </p:txBody>
      </p:sp>
      <p:sp>
        <p:nvSpPr>
          <p:cNvPr id="5" name="Θέση υποσέλιδου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Calibri" panose="020F0502020204030204" pitchFamily="34" charset="0"/>
              </a:defRPr>
            </a:lvl1pPr>
          </a:lstStyle>
          <a:p>
            <a:endParaRPr lang="el-GR" noProof="0" dirty="0"/>
          </a:p>
        </p:txBody>
      </p:sp>
      <p:sp>
        <p:nvSpPr>
          <p:cNvPr id="6" name="Θέση αριθμού διαφάνειας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Calibri" panose="020F0502020204030204" pitchFamily="34" charset="0"/>
              </a:defRPr>
            </a:lvl1pPr>
          </a:lstStyle>
          <a:p>
            <a:fld id="{4FAB73BC-B049-4115-A692-8D63A059BFB8}" type="slidenum">
              <a:rPr lang="el-GR" noProof="0" smtClean="0"/>
              <a:pPr/>
              <a:t>‹#›</a:t>
            </a:fld>
            <a:endParaRPr lang="el-GR" noProof="0" dirty="0"/>
          </a:p>
        </p:txBody>
      </p:sp>
      <p:cxnSp>
        <p:nvCxnSpPr>
          <p:cNvPr id="7" name="Ευθεία γραμμή σύνδεσης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ransition spd="slow">
    <p:push dir="u"/>
  </p:transition>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Calibri" panose="020F0502020204030204" pitchFamily="34"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Calibri" panose="020F0502020204030204" pitchFamily="34" charset="0"/>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Calibri" panose="020F0502020204030204" pitchFamily="34" charset="0"/>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Calibri" panose="020F0502020204030204" pitchFamily="34" charset="0"/>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Calibri" panose="020F0502020204030204" pitchFamily="34" charset="0"/>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Calibri" panose="020F050202020403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github.com/grgmyl/Ns3Project/tree/main"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hyperlink" Target="https://ns3-code.com/how-to-begin-implement-network-failover-in-ns3/" TargetMode="External"/><Relationship Id="rId3" Type="http://schemas.openxmlformats.org/officeDocument/2006/relationships/hyperlink" Target="https://www.nsnam.org/docs/contributing/html/coding-style.html#header-file-includes" TargetMode="External"/><Relationship Id="rId7" Type="http://schemas.openxmlformats.org/officeDocument/2006/relationships/hyperlink" Target="https://www.nsnam.org/docs/tutorial/html/building-topologies.html" TargetMode="External"/><Relationship Id="rId2" Type="http://schemas.openxmlformats.org/officeDocument/2006/relationships/hyperlink" Target="https://www.nsnam.org/documentation/" TargetMode="External"/><Relationship Id="rId1" Type="http://schemas.openxmlformats.org/officeDocument/2006/relationships/slideLayout" Target="../slideLayouts/slideLayout2.xml"/><Relationship Id="rId6" Type="http://schemas.openxmlformats.org/officeDocument/2006/relationships/hyperlink" Target="https://www.youtube.com/watch?v=2W5mdzQrwXI" TargetMode="External"/><Relationship Id="rId5" Type="http://schemas.openxmlformats.org/officeDocument/2006/relationships/hyperlink" Target="https://www.youtube.com/watch?v=Jv_swgcykjQ" TargetMode="External"/><Relationship Id="rId10" Type="http://schemas.openxmlformats.org/officeDocument/2006/relationships/hyperlink" Target="https://networksimulationtools.com/how-to-run-netanim-in-ns3/" TargetMode="External"/><Relationship Id="rId4" Type="http://schemas.openxmlformats.org/officeDocument/2006/relationships/hyperlink" Target="https://www.nsnam.org/docs/tutorial/html/" TargetMode="External"/><Relationship Id="rId9" Type="http://schemas.openxmlformats.org/officeDocument/2006/relationships/hyperlink" Target="https://ns3-code.com/how-to-begin-implement-dynamic-routing-in-ns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Ορθογώνιο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latin typeface="Calibri" panose="020F0502020204030204" pitchFamily="34" charset="0"/>
            </a:endParaRPr>
          </a:p>
        </p:txBody>
      </p:sp>
      <p:pic>
        <p:nvPicPr>
          <p:cNvPr id="5" name="Εικόνα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60366" y="0"/>
            <a:ext cx="12191980" cy="6858000"/>
          </a:xfrm>
          <a:prstGeom prst="rect">
            <a:avLst/>
          </a:prstGeom>
        </p:spPr>
      </p:pic>
      <p:sp>
        <p:nvSpPr>
          <p:cNvPr id="21" name="Ορθογώνιο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el-GR" dirty="0">
              <a:latin typeface="Calibri" panose="020F0502020204030204" pitchFamily="34" charset="0"/>
            </a:endParaRPr>
          </a:p>
        </p:txBody>
      </p:sp>
      <p:sp>
        <p:nvSpPr>
          <p:cNvPr id="2" name="Τίτλος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rtlCol="0" anchor="b">
            <a:normAutofit fontScale="90000"/>
          </a:bodyPr>
          <a:lstStyle/>
          <a:p>
            <a:pPr algn="l"/>
            <a:r>
              <a:rPr lang="el-GR" b="1" dirty="0">
                <a:solidFill>
                  <a:srgbClr val="FFFFFF"/>
                </a:solidFill>
              </a:rPr>
              <a:t>ΠΡΟΣΟΜΟΙΩΣΗ ΔΙΚΤΥΟΥ ΜΕ</a:t>
            </a:r>
            <a:r>
              <a:rPr lang="en-US" b="1" dirty="0">
                <a:solidFill>
                  <a:srgbClr val="FFFFFF"/>
                </a:solidFill>
              </a:rPr>
              <a:t> NS-3</a:t>
            </a:r>
            <a:endParaRPr lang="el-GR" b="1" dirty="0">
              <a:solidFill>
                <a:srgbClr val="FFFFFF"/>
              </a:solidFill>
            </a:endParaRPr>
          </a:p>
        </p:txBody>
      </p:sp>
      <p:sp>
        <p:nvSpPr>
          <p:cNvPr id="3" name="Υπότιτλος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165476" cy="474006"/>
          </a:xfrm>
        </p:spPr>
        <p:txBody>
          <a:bodyPr rtlCol="0" anchor="t">
            <a:normAutofit fontScale="77500" lnSpcReduction="20000"/>
          </a:bodyPr>
          <a:lstStyle/>
          <a:p>
            <a:r>
              <a:rPr lang="el-GR" dirty="0">
                <a:solidFill>
                  <a:srgbClr val="FFFFFF"/>
                </a:solidFill>
              </a:rPr>
              <a:t>Κωσταντίνος Γκύλλης, ΑΜ:1100526</a:t>
            </a:r>
          </a:p>
          <a:p>
            <a:r>
              <a:rPr lang="el-GR" dirty="0">
                <a:solidFill>
                  <a:srgbClr val="FFFFFF"/>
                </a:solidFill>
              </a:rPr>
              <a:t>Γεωργία Μυλωνά, ΑΜ: 1104783</a:t>
            </a:r>
          </a:p>
        </p:txBody>
      </p:sp>
      <p:cxnSp>
        <p:nvCxnSpPr>
          <p:cNvPr id="23" name="Ευθεία γραμμή σύνδεσης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625702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4919D0-F177-4BBA-9A0B-DBA69E2ED764}"/>
              </a:ext>
            </a:extLst>
          </p:cNvPr>
          <p:cNvSpPr>
            <a:spLocks noGrp="1"/>
          </p:cNvSpPr>
          <p:nvPr>
            <p:ph type="title"/>
          </p:nvPr>
        </p:nvSpPr>
        <p:spPr>
          <a:xfrm>
            <a:off x="1024128" y="510568"/>
            <a:ext cx="9720072" cy="1499616"/>
          </a:xfrm>
        </p:spPr>
        <p:txBody>
          <a:bodyPr rtlCol="0">
            <a:normAutofit/>
          </a:bodyPr>
          <a:lstStyle/>
          <a:p>
            <a:r>
              <a:rPr lang="el-GR" sz="4800" b="1" dirty="0"/>
              <a:t>Το Κυριο θεμα της εργασιασ</a:t>
            </a:r>
          </a:p>
        </p:txBody>
      </p:sp>
      <p:sp>
        <p:nvSpPr>
          <p:cNvPr id="3" name="Θέση περιεχομένου 2">
            <a:extLst>
              <a:ext uri="{FF2B5EF4-FFF2-40B4-BE49-F238E27FC236}">
                <a16:creationId xmlns:a16="http://schemas.microsoft.com/office/drawing/2014/main" id="{77415F4C-54AA-443E-9712-CE3889761712}"/>
              </a:ext>
            </a:extLst>
          </p:cNvPr>
          <p:cNvSpPr>
            <a:spLocks noGrp="1"/>
          </p:cNvSpPr>
          <p:nvPr>
            <p:ph idx="1"/>
          </p:nvPr>
        </p:nvSpPr>
        <p:spPr>
          <a:xfrm>
            <a:off x="793102" y="2286000"/>
            <a:ext cx="10758196" cy="4023360"/>
          </a:xfrm>
        </p:spPr>
        <p:txBody>
          <a:bodyPr>
            <a:normAutofit/>
          </a:bodyPr>
          <a:lstStyle/>
          <a:p>
            <a:pPr marL="173736" lvl="1" indent="0" algn="just">
              <a:buNone/>
            </a:pPr>
            <a:r>
              <a:rPr lang="el-GR" dirty="0">
                <a:solidFill>
                  <a:schemeClr val="accent1">
                    <a:lumMod val="75000"/>
                  </a:schemeClr>
                </a:solidFill>
                <a:sym typeface="Wingdings" panose="05000000000000000000" pitchFamily="2" charset="2"/>
              </a:rPr>
              <a:t></a:t>
            </a:r>
            <a:r>
              <a:rPr lang="el-GR" sz="2000" b="1" dirty="0">
                <a:solidFill>
                  <a:schemeClr val="accent1">
                    <a:lumMod val="75000"/>
                  </a:schemeClr>
                </a:solidFill>
              </a:rPr>
              <a:t>Προσομοίωση δικτύου με την χρήση του </a:t>
            </a:r>
            <a:r>
              <a:rPr lang="en-US" sz="2000" b="1" dirty="0">
                <a:solidFill>
                  <a:schemeClr val="accent1">
                    <a:lumMod val="75000"/>
                  </a:schemeClr>
                </a:solidFill>
              </a:rPr>
              <a:t>simulator NS-3</a:t>
            </a:r>
            <a:r>
              <a:rPr lang="en-US" dirty="0">
                <a:solidFill>
                  <a:schemeClr val="accent1">
                    <a:lumMod val="75000"/>
                  </a:schemeClr>
                </a:solidFill>
              </a:rPr>
              <a:t>.</a:t>
            </a:r>
            <a:endParaRPr lang="el-GR" dirty="0">
              <a:solidFill>
                <a:schemeClr val="accent1">
                  <a:lumMod val="75000"/>
                </a:schemeClr>
              </a:solidFill>
            </a:endParaRPr>
          </a:p>
          <a:p>
            <a:pPr marL="173736" lvl="1" indent="0" algn="just">
              <a:buNone/>
            </a:pPr>
            <a:endParaRPr lang="el-GR" dirty="0">
              <a:solidFill>
                <a:schemeClr val="accent1">
                  <a:lumMod val="75000"/>
                </a:schemeClr>
              </a:solidFill>
            </a:endParaRPr>
          </a:p>
          <a:p>
            <a:pPr marL="173736" lvl="1" indent="0" algn="just">
              <a:buNone/>
            </a:pPr>
            <a:r>
              <a:rPr lang="el-GR" dirty="0">
                <a:solidFill>
                  <a:schemeClr val="accent1">
                    <a:lumMod val="75000"/>
                  </a:schemeClr>
                </a:solidFill>
              </a:rPr>
              <a:t>Κύριοι στόχοι της εργασίας</a:t>
            </a:r>
            <a:r>
              <a:rPr lang="en-US" dirty="0">
                <a:solidFill>
                  <a:schemeClr val="accent1">
                    <a:lumMod val="75000"/>
                  </a:schemeClr>
                </a:solidFill>
              </a:rPr>
              <a:t>:</a:t>
            </a:r>
            <a:endParaRPr lang="el-GR" dirty="0">
              <a:solidFill>
                <a:schemeClr val="accent1">
                  <a:lumMod val="75000"/>
                </a:schemeClr>
              </a:solidFill>
            </a:endParaRPr>
          </a:p>
          <a:p>
            <a:pPr marL="173736" lvl="1" indent="0" algn="just">
              <a:buNone/>
            </a:pPr>
            <a:r>
              <a:rPr lang="el-GR" sz="2200" dirty="0">
                <a:solidFill>
                  <a:schemeClr val="accent1">
                    <a:lumMod val="75000"/>
                  </a:schemeClr>
                </a:solidFill>
              </a:rPr>
              <a:t>1) </a:t>
            </a:r>
            <a:r>
              <a:rPr lang="el-GR" sz="2200" dirty="0"/>
              <a:t>Προσομοίωση μιας απλής σύνδεσης σημείου-προς-σημείο μεταξύ δύο κόμβων,  με προϋπόθεση η  μετάδοση να γίνει με την τεχνική του </a:t>
            </a:r>
            <a:r>
              <a:rPr lang="en-US" sz="2200" dirty="0"/>
              <a:t>UDP-echo (</a:t>
            </a:r>
            <a:r>
              <a:rPr lang="el-GR" sz="2200" dirty="0"/>
              <a:t>«</a:t>
            </a:r>
            <a:r>
              <a:rPr lang="en-GB" sz="2200" dirty="0"/>
              <a:t>a process for testing network connectivity and measuring response time by sending a UDP packet to a </a:t>
            </a:r>
            <a:r>
              <a:rPr lang="en-GB" sz="2200" dirty="0">
                <a:solidFill>
                  <a:schemeClr val="accent1">
                    <a:lumMod val="75000"/>
                  </a:schemeClr>
                </a:solidFill>
              </a:rPr>
              <a:t>destination</a:t>
            </a:r>
            <a:r>
              <a:rPr lang="en-GB" sz="2200" dirty="0"/>
              <a:t> and waiting for the destination to send it back</a:t>
            </a:r>
            <a:r>
              <a:rPr lang="el-GR" sz="2200" dirty="0"/>
              <a:t>» ).</a:t>
            </a:r>
            <a:endParaRPr lang="en-US" sz="2200" dirty="0"/>
          </a:p>
          <a:p>
            <a:pPr marL="173736" lvl="1" indent="0" algn="just">
              <a:buNone/>
            </a:pPr>
            <a:endParaRPr lang="el-GR" sz="2200" dirty="0"/>
          </a:p>
          <a:p>
            <a:pPr marL="173736" lvl="1" indent="0" algn="just">
              <a:buNone/>
            </a:pPr>
            <a:r>
              <a:rPr lang="el-GR" sz="2200" dirty="0">
                <a:solidFill>
                  <a:schemeClr val="accent1">
                    <a:lumMod val="75000"/>
                  </a:schemeClr>
                </a:solidFill>
              </a:rPr>
              <a:t>2) </a:t>
            </a:r>
            <a:r>
              <a:rPr lang="el-GR" sz="2200" dirty="0"/>
              <a:t>Προσομοίωση ενός πιο πολύπλοκου δικτύου με δυναμική δρομολόγηση, δημιουργία ροών πακέτων, εισαγωγή αποτυχίας συνδέσεων και ανάλυση απώλειας πακέτων.</a:t>
            </a:r>
          </a:p>
          <a:p>
            <a:pPr marL="173736" lvl="1" indent="0" algn="just">
              <a:buNone/>
            </a:pPr>
            <a:endParaRPr lang="el-GR" dirty="0"/>
          </a:p>
          <a:p>
            <a:pPr marL="0" indent="0" algn="just">
              <a:buNone/>
            </a:pPr>
            <a:endParaRPr lang="en-US" dirty="0"/>
          </a:p>
        </p:txBody>
      </p:sp>
    </p:spTree>
    <p:extLst>
      <p:ext uri="{BB962C8B-B14F-4D97-AF65-F5344CB8AC3E}">
        <p14:creationId xmlns:p14="http://schemas.microsoft.com/office/powerpoint/2010/main" val="140174155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83BE075-A1BA-4528-A907-BE8925441DB1}"/>
              </a:ext>
            </a:extLst>
          </p:cNvPr>
          <p:cNvSpPr>
            <a:spLocks noGrp="1"/>
          </p:cNvSpPr>
          <p:nvPr>
            <p:ph type="title"/>
          </p:nvPr>
        </p:nvSpPr>
        <p:spPr>
          <a:xfrm>
            <a:off x="837516" y="547893"/>
            <a:ext cx="11167872" cy="1499616"/>
          </a:xfrm>
        </p:spPr>
        <p:txBody>
          <a:bodyPr>
            <a:normAutofit/>
          </a:bodyPr>
          <a:lstStyle/>
          <a:p>
            <a:r>
              <a:rPr lang="el-GR" sz="4800" b="1" dirty="0"/>
              <a:t>ΒΗΜΑΤΑ ΥΛΟΠΟΙΗΣΗΣ ΤΗΣ ΕΡΓΑΣΙΑΣ</a:t>
            </a:r>
            <a:r>
              <a:rPr lang="en-US" sz="4800" b="1" dirty="0"/>
              <a:t> (1)</a:t>
            </a:r>
            <a:endParaRPr lang="el-GR" sz="4800" b="1" dirty="0"/>
          </a:p>
        </p:txBody>
      </p:sp>
      <p:sp>
        <p:nvSpPr>
          <p:cNvPr id="3" name="Θέση περιεχομένου 2">
            <a:extLst>
              <a:ext uri="{FF2B5EF4-FFF2-40B4-BE49-F238E27FC236}">
                <a16:creationId xmlns:a16="http://schemas.microsoft.com/office/drawing/2014/main" id="{B846792E-DE04-4CE2-B5D8-B785F3F8C80B}"/>
              </a:ext>
            </a:extLst>
          </p:cNvPr>
          <p:cNvSpPr>
            <a:spLocks noGrp="1"/>
          </p:cNvSpPr>
          <p:nvPr>
            <p:ph idx="1"/>
          </p:nvPr>
        </p:nvSpPr>
        <p:spPr>
          <a:xfrm>
            <a:off x="837516" y="1900996"/>
            <a:ext cx="10051148" cy="2544880"/>
          </a:xfrm>
        </p:spPr>
        <p:txBody>
          <a:bodyPr>
            <a:normAutofit/>
          </a:bodyPr>
          <a:lstStyle/>
          <a:p>
            <a:pPr marL="0" indent="0">
              <a:buNone/>
            </a:pPr>
            <a:r>
              <a:rPr lang="el-GR" sz="2000" dirty="0"/>
              <a:t>Χρησιμοποιήσαμε τα εξής εργαλεία για την υλοποίηση της άσκησης :</a:t>
            </a:r>
          </a:p>
          <a:p>
            <a:pPr>
              <a:buFont typeface="Arial" panose="020B0604020202020204" pitchFamily="34" charset="0"/>
              <a:buChar char="•"/>
            </a:pPr>
            <a:r>
              <a:rPr lang="en-US" sz="2000" dirty="0"/>
              <a:t>VMware Workstation Pro</a:t>
            </a:r>
            <a:r>
              <a:rPr lang="el-GR" sz="2000" dirty="0"/>
              <a:t> για το </a:t>
            </a:r>
            <a:r>
              <a:rPr lang="en-US" sz="2000" dirty="0"/>
              <a:t>Linux VM.</a:t>
            </a:r>
          </a:p>
          <a:p>
            <a:pPr>
              <a:buFont typeface="Arial" panose="020B0604020202020204" pitchFamily="34" charset="0"/>
              <a:buChar char="•"/>
            </a:pPr>
            <a:r>
              <a:rPr lang="en-US" sz="2000" dirty="0"/>
              <a:t>Ubuntu Linux distribution.</a:t>
            </a:r>
          </a:p>
          <a:p>
            <a:pPr>
              <a:buFont typeface="Arial" panose="020B0604020202020204" pitchFamily="34" charset="0"/>
              <a:buChar char="•"/>
            </a:pPr>
            <a:r>
              <a:rPr lang="en-US" sz="2000" dirty="0"/>
              <a:t>Discord </a:t>
            </a:r>
            <a:r>
              <a:rPr lang="el-GR" sz="2000" dirty="0"/>
              <a:t>και </a:t>
            </a:r>
            <a:r>
              <a:rPr lang="en-US" sz="2000" dirty="0"/>
              <a:t>GitHub </a:t>
            </a:r>
            <a:r>
              <a:rPr lang="el-GR" sz="2000" dirty="0"/>
              <a:t>για την επικοινωνία και τον συγχρονισμό των μελών της ομάδας.</a:t>
            </a:r>
            <a:endParaRPr lang="en-US" sz="2000" dirty="0"/>
          </a:p>
          <a:p>
            <a:pPr>
              <a:buFont typeface="Arial" panose="020B0604020202020204" pitchFamily="34" charset="0"/>
              <a:buChar char="•"/>
            </a:pPr>
            <a:r>
              <a:rPr lang="en-US" sz="2000" dirty="0"/>
              <a:t>Draw.io </a:t>
            </a:r>
            <a:r>
              <a:rPr lang="el-GR" sz="2000" dirty="0"/>
              <a:t>για την υλοποίηση σχεδιαγραμμάτων/τοπολογίας</a:t>
            </a:r>
            <a:r>
              <a:rPr lang="el-GR" dirty="0"/>
              <a:t>.</a:t>
            </a:r>
            <a:endParaRPr lang="en-US" dirty="0"/>
          </a:p>
        </p:txBody>
      </p:sp>
      <p:pic>
        <p:nvPicPr>
          <p:cNvPr id="5" name="Picture 4">
            <a:extLst>
              <a:ext uri="{FF2B5EF4-FFF2-40B4-BE49-F238E27FC236}">
                <a16:creationId xmlns:a16="http://schemas.microsoft.com/office/drawing/2014/main" id="{BCFFC7C8-3E1A-1BC4-1438-EB7E3E40A5F7}"/>
              </a:ext>
            </a:extLst>
          </p:cNvPr>
          <p:cNvPicPr>
            <a:picLocks noChangeAspect="1"/>
          </p:cNvPicPr>
          <p:nvPr/>
        </p:nvPicPr>
        <p:blipFill>
          <a:blip r:embed="rId2"/>
          <a:stretch>
            <a:fillRect/>
          </a:stretch>
        </p:blipFill>
        <p:spPr>
          <a:xfrm>
            <a:off x="4812828" y="4559485"/>
            <a:ext cx="2010569" cy="2010569"/>
          </a:xfrm>
          <a:prstGeom prst="rect">
            <a:avLst/>
          </a:prstGeom>
        </p:spPr>
      </p:pic>
      <p:pic>
        <p:nvPicPr>
          <p:cNvPr id="7" name="Picture 6" descr="A blue and orange square logo&#10;&#10;AI-generated content may be incorrect.">
            <a:extLst>
              <a:ext uri="{FF2B5EF4-FFF2-40B4-BE49-F238E27FC236}">
                <a16:creationId xmlns:a16="http://schemas.microsoft.com/office/drawing/2014/main" id="{C9DE2D26-6AFA-0109-C2F1-F425F3EA2B52}"/>
              </a:ext>
            </a:extLst>
          </p:cNvPr>
          <p:cNvPicPr>
            <a:picLocks noChangeAspect="1"/>
          </p:cNvPicPr>
          <p:nvPr/>
        </p:nvPicPr>
        <p:blipFill>
          <a:blip r:embed="rId3"/>
          <a:stretch>
            <a:fillRect/>
          </a:stretch>
        </p:blipFill>
        <p:spPr>
          <a:xfrm>
            <a:off x="0" y="4379448"/>
            <a:ext cx="2119364" cy="2119364"/>
          </a:xfrm>
          <a:prstGeom prst="rect">
            <a:avLst/>
          </a:prstGeom>
        </p:spPr>
      </p:pic>
      <p:pic>
        <p:nvPicPr>
          <p:cNvPr id="9" name="Picture 8" descr="A logo with a circle and a circle with a circle and a circle with a circle with a circle with a circle with a circle with a circle with a circle with a circle with a circle with&#10;&#10;AI-generated content may be incorrect.">
            <a:extLst>
              <a:ext uri="{FF2B5EF4-FFF2-40B4-BE49-F238E27FC236}">
                <a16:creationId xmlns:a16="http://schemas.microsoft.com/office/drawing/2014/main" id="{A059D40E-1E60-0DBC-1A62-414710D2EDD5}"/>
              </a:ext>
            </a:extLst>
          </p:cNvPr>
          <p:cNvPicPr>
            <a:picLocks noChangeAspect="1"/>
          </p:cNvPicPr>
          <p:nvPr/>
        </p:nvPicPr>
        <p:blipFill>
          <a:blip r:embed="rId4"/>
          <a:stretch>
            <a:fillRect/>
          </a:stretch>
        </p:blipFill>
        <p:spPr>
          <a:xfrm>
            <a:off x="2034994" y="4857097"/>
            <a:ext cx="2319248" cy="1641715"/>
          </a:xfrm>
          <a:prstGeom prst="rect">
            <a:avLst/>
          </a:prstGeom>
        </p:spPr>
      </p:pic>
      <p:pic>
        <p:nvPicPr>
          <p:cNvPr id="6" name="Picture 5" descr="A black background with a black square&#10;&#10;AI-generated content may be incorrect.">
            <a:extLst>
              <a:ext uri="{FF2B5EF4-FFF2-40B4-BE49-F238E27FC236}">
                <a16:creationId xmlns:a16="http://schemas.microsoft.com/office/drawing/2014/main" id="{46213963-0CDF-A7D0-0F23-FA0301AA6534}"/>
              </a:ext>
            </a:extLst>
          </p:cNvPr>
          <p:cNvPicPr>
            <a:picLocks noChangeAspect="1"/>
          </p:cNvPicPr>
          <p:nvPr/>
        </p:nvPicPr>
        <p:blipFill>
          <a:blip r:embed="rId5"/>
          <a:stretch>
            <a:fillRect/>
          </a:stretch>
        </p:blipFill>
        <p:spPr>
          <a:xfrm>
            <a:off x="6894932" y="4857097"/>
            <a:ext cx="2347674" cy="1320567"/>
          </a:xfrm>
          <a:prstGeom prst="rect">
            <a:avLst/>
          </a:prstGeom>
        </p:spPr>
      </p:pic>
      <p:pic>
        <p:nvPicPr>
          <p:cNvPr id="4" name="Εικόνα 3">
            <a:extLst>
              <a:ext uri="{FF2B5EF4-FFF2-40B4-BE49-F238E27FC236}">
                <a16:creationId xmlns:a16="http://schemas.microsoft.com/office/drawing/2014/main" id="{2A35B6A1-721A-4FBA-8F36-F670825F9823}"/>
              </a:ext>
            </a:extLst>
          </p:cNvPr>
          <p:cNvPicPr>
            <a:picLocks noChangeAspect="1"/>
          </p:cNvPicPr>
          <p:nvPr/>
        </p:nvPicPr>
        <p:blipFill>
          <a:blip r:embed="rId6"/>
          <a:stretch>
            <a:fillRect/>
          </a:stretch>
        </p:blipFill>
        <p:spPr>
          <a:xfrm>
            <a:off x="9611722" y="4330949"/>
            <a:ext cx="2347674" cy="2284860"/>
          </a:xfrm>
          <a:prstGeom prst="rect">
            <a:avLst/>
          </a:prstGeom>
        </p:spPr>
      </p:pic>
    </p:spTree>
    <p:extLst>
      <p:ext uri="{BB962C8B-B14F-4D97-AF65-F5344CB8AC3E}">
        <p14:creationId xmlns:p14="http://schemas.microsoft.com/office/powerpoint/2010/main" val="58090311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4682E-C30A-EC5F-F169-76ED3D8D9D46}"/>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A65C177-78EC-E045-063E-270C7A4FE2FA}"/>
              </a:ext>
            </a:extLst>
          </p:cNvPr>
          <p:cNvSpPr>
            <a:spLocks noGrp="1"/>
          </p:cNvSpPr>
          <p:nvPr>
            <p:ph type="title"/>
          </p:nvPr>
        </p:nvSpPr>
        <p:spPr>
          <a:xfrm>
            <a:off x="921492" y="678522"/>
            <a:ext cx="10835080" cy="1278615"/>
          </a:xfrm>
        </p:spPr>
        <p:txBody>
          <a:bodyPr>
            <a:normAutofit/>
          </a:bodyPr>
          <a:lstStyle/>
          <a:p>
            <a:r>
              <a:rPr lang="el-GR" sz="4800" b="1" dirty="0"/>
              <a:t>ΒΗΜΑΤΑ ΥΛΟΠΟΙΗΣΗΣ ΤΗΣ ΕΡΓΑΣΙΑΣ</a:t>
            </a:r>
            <a:r>
              <a:rPr lang="en-US" sz="4800" b="1" dirty="0"/>
              <a:t> (</a:t>
            </a:r>
            <a:r>
              <a:rPr lang="el-GR" sz="4800" b="1" dirty="0"/>
              <a:t>2</a:t>
            </a:r>
            <a:r>
              <a:rPr lang="en-US" sz="4800" b="1" dirty="0"/>
              <a:t>)</a:t>
            </a:r>
            <a:endParaRPr lang="el-GR" sz="4800" b="1" dirty="0"/>
          </a:p>
        </p:txBody>
      </p:sp>
      <p:sp>
        <p:nvSpPr>
          <p:cNvPr id="3" name="Θέση περιεχομένου 2">
            <a:extLst>
              <a:ext uri="{FF2B5EF4-FFF2-40B4-BE49-F238E27FC236}">
                <a16:creationId xmlns:a16="http://schemas.microsoft.com/office/drawing/2014/main" id="{C1F1056E-B878-8B1C-3420-F817646D1A2C}"/>
              </a:ext>
            </a:extLst>
          </p:cNvPr>
          <p:cNvSpPr>
            <a:spLocks noGrp="1"/>
          </p:cNvSpPr>
          <p:nvPr>
            <p:ph idx="1"/>
          </p:nvPr>
        </p:nvSpPr>
        <p:spPr>
          <a:xfrm>
            <a:off x="653142" y="2512468"/>
            <a:ext cx="6567466" cy="3771791"/>
          </a:xfrm>
        </p:spPr>
        <p:txBody>
          <a:bodyPr>
            <a:noAutofit/>
          </a:bodyPr>
          <a:lstStyle/>
          <a:p>
            <a:pPr>
              <a:buFont typeface="Arial" panose="020B0604020202020204" pitchFamily="34" charset="0"/>
              <a:buChar char="•"/>
            </a:pPr>
            <a:r>
              <a:rPr lang="en-US" dirty="0"/>
              <a:t> </a:t>
            </a:r>
            <a:r>
              <a:rPr lang="el-GR" dirty="0"/>
              <a:t>Δημιουργία ενός repository στο </a:t>
            </a:r>
            <a:r>
              <a:rPr lang="en-US" dirty="0"/>
              <a:t>GitHub</a:t>
            </a:r>
            <a:r>
              <a:rPr lang="el-GR" dirty="0"/>
              <a:t>.</a:t>
            </a:r>
          </a:p>
          <a:p>
            <a:pPr>
              <a:buFont typeface="Arial" panose="020B0604020202020204" pitchFamily="34" charset="0"/>
              <a:buChar char="•"/>
            </a:pPr>
            <a:r>
              <a:rPr lang="el-GR" dirty="0"/>
              <a:t>Μελέτη  της βιβλιογραφίας του </a:t>
            </a:r>
            <a:r>
              <a:rPr lang="en-US" dirty="0"/>
              <a:t>NS-3</a:t>
            </a:r>
            <a:r>
              <a:rPr lang="el-GR" dirty="0"/>
              <a:t> και πιο συγκεκριμένα του </a:t>
            </a:r>
            <a:r>
              <a:rPr lang="en-US" dirty="0"/>
              <a:t>“ns-3 tutorial” </a:t>
            </a:r>
            <a:r>
              <a:rPr lang="el-GR" dirty="0"/>
              <a:t>για απλά παραδείγματα χρήσης του νέου αυτού εργαλείου.</a:t>
            </a:r>
          </a:p>
          <a:p>
            <a:pPr>
              <a:buFont typeface="Arial" panose="020B0604020202020204" pitchFamily="34" charset="0"/>
              <a:buChar char="•"/>
            </a:pPr>
            <a:r>
              <a:rPr lang="el-GR" dirty="0"/>
              <a:t>Αναζήτηση στο </a:t>
            </a:r>
            <a:r>
              <a:rPr lang="en-US" dirty="0"/>
              <a:t>“ns-3 Model Library” </a:t>
            </a:r>
            <a:r>
              <a:rPr lang="el-GR" dirty="0"/>
              <a:t>για διασαφήνιση   σχετικών  εννοιών  (</a:t>
            </a:r>
            <a:r>
              <a:rPr lang="en-US" dirty="0"/>
              <a:t>flow monitoring, internet models, etc</a:t>
            </a:r>
            <a:r>
              <a:rPr lang="el-GR" dirty="0"/>
              <a:t>.</a:t>
            </a:r>
            <a:r>
              <a:rPr lang="en-US" dirty="0"/>
              <a:t>)</a:t>
            </a:r>
            <a:r>
              <a:rPr lang="el-GR" dirty="0"/>
              <a:t> που αναφέρονταν στην εργασία.</a:t>
            </a:r>
            <a:endParaRPr lang="en-US" dirty="0"/>
          </a:p>
          <a:p>
            <a:pPr>
              <a:buFont typeface="Arial" panose="020B0604020202020204" pitchFamily="34" charset="0"/>
              <a:buChar char="•"/>
            </a:pPr>
            <a:r>
              <a:rPr lang="el-GR" dirty="0"/>
              <a:t>Ως γλώσσα προγραμματισμού επιλέχθηκε η </a:t>
            </a:r>
            <a:r>
              <a:rPr lang="en-US" dirty="0"/>
              <a:t>C++.</a:t>
            </a:r>
          </a:p>
          <a:p>
            <a:pPr algn="just">
              <a:buFont typeface="Arial" panose="020B0604020202020204" pitchFamily="34" charset="0"/>
              <a:buChar char="•"/>
            </a:pPr>
            <a:endParaRPr lang="el-GR" dirty="0"/>
          </a:p>
          <a:p>
            <a:pPr marL="0" indent="0" algn="just">
              <a:buNone/>
            </a:pPr>
            <a:endParaRPr lang="el-GR" dirty="0"/>
          </a:p>
          <a:p>
            <a:pPr marL="0" indent="0">
              <a:buNone/>
            </a:pPr>
            <a:br>
              <a:rPr lang="en-US" dirty="0"/>
            </a:br>
            <a:endParaRPr lang="el-GR" dirty="0"/>
          </a:p>
        </p:txBody>
      </p:sp>
      <p:pic>
        <p:nvPicPr>
          <p:cNvPr id="5" name="Picture 4">
            <a:extLst>
              <a:ext uri="{FF2B5EF4-FFF2-40B4-BE49-F238E27FC236}">
                <a16:creationId xmlns:a16="http://schemas.microsoft.com/office/drawing/2014/main" id="{88BFED06-2B00-5AAC-F37F-EE97C2DA760A}"/>
              </a:ext>
            </a:extLst>
          </p:cNvPr>
          <p:cNvPicPr>
            <a:picLocks noChangeAspect="1"/>
          </p:cNvPicPr>
          <p:nvPr/>
        </p:nvPicPr>
        <p:blipFill>
          <a:blip r:embed="rId2"/>
          <a:stretch>
            <a:fillRect/>
          </a:stretch>
        </p:blipFill>
        <p:spPr>
          <a:xfrm>
            <a:off x="7959007" y="2454009"/>
            <a:ext cx="3797565" cy="3432800"/>
          </a:xfrm>
          <a:prstGeom prst="rect">
            <a:avLst/>
          </a:prstGeom>
          <a:ln>
            <a:solidFill>
              <a:schemeClr val="tx1"/>
            </a:solidFill>
          </a:ln>
        </p:spPr>
      </p:pic>
    </p:spTree>
    <p:extLst>
      <p:ext uri="{BB962C8B-B14F-4D97-AF65-F5344CB8AC3E}">
        <p14:creationId xmlns:p14="http://schemas.microsoft.com/office/powerpoint/2010/main" val="147938350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Τίτλος 1">
            <a:extLst>
              <a:ext uri="{FF2B5EF4-FFF2-40B4-BE49-F238E27FC236}">
                <a16:creationId xmlns:a16="http://schemas.microsoft.com/office/drawing/2014/main" id="{D774839F-51E4-E46D-4EE5-1DF8B9BC855B}"/>
              </a:ext>
            </a:extLst>
          </p:cNvPr>
          <p:cNvSpPr>
            <a:spLocks noGrp="1"/>
          </p:cNvSpPr>
          <p:nvPr>
            <p:ph type="title"/>
          </p:nvPr>
        </p:nvSpPr>
        <p:spPr>
          <a:xfrm>
            <a:off x="1024128" y="839755"/>
            <a:ext cx="9720072" cy="899830"/>
          </a:xfrm>
        </p:spPr>
        <p:txBody>
          <a:bodyPr rtlCol="0">
            <a:normAutofit/>
          </a:bodyPr>
          <a:lstStyle/>
          <a:p>
            <a:r>
              <a:rPr lang="el-GR" sz="4800" b="1" dirty="0"/>
              <a:t>Δεδομενα του ΕΡΩΤΗΜΑτοσ 1</a:t>
            </a:r>
          </a:p>
        </p:txBody>
      </p:sp>
      <p:sp>
        <p:nvSpPr>
          <p:cNvPr id="5" name="Θέση περιεχομένου 2">
            <a:extLst>
              <a:ext uri="{FF2B5EF4-FFF2-40B4-BE49-F238E27FC236}">
                <a16:creationId xmlns:a16="http://schemas.microsoft.com/office/drawing/2014/main" id="{784F8DDC-B6BC-8339-BE2C-10A96FCD8576}"/>
              </a:ext>
            </a:extLst>
          </p:cNvPr>
          <p:cNvSpPr>
            <a:spLocks noGrp="1"/>
          </p:cNvSpPr>
          <p:nvPr>
            <p:ph idx="1"/>
          </p:nvPr>
        </p:nvSpPr>
        <p:spPr>
          <a:xfrm>
            <a:off x="670033" y="2317531"/>
            <a:ext cx="11105199" cy="3479420"/>
          </a:xfrm>
        </p:spPr>
        <p:txBody>
          <a:bodyPr>
            <a:noAutofit/>
          </a:bodyPr>
          <a:lstStyle/>
          <a:p>
            <a:pPr marL="0" indent="0">
              <a:buNone/>
            </a:pPr>
            <a:r>
              <a:rPr lang="el-GR" dirty="0"/>
              <a:t>Πιο συγκεκριμένα για το πρώτο ερώτημα της εργασίας</a:t>
            </a:r>
            <a:r>
              <a:rPr lang="en-US" dirty="0"/>
              <a:t>:</a:t>
            </a:r>
          </a:p>
          <a:p>
            <a:pPr marL="0" indent="0">
              <a:buNone/>
            </a:pPr>
            <a:r>
              <a:rPr lang="en-US" sz="2000" dirty="0">
                <a:solidFill>
                  <a:schemeClr val="accent1">
                    <a:lumMod val="75000"/>
                  </a:schemeClr>
                </a:solidFill>
              </a:rPr>
              <a:t>1</a:t>
            </a:r>
            <a:r>
              <a:rPr lang="en-US" sz="2000" dirty="0"/>
              <a:t>. </a:t>
            </a:r>
            <a:r>
              <a:rPr lang="el-GR" sz="2000" dirty="0"/>
              <a:t>Ορίζονται τα χαρακτηριστικά της σύνδεσης και αντιστοιχίζονται διευθύνσεις τύπου ipv4 στις διεπαφές των κόμβων.</a:t>
            </a:r>
            <a:br>
              <a:rPr lang="el-GR" sz="2000" dirty="0"/>
            </a:br>
            <a:endParaRPr lang="en-US" sz="2000" dirty="0"/>
          </a:p>
          <a:p>
            <a:pPr marL="0" indent="0">
              <a:buNone/>
            </a:pPr>
            <a:r>
              <a:rPr lang="en-US" sz="2000" dirty="0">
                <a:solidFill>
                  <a:schemeClr val="accent1">
                    <a:lumMod val="75000"/>
                  </a:schemeClr>
                </a:solidFill>
              </a:rPr>
              <a:t>2</a:t>
            </a:r>
            <a:r>
              <a:rPr lang="en-US" sz="2000" dirty="0"/>
              <a:t>.</a:t>
            </a:r>
            <a:r>
              <a:rPr lang="el-GR" sz="2000" dirty="0"/>
              <a:t> </a:t>
            </a:r>
            <a:r>
              <a:rPr lang="en-US" sz="2000" dirty="0"/>
              <a:t>Y</a:t>
            </a:r>
            <a:r>
              <a:rPr lang="el-GR" sz="2000" dirty="0"/>
              <a:t>λοποιήθηκαν δύο </a:t>
            </a:r>
            <a:r>
              <a:rPr lang="el-GR" sz="2000" dirty="0">
                <a:solidFill>
                  <a:schemeClr val="accent1">
                    <a:lumMod val="75000"/>
                  </a:schemeClr>
                </a:solidFill>
              </a:rPr>
              <a:t>servers UDP echo </a:t>
            </a:r>
            <a:r>
              <a:rPr lang="el-GR" sz="2000" dirty="0"/>
              <a:t>στον κόμβο 1 σε διαφορετικές θύρες με δημιουργία δύο </a:t>
            </a:r>
            <a:r>
              <a:rPr lang="en-US" sz="2000" dirty="0">
                <a:solidFill>
                  <a:schemeClr val="accent1">
                    <a:lumMod val="75000"/>
                  </a:schemeClr>
                </a:solidFill>
              </a:rPr>
              <a:t>clients</a:t>
            </a:r>
            <a:r>
              <a:rPr lang="el-GR" sz="2000" dirty="0">
                <a:solidFill>
                  <a:schemeClr val="accent1">
                    <a:lumMod val="75000"/>
                  </a:schemeClr>
                </a:solidFill>
              </a:rPr>
              <a:t>  UDP echo </a:t>
            </a:r>
            <a:r>
              <a:rPr lang="el-GR" sz="2000" dirty="0"/>
              <a:t>στον κόμβο 0. </a:t>
            </a:r>
            <a:br>
              <a:rPr lang="el-GR" sz="2000" dirty="0"/>
            </a:br>
            <a:endParaRPr lang="en-US" sz="2000" dirty="0"/>
          </a:p>
          <a:p>
            <a:pPr marL="0" indent="0">
              <a:buNone/>
            </a:pPr>
            <a:r>
              <a:rPr lang="en-US" sz="2000" dirty="0">
                <a:solidFill>
                  <a:schemeClr val="accent1">
                    <a:lumMod val="75000"/>
                  </a:schemeClr>
                </a:solidFill>
              </a:rPr>
              <a:t>3. </a:t>
            </a:r>
            <a:r>
              <a:rPr lang="en-US" sz="2000" dirty="0"/>
              <a:t>T</a:t>
            </a:r>
            <a:r>
              <a:rPr lang="el-GR" sz="2000" dirty="0"/>
              <a:t>έλος, εκτελέστηκε η προσομοίωση και καταγράφτηκαν τα δεδομένα ροής με χρήση του </a:t>
            </a:r>
            <a:r>
              <a:rPr lang="en-US" sz="2000" dirty="0"/>
              <a:t>module </a:t>
            </a:r>
            <a:r>
              <a:rPr lang="en-US" sz="2000" dirty="0">
                <a:solidFill>
                  <a:schemeClr val="accent1">
                    <a:lumMod val="75000"/>
                  </a:schemeClr>
                </a:solidFill>
              </a:rPr>
              <a:t>Flow-Monitoring</a:t>
            </a:r>
            <a:r>
              <a:rPr lang="el-GR" sz="2000" dirty="0"/>
              <a:t> (πακέτα, καθυστέρηση, εύρος ζώνης).</a:t>
            </a:r>
          </a:p>
        </p:txBody>
      </p:sp>
    </p:spTree>
    <p:extLst>
      <p:ext uri="{BB962C8B-B14F-4D97-AF65-F5344CB8AC3E}">
        <p14:creationId xmlns:p14="http://schemas.microsoft.com/office/powerpoint/2010/main" val="307715519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Τίτλος 1">
            <a:extLst>
              <a:ext uri="{FF2B5EF4-FFF2-40B4-BE49-F238E27FC236}">
                <a16:creationId xmlns:a16="http://schemas.microsoft.com/office/drawing/2014/main" id="{FB84AE28-5848-E665-6D72-8FA26E4F4EA0}"/>
              </a:ext>
            </a:extLst>
          </p:cNvPr>
          <p:cNvSpPr txBox="1">
            <a:spLocks/>
          </p:cNvSpPr>
          <p:nvPr/>
        </p:nvSpPr>
        <p:spPr>
          <a:xfrm>
            <a:off x="1045029" y="1210237"/>
            <a:ext cx="9453318" cy="582706"/>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Calibri" panose="020F0502020204030204" pitchFamily="34" charset="0"/>
                <a:ea typeface="+mj-ea"/>
                <a:cs typeface="+mj-cs"/>
              </a:defRPr>
            </a:lvl1pPr>
          </a:lstStyle>
          <a:p>
            <a:r>
              <a:rPr lang="el-GR" sz="4800" b="1" dirty="0"/>
              <a:t>Υλοποιηση του ερωτηματοσ 1</a:t>
            </a:r>
            <a:br>
              <a:rPr lang="el-GR" sz="4800" dirty="0"/>
            </a:br>
            <a:endParaRPr lang="el-GR" sz="4800" dirty="0"/>
          </a:p>
        </p:txBody>
      </p:sp>
      <p:sp>
        <p:nvSpPr>
          <p:cNvPr id="6" name="Θέση περιεχομένου 2">
            <a:extLst>
              <a:ext uri="{FF2B5EF4-FFF2-40B4-BE49-F238E27FC236}">
                <a16:creationId xmlns:a16="http://schemas.microsoft.com/office/drawing/2014/main" id="{1BD6B2D5-E19E-AB53-1C03-C2A591F05B5B}"/>
              </a:ext>
            </a:extLst>
          </p:cNvPr>
          <p:cNvSpPr>
            <a:spLocks noGrp="1"/>
          </p:cNvSpPr>
          <p:nvPr>
            <p:ph idx="1"/>
          </p:nvPr>
        </p:nvSpPr>
        <p:spPr>
          <a:xfrm>
            <a:off x="1045029" y="2155371"/>
            <a:ext cx="10888824" cy="4198776"/>
          </a:xfrm>
        </p:spPr>
        <p:txBody>
          <a:bodyPr>
            <a:normAutofit/>
          </a:bodyPr>
          <a:lstStyle/>
          <a:p>
            <a:pPr algn="just">
              <a:buFont typeface="Arial" panose="020B0604020202020204" pitchFamily="34" charset="0"/>
              <a:buChar char="•"/>
            </a:pPr>
            <a:r>
              <a:rPr lang="en-US" dirty="0"/>
              <a:t> </a:t>
            </a:r>
            <a:r>
              <a:rPr lang="el-GR" dirty="0"/>
              <a:t>Μέσα στον φάκελο</a:t>
            </a:r>
            <a:r>
              <a:rPr lang="en-US" dirty="0"/>
              <a:t> “</a:t>
            </a:r>
            <a:r>
              <a:rPr lang="en-US" b="1" dirty="0"/>
              <a:t>scratch</a:t>
            </a:r>
            <a:r>
              <a:rPr lang="en-US" dirty="0"/>
              <a:t>”</a:t>
            </a:r>
            <a:r>
              <a:rPr lang="el-GR" dirty="0"/>
              <a:t>του </a:t>
            </a:r>
            <a:r>
              <a:rPr lang="en-US" dirty="0"/>
              <a:t>NS3 </a:t>
            </a:r>
            <a:r>
              <a:rPr lang="el-GR" dirty="0"/>
              <a:t>υλοποιήθηκε η λύση του 1</a:t>
            </a:r>
            <a:r>
              <a:rPr lang="el-GR" baseline="30000" dirty="0"/>
              <a:t>ου</a:t>
            </a:r>
            <a:r>
              <a:rPr lang="el-GR" dirty="0"/>
              <a:t> ερωτήματος</a:t>
            </a:r>
          </a:p>
          <a:p>
            <a:pPr algn="just">
              <a:buFont typeface="Arial" panose="020B0604020202020204" pitchFamily="34" charset="0"/>
              <a:buChar char="•"/>
            </a:pPr>
            <a:r>
              <a:rPr lang="el-GR" dirty="0"/>
              <a:t> Έγινε χρήση των </a:t>
            </a:r>
            <a:r>
              <a:rPr lang="en-US" dirty="0"/>
              <a:t>module:</a:t>
            </a:r>
            <a:r>
              <a:rPr lang="el-GR" dirty="0"/>
              <a:t> </a:t>
            </a:r>
            <a:r>
              <a:rPr lang="en-US" dirty="0"/>
              <a:t>flow- monitoring -module.h , point-to-point-module.h</a:t>
            </a:r>
          </a:p>
          <a:p>
            <a:pPr algn="just">
              <a:buFont typeface="Arial" panose="020B0604020202020204" pitchFamily="34" charset="0"/>
              <a:buChar char="•"/>
            </a:pPr>
            <a:r>
              <a:rPr lang="el-GR" dirty="0"/>
              <a:t> Έγινε παραμετροποίηση με τις παραδοχές </a:t>
            </a:r>
            <a:r>
              <a:rPr lang="en-US" dirty="0"/>
              <a:t>:</a:t>
            </a:r>
            <a:endParaRPr lang="el-GR" dirty="0"/>
          </a:p>
          <a:p>
            <a:pPr marL="173736" lvl="1" indent="0" algn="just">
              <a:buNone/>
            </a:pPr>
            <a:r>
              <a:rPr lang="en-US" dirty="0"/>
              <a:t>  Data Rate = 5Mbps</a:t>
            </a:r>
          </a:p>
          <a:p>
            <a:pPr marL="173736" lvl="1" indent="0" algn="just">
              <a:buNone/>
            </a:pPr>
            <a:r>
              <a:rPr lang="en-US" dirty="0"/>
              <a:t>  Delay = 6ms</a:t>
            </a:r>
          </a:p>
          <a:p>
            <a:pPr marL="173736" lvl="1" indent="0" algn="just">
              <a:buNone/>
            </a:pPr>
            <a:r>
              <a:rPr lang="en-US" dirty="0"/>
              <a:t>  Packet Size = 1024 bytes</a:t>
            </a:r>
          </a:p>
          <a:p>
            <a:pPr marL="173736" lvl="1" indent="0" algn="just">
              <a:buNone/>
            </a:pPr>
            <a:r>
              <a:rPr lang="en-US" dirty="0"/>
              <a:t>  Max Packets = 6</a:t>
            </a:r>
          </a:p>
          <a:p>
            <a:pPr marL="173736" lvl="1" indent="0" algn="just">
              <a:buNone/>
            </a:pPr>
            <a:r>
              <a:rPr lang="en-US" dirty="0"/>
              <a:t>  Simulation Time = 11.0s</a:t>
            </a:r>
          </a:p>
          <a:p>
            <a:pPr algn="just">
              <a:buFont typeface="Arial" panose="020B0604020202020204" pitchFamily="34" charset="0"/>
              <a:buChar char="•"/>
            </a:pPr>
            <a:endParaRPr lang="el-GR" dirty="0"/>
          </a:p>
        </p:txBody>
      </p:sp>
      <p:pic>
        <p:nvPicPr>
          <p:cNvPr id="2" name="Εικόνα 1">
            <a:extLst>
              <a:ext uri="{FF2B5EF4-FFF2-40B4-BE49-F238E27FC236}">
                <a16:creationId xmlns:a16="http://schemas.microsoft.com/office/drawing/2014/main" id="{72465A12-DE92-430F-83D8-A8CA456E29B7}"/>
              </a:ext>
            </a:extLst>
          </p:cNvPr>
          <p:cNvPicPr>
            <a:picLocks noChangeAspect="1"/>
          </p:cNvPicPr>
          <p:nvPr/>
        </p:nvPicPr>
        <p:blipFill>
          <a:blip r:embed="rId2"/>
          <a:stretch>
            <a:fillRect/>
          </a:stretch>
        </p:blipFill>
        <p:spPr>
          <a:xfrm>
            <a:off x="6596884" y="4396609"/>
            <a:ext cx="4705350" cy="1485900"/>
          </a:xfrm>
          <a:prstGeom prst="rect">
            <a:avLst/>
          </a:prstGeom>
        </p:spPr>
      </p:pic>
    </p:spTree>
    <p:extLst>
      <p:ext uri="{BB962C8B-B14F-4D97-AF65-F5344CB8AC3E}">
        <p14:creationId xmlns:p14="http://schemas.microsoft.com/office/powerpoint/2010/main" val="297395406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356E8B7-F79F-49D2-A78C-DB57940338DA}"/>
              </a:ext>
            </a:extLst>
          </p:cNvPr>
          <p:cNvSpPr>
            <a:spLocks noGrp="1"/>
          </p:cNvSpPr>
          <p:nvPr>
            <p:ph type="title"/>
          </p:nvPr>
        </p:nvSpPr>
        <p:spPr>
          <a:xfrm>
            <a:off x="1024127" y="979714"/>
            <a:ext cx="10415203" cy="1105118"/>
          </a:xfrm>
        </p:spPr>
        <p:txBody>
          <a:bodyPr anchor="ctr">
            <a:noAutofit/>
          </a:bodyPr>
          <a:lstStyle/>
          <a:p>
            <a:r>
              <a:rPr lang="el-GR" sz="4800" b="1" dirty="0"/>
              <a:t>αποτελεσματα του ερωτηματοσ 1</a:t>
            </a:r>
            <a:br>
              <a:rPr lang="el-GR" sz="4800" dirty="0"/>
            </a:br>
            <a:endParaRPr lang="el-GR" sz="4800" dirty="0"/>
          </a:p>
        </p:txBody>
      </p:sp>
      <p:sp>
        <p:nvSpPr>
          <p:cNvPr id="3" name="Θέση περιεχομένου 2">
            <a:extLst>
              <a:ext uri="{FF2B5EF4-FFF2-40B4-BE49-F238E27FC236}">
                <a16:creationId xmlns:a16="http://schemas.microsoft.com/office/drawing/2014/main" id="{64EFDE80-4506-46C6-AB1D-895B45782802}"/>
              </a:ext>
            </a:extLst>
          </p:cNvPr>
          <p:cNvSpPr>
            <a:spLocks noGrp="1"/>
          </p:cNvSpPr>
          <p:nvPr>
            <p:ph sz="half" idx="1"/>
          </p:nvPr>
        </p:nvSpPr>
        <p:spPr>
          <a:xfrm>
            <a:off x="1024127" y="2583662"/>
            <a:ext cx="4668112" cy="2653146"/>
          </a:xfrm>
        </p:spPr>
        <p:txBody>
          <a:bodyPr>
            <a:normAutofit/>
          </a:bodyPr>
          <a:lstStyle/>
          <a:p>
            <a:pPr algn="just">
              <a:buFont typeface="Arial" panose="020B0604020202020204" pitchFamily="34" charset="0"/>
              <a:buChar char="•"/>
            </a:pPr>
            <a:r>
              <a:rPr lang="el-GR" dirty="0"/>
              <a:t>Εκτελώντας την προσομοίωση </a:t>
            </a:r>
            <a:r>
              <a:rPr lang="en-US" dirty="0"/>
              <a:t>point to point </a:t>
            </a:r>
            <a:r>
              <a:rPr lang="el-GR" dirty="0"/>
              <a:t>σύνδεσης στο </a:t>
            </a:r>
            <a:r>
              <a:rPr lang="en-US" dirty="0"/>
              <a:t>Ubuntu</a:t>
            </a:r>
            <a:r>
              <a:rPr lang="el-GR" dirty="0"/>
              <a:t> σύστημα μας, προέκυψαν τα εξής δεδομένα :</a:t>
            </a:r>
          </a:p>
          <a:p>
            <a:pPr marL="0" indent="0" algn="just">
              <a:buNone/>
            </a:pPr>
            <a:endParaRPr lang="el-GR" dirty="0"/>
          </a:p>
          <a:p>
            <a:pPr lvl="2" algn="just"/>
            <a:r>
              <a:rPr lang="el-GR" sz="1700" dirty="0"/>
              <a:t>Παρατηρούμε την ροή πακέτων από τον έναν κόμβο στον άλλον. Το κάθε ένα από τα 4 </a:t>
            </a:r>
            <a:r>
              <a:rPr lang="en-US" sz="1700" dirty="0"/>
              <a:t>flows</a:t>
            </a:r>
            <a:r>
              <a:rPr lang="el-GR" sz="1700" dirty="0"/>
              <a:t> είναι η επικοινωνία μεταξύ</a:t>
            </a:r>
            <a:r>
              <a:rPr lang="en-US" sz="1700" dirty="0"/>
              <a:t> server</a:t>
            </a:r>
            <a:r>
              <a:rPr lang="el-GR" sz="1700" dirty="0"/>
              <a:t> </a:t>
            </a:r>
            <a:r>
              <a:rPr lang="en-US" sz="1700" dirty="0"/>
              <a:t>(node 1) </a:t>
            </a:r>
            <a:r>
              <a:rPr lang="el-GR" sz="1700" dirty="0"/>
              <a:t>στον </a:t>
            </a:r>
            <a:r>
              <a:rPr lang="en-US" sz="1700" dirty="0"/>
              <a:t>client (node 0).</a:t>
            </a:r>
            <a:endParaRPr lang="el-GR" sz="1700" dirty="0"/>
          </a:p>
        </p:txBody>
      </p:sp>
      <p:pic>
        <p:nvPicPr>
          <p:cNvPr id="5" name="Picture 4" descr="A computer screen shot of a program&#10;&#10;AI-generated content may be incorrect.">
            <a:extLst>
              <a:ext uri="{FF2B5EF4-FFF2-40B4-BE49-F238E27FC236}">
                <a16:creationId xmlns:a16="http://schemas.microsoft.com/office/drawing/2014/main" id="{4D4C9CBC-682B-AA87-BB61-FF4351371139}"/>
              </a:ext>
            </a:extLst>
          </p:cNvPr>
          <p:cNvPicPr>
            <a:picLocks noChangeAspect="1"/>
          </p:cNvPicPr>
          <p:nvPr/>
        </p:nvPicPr>
        <p:blipFill>
          <a:blip r:embed="rId2"/>
          <a:stretch>
            <a:fillRect/>
          </a:stretch>
        </p:blipFill>
        <p:spPr>
          <a:xfrm>
            <a:off x="6764694" y="2184449"/>
            <a:ext cx="3979506" cy="4124911"/>
          </a:xfrm>
          <a:prstGeom prst="rect">
            <a:avLst/>
          </a:prstGeom>
          <a:noFill/>
        </p:spPr>
      </p:pic>
    </p:spTree>
    <p:extLst>
      <p:ext uri="{BB962C8B-B14F-4D97-AF65-F5344CB8AC3E}">
        <p14:creationId xmlns:p14="http://schemas.microsoft.com/office/powerpoint/2010/main" val="304525112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C8A6D00-8650-44C1-ADBF-B2BBD782652E}"/>
              </a:ext>
            </a:extLst>
          </p:cNvPr>
          <p:cNvSpPr>
            <a:spLocks noGrp="1"/>
          </p:cNvSpPr>
          <p:nvPr>
            <p:ph type="title"/>
          </p:nvPr>
        </p:nvSpPr>
        <p:spPr>
          <a:xfrm>
            <a:off x="1033093" y="870452"/>
            <a:ext cx="9720072" cy="653003"/>
          </a:xfrm>
        </p:spPr>
        <p:txBody>
          <a:bodyPr>
            <a:normAutofit fontScale="90000"/>
          </a:bodyPr>
          <a:lstStyle/>
          <a:p>
            <a:r>
              <a:rPr lang="el-GR" b="1" dirty="0"/>
              <a:t>ΔΕΔΟΜΕΝΑ ΤΟυ ΕΡΩΤΗΜΑτοσ 2</a:t>
            </a:r>
            <a:endParaRPr lang="el-GR" dirty="0"/>
          </a:p>
        </p:txBody>
      </p:sp>
      <p:sp>
        <p:nvSpPr>
          <p:cNvPr id="7" name="TextBox 6">
            <a:extLst>
              <a:ext uri="{FF2B5EF4-FFF2-40B4-BE49-F238E27FC236}">
                <a16:creationId xmlns:a16="http://schemas.microsoft.com/office/drawing/2014/main" id="{BAA94425-F47D-8652-2A48-D2A9D02F106D}"/>
              </a:ext>
            </a:extLst>
          </p:cNvPr>
          <p:cNvSpPr txBox="1"/>
          <p:nvPr/>
        </p:nvSpPr>
        <p:spPr>
          <a:xfrm>
            <a:off x="723201" y="1867351"/>
            <a:ext cx="11097088" cy="4047262"/>
          </a:xfrm>
          <a:prstGeom prst="rect">
            <a:avLst/>
          </a:prstGeom>
          <a:noFill/>
        </p:spPr>
        <p:txBody>
          <a:bodyPr wrap="square" rtlCol="0">
            <a:spAutoFit/>
          </a:bodyPr>
          <a:lstStyle/>
          <a:p>
            <a:pPr eaLnBrk="0" fontAlgn="base" hangingPunct="0">
              <a:lnSpc>
                <a:spcPct val="100000"/>
              </a:lnSpc>
              <a:spcBef>
                <a:spcPct val="0"/>
              </a:spcBef>
              <a:spcAft>
                <a:spcPct val="0"/>
              </a:spcAft>
              <a:buClrTx/>
              <a:buSzTx/>
              <a:buFont typeface="Arial" panose="020B0604020202020204" pitchFamily="34" charset="0"/>
              <a:buChar char="•"/>
            </a:pPr>
            <a:r>
              <a:rPr lang="el-GR" altLang="el-GR" dirty="0">
                <a:solidFill>
                  <a:schemeClr val="accent1">
                    <a:lumMod val="75000"/>
                  </a:schemeClr>
                </a:solidFill>
                <a:latin typeface="Arial" panose="020B0604020202020204" pitchFamily="34" charset="0"/>
                <a:cs typeface="Arial" panose="020B0604020202020204" pitchFamily="34" charset="0"/>
              </a:rPr>
              <a:t> </a:t>
            </a:r>
            <a:r>
              <a:rPr lang="el-GR" altLang="el-GR" sz="1700" dirty="0">
                <a:latin typeface="Calibri" panose="020F0502020204030204" pitchFamily="34" charset="0"/>
                <a:ea typeface="Calibri" panose="020F0502020204030204" pitchFamily="34" charset="0"/>
                <a:cs typeface="Calibri" panose="020F0502020204030204" pitchFamily="34" charset="0"/>
              </a:rPr>
              <a:t>Επιλέξαμε</a:t>
            </a:r>
            <a:r>
              <a:rPr lang="en-US" altLang="el-GR" sz="1700" dirty="0">
                <a:latin typeface="Calibri" panose="020F0502020204030204" pitchFamily="34" charset="0"/>
                <a:ea typeface="Calibri" panose="020F0502020204030204" pitchFamily="34" charset="0"/>
                <a:cs typeface="Calibri" panose="020F0502020204030204" pitchFamily="34" charset="0"/>
              </a:rPr>
              <a:t> 2 </a:t>
            </a:r>
            <a:r>
              <a:rPr lang="el-GR" altLang="el-GR" sz="1700" dirty="0">
                <a:latin typeface="Calibri" panose="020F0502020204030204" pitchFamily="34" charset="0"/>
                <a:ea typeface="Calibri" panose="020F0502020204030204" pitchFamily="34" charset="0"/>
                <a:cs typeface="Calibri" panose="020F0502020204030204" pitchFamily="34" charset="0"/>
              </a:rPr>
              <a:t>είδη δυναμικής δρομολόγησης, το OLSR (Optimized Link State Routing) και το </a:t>
            </a:r>
            <a:r>
              <a:rPr lang="en-US" altLang="el-GR" sz="1700" dirty="0">
                <a:latin typeface="Calibri" panose="020F0502020204030204" pitchFamily="34" charset="0"/>
                <a:ea typeface="Calibri" panose="020F0502020204030204" pitchFamily="34" charset="0"/>
                <a:cs typeface="Calibri" panose="020F0502020204030204" pitchFamily="34" charset="0"/>
              </a:rPr>
              <a:t>AODVN (Ad hoc </a:t>
            </a:r>
            <a:r>
              <a:rPr lang="en-US" sz="1700" dirty="0">
                <a:latin typeface="Calibri" panose="020F0502020204030204" pitchFamily="34" charset="0"/>
                <a:ea typeface="Calibri" panose="020F0502020204030204" pitchFamily="34" charset="0"/>
                <a:cs typeface="Calibri" panose="020F0502020204030204" pitchFamily="34" charset="0"/>
              </a:rPr>
              <a:t>On-Demand Distance Vector </a:t>
            </a:r>
            <a:r>
              <a:rPr lang="en-US" altLang="el-GR" sz="1700" dirty="0">
                <a:latin typeface="Calibri" panose="020F0502020204030204" pitchFamily="34" charset="0"/>
                <a:ea typeface="Calibri" panose="020F0502020204030204" pitchFamily="34" charset="0"/>
                <a:cs typeface="Calibri" panose="020F0502020204030204" pitchFamily="34" charset="0"/>
              </a:rPr>
              <a:t>)</a:t>
            </a:r>
            <a:r>
              <a:rPr lang="el-GR" altLang="el-GR" sz="1700" dirty="0">
                <a:latin typeface="Calibri" panose="020F0502020204030204" pitchFamily="34" charset="0"/>
                <a:ea typeface="Calibri" panose="020F0502020204030204" pitchFamily="34" charset="0"/>
                <a:cs typeface="Calibri" panose="020F0502020204030204" pitchFamily="34" charset="0"/>
              </a:rPr>
              <a:t>. Το OLSR</a:t>
            </a:r>
            <a:r>
              <a:rPr lang="en-US" altLang="el-GR" sz="1700" dirty="0">
                <a:latin typeface="Calibri" panose="020F0502020204030204" pitchFamily="34" charset="0"/>
                <a:ea typeface="Calibri" panose="020F0502020204030204" pitchFamily="34" charset="0"/>
                <a:cs typeface="Calibri" panose="020F0502020204030204" pitchFamily="34" charset="0"/>
              </a:rPr>
              <a:t>, AODV </a:t>
            </a:r>
            <a:r>
              <a:rPr lang="el-GR" altLang="el-GR" sz="1700" dirty="0">
                <a:latin typeface="Calibri" panose="020F0502020204030204" pitchFamily="34" charset="0"/>
                <a:ea typeface="Calibri" panose="020F0502020204030204" pitchFamily="34" charset="0"/>
                <a:cs typeface="Calibri" panose="020F0502020204030204" pitchFamily="34" charset="0"/>
              </a:rPr>
              <a:t>υποστηρίζονται πλήρως από το περιβάλλον του ns-3.</a:t>
            </a:r>
            <a:endParaRPr lang="en-US" altLang="el-GR" sz="17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buClrTx/>
              <a:buSzTx/>
              <a:buFont typeface="Arial" panose="020B0604020202020204" pitchFamily="34" charset="0"/>
              <a:buChar char="•"/>
            </a:pPr>
            <a:endParaRPr lang="en-US" altLang="el-GR" sz="17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buClrTx/>
              <a:buSzTx/>
              <a:buFont typeface="Arial" panose="020B0604020202020204" pitchFamily="34" charset="0"/>
              <a:buChar char="•"/>
            </a:pPr>
            <a:r>
              <a:rPr lang="el-GR" altLang="el-GR" sz="17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l-GR" altLang="el-GR" sz="1700" dirty="0">
                <a:latin typeface="Calibri" panose="020F0502020204030204" pitchFamily="34" charset="0"/>
                <a:ea typeface="Calibri" panose="020F0502020204030204" pitchFamily="34" charset="0"/>
                <a:cs typeface="Calibri" panose="020F0502020204030204" pitchFamily="34" charset="0"/>
              </a:rPr>
              <a:t>Επιπλέον,</a:t>
            </a:r>
            <a:r>
              <a:rPr lang="en-US" altLang="el-GR" sz="1700" dirty="0">
                <a:latin typeface="Calibri" panose="020F0502020204030204" pitchFamily="34" charset="0"/>
                <a:ea typeface="Calibri" panose="020F0502020204030204" pitchFamily="34" charset="0"/>
                <a:cs typeface="Calibri" panose="020F0502020204030204" pitchFamily="34" charset="0"/>
              </a:rPr>
              <a:t> </a:t>
            </a:r>
            <a:r>
              <a:rPr lang="el-GR" altLang="el-GR" sz="1700" dirty="0">
                <a:latin typeface="Calibri" panose="020F0502020204030204" pitchFamily="34" charset="0"/>
                <a:ea typeface="Calibri" panose="020F0502020204030204" pitchFamily="34" charset="0"/>
                <a:cs typeface="Calibri" panose="020F0502020204030204" pitchFamily="34" charset="0"/>
              </a:rPr>
              <a:t>συμπεριλάβαμε τις εξής βιβλιοθήκες: </a:t>
            </a:r>
            <a:r>
              <a:rPr lang="en-US" altLang="el-GR" sz="1700" dirty="0">
                <a:latin typeface="Calibri" panose="020F0502020204030204" pitchFamily="34" charset="0"/>
                <a:ea typeface="Calibri" panose="020F0502020204030204" pitchFamily="34" charset="0"/>
                <a:cs typeface="Calibri" panose="020F0502020204030204" pitchFamily="34" charset="0"/>
              </a:rPr>
              <a:t>module olsr-helper.h, ns3/applications-module.h, </a:t>
            </a:r>
            <a:br>
              <a:rPr lang="en-US" altLang="el-GR" sz="1700" dirty="0">
                <a:latin typeface="Calibri" panose="020F0502020204030204" pitchFamily="34" charset="0"/>
                <a:ea typeface="Calibri" panose="020F0502020204030204" pitchFamily="34" charset="0"/>
                <a:cs typeface="Calibri" panose="020F0502020204030204" pitchFamily="34" charset="0"/>
              </a:rPr>
            </a:br>
            <a:r>
              <a:rPr lang="en-US" altLang="el-GR" sz="1700" dirty="0">
                <a:latin typeface="Calibri" panose="020F0502020204030204" pitchFamily="34" charset="0"/>
                <a:ea typeface="Calibri" panose="020F0502020204030204" pitchFamily="34" charset="0"/>
                <a:cs typeface="Calibri" panose="020F0502020204030204" pitchFamily="34" charset="0"/>
              </a:rPr>
              <a:t>internet-module.h.</a:t>
            </a:r>
          </a:p>
          <a:p>
            <a:pPr eaLnBrk="0" fontAlgn="base" hangingPunct="0">
              <a:lnSpc>
                <a:spcPct val="100000"/>
              </a:lnSpc>
              <a:spcBef>
                <a:spcPct val="0"/>
              </a:spcBef>
              <a:spcAft>
                <a:spcPct val="0"/>
              </a:spcAft>
              <a:buClrTx/>
              <a:buSzTx/>
              <a:buFont typeface="Arial" panose="020B0604020202020204" pitchFamily="34" charset="0"/>
              <a:buChar char="•"/>
            </a:pPr>
            <a:endParaRPr lang="el-GR" altLang="el-GR" sz="17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buClrTx/>
              <a:buSzTx/>
              <a:buFont typeface="Arial" panose="020B0604020202020204" pitchFamily="34" charset="0"/>
              <a:buChar char="•"/>
            </a:pPr>
            <a:r>
              <a:rPr lang="el-GR" altLang="el-GR" sz="17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l-GR" altLang="el-GR" sz="1700" dirty="0">
                <a:latin typeface="Calibri" panose="020F0502020204030204" pitchFamily="34" charset="0"/>
                <a:ea typeface="Calibri" panose="020F0502020204030204" pitchFamily="34" charset="0"/>
                <a:cs typeface="Calibri" panose="020F0502020204030204" pitchFamily="34" charset="0"/>
              </a:rPr>
              <a:t>Το </a:t>
            </a:r>
            <a:r>
              <a:rPr lang="en-US" altLang="el-GR" sz="17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internet stack </a:t>
            </a:r>
            <a:r>
              <a:rPr lang="el-GR" altLang="el-GR" sz="1700" dirty="0">
                <a:latin typeface="Calibri" panose="020F0502020204030204" pitchFamily="34" charset="0"/>
                <a:ea typeface="Calibri" panose="020F0502020204030204" pitchFamily="34" charset="0"/>
                <a:cs typeface="Calibri" panose="020F0502020204030204" pitchFamily="34" charset="0"/>
              </a:rPr>
              <a:t>παρέχει τα βασικά επίπεδα πρωτοκόλλων δικτύου που επιτρέπουν την επικοινωνία μεταξύ των κόμβων και λειτουργεί ως λογισμικό που υποστηρίζει την αποστολή, λήψη και επεξεργασία πακέτων.</a:t>
            </a:r>
            <a:endParaRPr lang="en-US" altLang="el-GR" sz="17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buClrTx/>
              <a:buSzTx/>
              <a:buFont typeface="Arial" panose="020B0604020202020204" pitchFamily="34" charset="0"/>
              <a:buChar char="•"/>
            </a:pPr>
            <a:endParaRPr lang="en-US" altLang="el-GR" sz="17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buClrTx/>
              <a:buSzTx/>
              <a:buFont typeface="Arial" panose="020B0604020202020204" pitchFamily="34" charset="0"/>
              <a:buChar char="•"/>
            </a:pPr>
            <a:r>
              <a:rPr lang="el-GR" altLang="el-GR" sz="17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l-GR" altLang="el-GR" sz="1700" dirty="0">
                <a:latin typeface="Calibri" panose="020F0502020204030204" pitchFamily="34" charset="0"/>
                <a:ea typeface="Calibri" panose="020F0502020204030204" pitchFamily="34" charset="0"/>
                <a:cs typeface="Calibri" panose="020F0502020204030204" pitchFamily="34" charset="0"/>
              </a:rPr>
              <a:t>Το </a:t>
            </a:r>
            <a:r>
              <a:rPr lang="en-US" altLang="el-GR" sz="17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packet sink </a:t>
            </a:r>
            <a:r>
              <a:rPr lang="el-GR" altLang="el-GR" sz="1700" dirty="0">
                <a:latin typeface="Calibri" panose="020F0502020204030204" pitchFamily="34" charset="0"/>
                <a:ea typeface="Calibri" panose="020F0502020204030204" pitchFamily="34" charset="0"/>
                <a:cs typeface="Calibri" panose="020F0502020204030204" pitchFamily="34" charset="0"/>
              </a:rPr>
              <a:t>που λαμβάνει εισερχόμενα πακέτα και χρησιμοποιείται για τη μέτρηση της δικτυακής κίνησης και της επιτυχούς παράδοσης πακέτων.</a:t>
            </a:r>
            <a:endParaRPr lang="en-US" altLang="el-GR" sz="17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buClrTx/>
              <a:buSzTx/>
              <a:buFont typeface="Arial" panose="020B0604020202020204" pitchFamily="34" charset="0"/>
              <a:buChar char="•"/>
            </a:pPr>
            <a:endParaRPr lang="en-US" altLang="el-GR" sz="17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buClrTx/>
              <a:buSzTx/>
              <a:buFont typeface="Arial" panose="020B0604020202020204" pitchFamily="34" charset="0"/>
              <a:buChar char="•"/>
            </a:pPr>
            <a:r>
              <a:rPr lang="el-GR" altLang="el-GR" sz="17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l-GR" altLang="el-GR" sz="1700" dirty="0">
                <a:latin typeface="Calibri" panose="020F0502020204030204" pitchFamily="34" charset="0"/>
                <a:ea typeface="Calibri" panose="020F0502020204030204" pitchFamily="34" charset="0"/>
                <a:cs typeface="Calibri" panose="020F0502020204030204" pitchFamily="34" charset="0"/>
              </a:rPr>
              <a:t>Το </a:t>
            </a:r>
            <a:r>
              <a:rPr lang="en-US" altLang="el-GR" sz="17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warm up phase </a:t>
            </a:r>
            <a:r>
              <a:rPr lang="el-GR" altLang="el-GR" sz="1700" dirty="0">
                <a:latin typeface="Calibri" panose="020F0502020204030204" pitchFamily="34" charset="0"/>
                <a:ea typeface="Calibri" panose="020F0502020204030204" pitchFamily="34" charset="0"/>
                <a:cs typeface="Calibri" panose="020F0502020204030204" pitchFamily="34" charset="0"/>
              </a:rPr>
              <a:t>είναι μια χρονική περίοδος κατά την οποία οι μετρήσεις αγνοούνται σκόπιμα, ώστε να δοθεί χρόνος στο σύστημα να σταθεροποιήσει τα </a:t>
            </a:r>
            <a:r>
              <a:rPr lang="en-US" altLang="el-GR" sz="1700" dirty="0">
                <a:latin typeface="Calibri" panose="020F0502020204030204" pitchFamily="34" charset="0"/>
                <a:ea typeface="Calibri" panose="020F0502020204030204" pitchFamily="34" charset="0"/>
                <a:cs typeface="Calibri" panose="020F0502020204030204" pitchFamily="34" charset="0"/>
              </a:rPr>
              <a:t>routing tables </a:t>
            </a:r>
            <a:r>
              <a:rPr lang="el-GR" altLang="el-GR" sz="1700" dirty="0">
                <a:latin typeface="Calibri" panose="020F0502020204030204" pitchFamily="34" charset="0"/>
                <a:ea typeface="Calibri" panose="020F0502020204030204" pitchFamily="34" charset="0"/>
                <a:cs typeface="Calibri" panose="020F0502020204030204" pitchFamily="34" charset="0"/>
              </a:rPr>
              <a:t>και </a:t>
            </a:r>
            <a:r>
              <a:rPr lang="en-US" altLang="el-GR" sz="1700" dirty="0">
                <a:latin typeface="Calibri" panose="020F0502020204030204" pitchFamily="34" charset="0"/>
                <a:ea typeface="Calibri" panose="020F0502020204030204" pitchFamily="34" charset="0"/>
                <a:cs typeface="Calibri" panose="020F0502020204030204" pitchFamily="34" charset="0"/>
              </a:rPr>
              <a:t>prototypes</a:t>
            </a:r>
            <a:r>
              <a:rPr lang="el-GR" altLang="el-GR" sz="1700" dirty="0">
                <a:latin typeface="Calibri" panose="020F0502020204030204" pitchFamily="34" charset="0"/>
                <a:ea typeface="Calibri" panose="020F0502020204030204" pitchFamily="34" charset="0"/>
                <a:cs typeface="Calibri" panose="020F0502020204030204" pitchFamily="34" charset="0"/>
              </a:rPr>
              <a:t> πριν ξεκινήσει η συλλογή ακριβών δεδομένων απόδοσης.</a:t>
            </a:r>
          </a:p>
          <a:p>
            <a:endParaRPr lang="en-US" dirty="0"/>
          </a:p>
        </p:txBody>
      </p:sp>
    </p:spTree>
    <p:extLst>
      <p:ext uri="{BB962C8B-B14F-4D97-AF65-F5344CB8AC3E}">
        <p14:creationId xmlns:p14="http://schemas.microsoft.com/office/powerpoint/2010/main" val="260758405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40B5DCF-D7F8-4FA1-B6A2-C54F072B973E}"/>
              </a:ext>
            </a:extLst>
          </p:cNvPr>
          <p:cNvSpPr>
            <a:spLocks noGrp="1"/>
          </p:cNvSpPr>
          <p:nvPr>
            <p:ph type="title"/>
          </p:nvPr>
        </p:nvSpPr>
        <p:spPr/>
        <p:txBody>
          <a:bodyPr/>
          <a:lstStyle/>
          <a:p>
            <a:r>
              <a:rPr lang="el-GR" b="1" dirty="0"/>
              <a:t>ΥΛΟΠΟΙΗΣΗ ΤΟΥ ΕΡΩΤΗΜΑΤΟΣ 2</a:t>
            </a:r>
          </a:p>
        </p:txBody>
      </p:sp>
      <p:sp>
        <p:nvSpPr>
          <p:cNvPr id="3" name="Θέση περιεχομένου 2">
            <a:extLst>
              <a:ext uri="{FF2B5EF4-FFF2-40B4-BE49-F238E27FC236}">
                <a16:creationId xmlns:a16="http://schemas.microsoft.com/office/drawing/2014/main" id="{B826EC1D-ADB3-40C8-9BDF-B44BD50ABE16}"/>
              </a:ext>
            </a:extLst>
          </p:cNvPr>
          <p:cNvSpPr>
            <a:spLocks noGrp="1"/>
          </p:cNvSpPr>
          <p:nvPr>
            <p:ph idx="1"/>
          </p:nvPr>
        </p:nvSpPr>
        <p:spPr>
          <a:xfrm>
            <a:off x="736425" y="2447216"/>
            <a:ext cx="4936022" cy="3854623"/>
          </a:xfrm>
        </p:spPr>
        <p:txBody>
          <a:bodyPr/>
          <a:lstStyle/>
          <a:p>
            <a:pPr algn="just">
              <a:buFont typeface="Arial" panose="020B0604020202020204" pitchFamily="34" charset="0"/>
              <a:buChar char="•"/>
            </a:pPr>
            <a:r>
              <a:rPr lang="el-GR" dirty="0"/>
              <a:t> Με αντίστοιχο τρόπο με το πρώτο ερώτημα δημιουργήσαμε ένα αρχείο το στο οποίο υλοποιήσαμε την εξής τοπολογία 5 κόμβων:</a:t>
            </a:r>
            <a:endParaRPr lang="en-US" dirty="0"/>
          </a:p>
          <a:p>
            <a:pPr marL="0" indent="0">
              <a:buNone/>
            </a:pPr>
            <a:endParaRPr lang="en-US" dirty="0"/>
          </a:p>
          <a:p>
            <a:pPr marL="0" indent="0">
              <a:buNone/>
            </a:pPr>
            <a:endParaRPr lang="en-US" dirty="0"/>
          </a:p>
          <a:p>
            <a:endParaRPr lang="el-GR" dirty="0"/>
          </a:p>
        </p:txBody>
      </p:sp>
      <p:sp>
        <p:nvSpPr>
          <p:cNvPr id="5" name="AutoShape 4" descr="image.png">
            <a:extLst>
              <a:ext uri="{FF2B5EF4-FFF2-40B4-BE49-F238E27FC236}">
                <a16:creationId xmlns:a16="http://schemas.microsoft.com/office/drawing/2014/main" id="{9EC8DA17-04F4-4836-B00D-8C2179B2E7C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l-GR"/>
          </a:p>
        </p:txBody>
      </p:sp>
      <p:pic>
        <p:nvPicPr>
          <p:cNvPr id="6" name="Εικόνα 5">
            <a:extLst>
              <a:ext uri="{FF2B5EF4-FFF2-40B4-BE49-F238E27FC236}">
                <a16:creationId xmlns:a16="http://schemas.microsoft.com/office/drawing/2014/main" id="{9107478B-F89B-47FA-B8F9-EAC2BCD55F50}"/>
              </a:ext>
            </a:extLst>
          </p:cNvPr>
          <p:cNvPicPr>
            <a:picLocks noChangeAspect="1"/>
          </p:cNvPicPr>
          <p:nvPr/>
        </p:nvPicPr>
        <p:blipFill>
          <a:blip r:embed="rId2"/>
          <a:stretch>
            <a:fillRect/>
          </a:stretch>
        </p:blipFill>
        <p:spPr>
          <a:xfrm>
            <a:off x="7058857" y="3248290"/>
            <a:ext cx="4396718" cy="3247679"/>
          </a:xfrm>
          <a:prstGeom prst="rect">
            <a:avLst/>
          </a:prstGeom>
        </p:spPr>
      </p:pic>
    </p:spTree>
    <p:extLst>
      <p:ext uri="{BB962C8B-B14F-4D97-AF65-F5344CB8AC3E}">
        <p14:creationId xmlns:p14="http://schemas.microsoft.com/office/powerpoint/2010/main" val="56745880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62AF1-DEAC-ACCB-2EB0-FFEC8680A5E0}"/>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37D6E0E0-263A-1B94-E1DA-4278AC92A448}"/>
              </a:ext>
            </a:extLst>
          </p:cNvPr>
          <p:cNvSpPr>
            <a:spLocks noGrp="1"/>
          </p:cNvSpPr>
          <p:nvPr>
            <p:ph type="title"/>
          </p:nvPr>
        </p:nvSpPr>
        <p:spPr>
          <a:xfrm>
            <a:off x="817940" y="585741"/>
            <a:ext cx="11167872" cy="1499616"/>
          </a:xfrm>
        </p:spPr>
        <p:txBody>
          <a:bodyPr/>
          <a:lstStyle/>
          <a:p>
            <a:r>
              <a:rPr lang="el-GR" b="1" dirty="0"/>
              <a:t>ΑΠΟΤΕΛΕΣΜΑΤΑ ΤΟΥ ΕΡΩΤΗΜΑΤΟΣ 2</a:t>
            </a:r>
            <a:r>
              <a:rPr lang="en-US" b="1" dirty="0"/>
              <a:t>(1)</a:t>
            </a:r>
            <a:endParaRPr lang="el-GR" dirty="0"/>
          </a:p>
        </p:txBody>
      </p:sp>
      <p:sp>
        <p:nvSpPr>
          <p:cNvPr id="3" name="Θέση περιεχομένου 2">
            <a:extLst>
              <a:ext uri="{FF2B5EF4-FFF2-40B4-BE49-F238E27FC236}">
                <a16:creationId xmlns:a16="http://schemas.microsoft.com/office/drawing/2014/main" id="{C7D1A746-4021-C534-26B8-E34D2DC5FBAB}"/>
              </a:ext>
            </a:extLst>
          </p:cNvPr>
          <p:cNvSpPr>
            <a:spLocks noGrp="1"/>
          </p:cNvSpPr>
          <p:nvPr>
            <p:ph sz="half" idx="1"/>
          </p:nvPr>
        </p:nvSpPr>
        <p:spPr>
          <a:xfrm>
            <a:off x="5181600" y="2232599"/>
            <a:ext cx="5711687" cy="3851037"/>
          </a:xfrm>
        </p:spPr>
        <p:txBody>
          <a:bodyPr>
            <a:normAutofit/>
          </a:bodyPr>
          <a:lstStyle/>
          <a:p>
            <a:pPr algn="just"/>
            <a:r>
              <a:rPr lang="el-GR" sz="2100" dirty="0"/>
              <a:t>Με </a:t>
            </a:r>
            <a:r>
              <a:rPr lang="en-US" sz="2100" dirty="0"/>
              <a:t>delay = 5ms </a:t>
            </a:r>
            <a:r>
              <a:rPr lang="el-GR" sz="2100" dirty="0"/>
              <a:t>στα </a:t>
            </a:r>
            <a:r>
              <a:rPr lang="en-US" sz="2100" dirty="0"/>
              <a:t>node devices 0–1 </a:t>
            </a:r>
            <a:r>
              <a:rPr lang="el-GR" sz="2100" dirty="0"/>
              <a:t>και </a:t>
            </a:r>
            <a:br>
              <a:rPr lang="en-US" sz="2100" dirty="0"/>
            </a:br>
            <a:r>
              <a:rPr lang="en-US" sz="2100" b="1" dirty="0"/>
              <a:t>double</a:t>
            </a:r>
            <a:r>
              <a:rPr lang="en-US" sz="2100" dirty="0"/>
              <a:t> </a:t>
            </a:r>
            <a:r>
              <a:rPr lang="en-US" sz="2100" b="1" dirty="0"/>
              <a:t>failDownAt = </a:t>
            </a:r>
            <a:r>
              <a:rPr lang="el-GR" sz="2100" b="1" dirty="0"/>
              <a:t>6</a:t>
            </a:r>
            <a:r>
              <a:rPr lang="en-US" sz="2100" b="1" dirty="0"/>
              <a:t>.0s</a:t>
            </a:r>
            <a:r>
              <a:rPr lang="en-US" sz="2100" dirty="0"/>
              <a:t>, </a:t>
            </a:r>
            <a:r>
              <a:rPr lang="en-US" sz="2100" b="1" dirty="0"/>
              <a:t>double failUpAt = 3.0 s</a:t>
            </a:r>
            <a:r>
              <a:rPr lang="en-US" sz="2100" dirty="0"/>
              <a:t>, </a:t>
            </a:r>
            <a:r>
              <a:rPr lang="el-GR" sz="2100" dirty="0"/>
              <a:t>έχουμε:</a:t>
            </a:r>
          </a:p>
          <a:p>
            <a:pPr algn="just"/>
            <a:r>
              <a:rPr lang="en-US" sz="2100" dirty="0"/>
              <a:t>4.800s → pre-failure: </a:t>
            </a:r>
            <a:r>
              <a:rPr lang="el-GR" sz="2100" dirty="0"/>
              <a:t>πριν το </a:t>
            </a:r>
            <a:r>
              <a:rPr lang="en-US" sz="2100" dirty="0"/>
              <a:t>link 0–1 </a:t>
            </a:r>
            <a:r>
              <a:rPr lang="el-GR" sz="2100" dirty="0"/>
              <a:t>κατεβεί.</a:t>
            </a:r>
          </a:p>
          <a:p>
            <a:pPr algn="just"/>
            <a:r>
              <a:rPr lang="el-GR" sz="2100" dirty="0"/>
              <a:t>5.400</a:t>
            </a:r>
            <a:r>
              <a:rPr lang="en-US" sz="2100" dirty="0"/>
              <a:t>s → during-failure: </a:t>
            </a:r>
            <a:r>
              <a:rPr lang="el-GR" sz="2100" dirty="0"/>
              <a:t>το </a:t>
            </a:r>
            <a:r>
              <a:rPr lang="en-US" sz="2100" dirty="0"/>
              <a:t>link 0–1 </a:t>
            </a:r>
            <a:r>
              <a:rPr lang="el-GR" sz="2100" dirty="0"/>
              <a:t>είναι κάτω.</a:t>
            </a:r>
          </a:p>
          <a:p>
            <a:pPr algn="just"/>
            <a:r>
              <a:rPr lang="el-GR" sz="2100" dirty="0"/>
              <a:t>9.400</a:t>
            </a:r>
            <a:r>
              <a:rPr lang="en-US" sz="2100" dirty="0"/>
              <a:t>s → post-recovery: </a:t>
            </a:r>
            <a:r>
              <a:rPr lang="el-GR" sz="2100" dirty="0"/>
              <a:t>το </a:t>
            </a:r>
            <a:r>
              <a:rPr lang="en-US" sz="2100" dirty="0"/>
              <a:t>link </a:t>
            </a:r>
            <a:r>
              <a:rPr lang="el-GR" sz="2100" dirty="0"/>
              <a:t>έχει επανέλθει.</a:t>
            </a:r>
          </a:p>
          <a:p>
            <a:pPr algn="just"/>
            <a:r>
              <a:rPr lang="el-GR" sz="2100" dirty="0"/>
              <a:t>12.000</a:t>
            </a:r>
            <a:r>
              <a:rPr lang="en-US" sz="2100" dirty="0"/>
              <a:t>s → final: </a:t>
            </a:r>
            <a:r>
              <a:rPr lang="el-GR" sz="2100" dirty="0"/>
              <a:t>συνολική επίδοση όλης της προσομοίωσης.</a:t>
            </a:r>
            <a:endParaRPr lang="en-US" sz="2100" dirty="0"/>
          </a:p>
        </p:txBody>
      </p:sp>
      <p:sp>
        <p:nvSpPr>
          <p:cNvPr id="6" name="Ορθογώνιο 5">
            <a:extLst>
              <a:ext uri="{FF2B5EF4-FFF2-40B4-BE49-F238E27FC236}">
                <a16:creationId xmlns:a16="http://schemas.microsoft.com/office/drawing/2014/main" id="{DF5E7B91-521C-840F-200F-34F250DCA13C}"/>
              </a:ext>
            </a:extLst>
          </p:cNvPr>
          <p:cNvSpPr/>
          <p:nvPr/>
        </p:nvSpPr>
        <p:spPr>
          <a:xfrm>
            <a:off x="7099738" y="3849839"/>
            <a:ext cx="4259317" cy="369332"/>
          </a:xfrm>
          <a:prstGeom prst="rect">
            <a:avLst/>
          </a:prstGeom>
        </p:spPr>
        <p:txBody>
          <a:bodyPr wrap="square">
            <a:spAutoFit/>
          </a:bodyPr>
          <a:lstStyle/>
          <a:p>
            <a:pPr algn="just"/>
            <a:endParaRPr lang="el-GR" dirty="0">
              <a:solidFill>
                <a:srgbClr val="FF0000"/>
              </a:solidFill>
            </a:endParaRPr>
          </a:p>
        </p:txBody>
      </p:sp>
      <p:pic>
        <p:nvPicPr>
          <p:cNvPr id="4" name="Εικόνα 3">
            <a:extLst>
              <a:ext uri="{FF2B5EF4-FFF2-40B4-BE49-F238E27FC236}">
                <a16:creationId xmlns:a16="http://schemas.microsoft.com/office/drawing/2014/main" id="{3CBD2085-F5C7-4A66-A0A1-1D99C6A1FF39}"/>
              </a:ext>
            </a:extLst>
          </p:cNvPr>
          <p:cNvPicPr>
            <a:picLocks noChangeAspect="1"/>
          </p:cNvPicPr>
          <p:nvPr/>
        </p:nvPicPr>
        <p:blipFill>
          <a:blip r:embed="rId2"/>
          <a:stretch>
            <a:fillRect/>
          </a:stretch>
        </p:blipFill>
        <p:spPr>
          <a:xfrm>
            <a:off x="832945" y="2232599"/>
            <a:ext cx="3952498" cy="3827542"/>
          </a:xfrm>
          <a:prstGeom prst="rect">
            <a:avLst/>
          </a:prstGeom>
        </p:spPr>
      </p:pic>
    </p:spTree>
    <p:extLst>
      <p:ext uri="{BB962C8B-B14F-4D97-AF65-F5344CB8AC3E}">
        <p14:creationId xmlns:p14="http://schemas.microsoft.com/office/powerpoint/2010/main" val="81376069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BF3A30D-BA31-418E-8B1E-60852AF86D41}"/>
              </a:ext>
            </a:extLst>
          </p:cNvPr>
          <p:cNvSpPr>
            <a:spLocks noGrp="1"/>
          </p:cNvSpPr>
          <p:nvPr>
            <p:ph type="title"/>
          </p:nvPr>
        </p:nvSpPr>
        <p:spPr>
          <a:xfrm>
            <a:off x="755186" y="585216"/>
            <a:ext cx="11374061" cy="1431843"/>
          </a:xfrm>
        </p:spPr>
        <p:txBody>
          <a:bodyPr/>
          <a:lstStyle/>
          <a:p>
            <a:r>
              <a:rPr lang="el-GR" b="1" dirty="0"/>
              <a:t>ΑΠΟΤΕΛΕΣΜΑΤΑ ΤΟΥ ΕΡΩΤΗΜΑΤΟΣ 2(</a:t>
            </a:r>
            <a:r>
              <a:rPr lang="en-US" b="1" dirty="0"/>
              <a:t>2</a:t>
            </a:r>
            <a:r>
              <a:rPr lang="el-GR" b="1" dirty="0"/>
              <a:t>)</a:t>
            </a:r>
          </a:p>
        </p:txBody>
      </p:sp>
      <p:pic>
        <p:nvPicPr>
          <p:cNvPr id="9" name="Εικόνα 8">
            <a:extLst>
              <a:ext uri="{FF2B5EF4-FFF2-40B4-BE49-F238E27FC236}">
                <a16:creationId xmlns:a16="http://schemas.microsoft.com/office/drawing/2014/main" id="{56955F64-A640-436E-8E49-3DD4FF9F78B8}"/>
              </a:ext>
            </a:extLst>
          </p:cNvPr>
          <p:cNvPicPr>
            <a:picLocks noChangeAspect="1"/>
          </p:cNvPicPr>
          <p:nvPr/>
        </p:nvPicPr>
        <p:blipFill>
          <a:blip r:embed="rId2"/>
          <a:stretch>
            <a:fillRect/>
          </a:stretch>
        </p:blipFill>
        <p:spPr>
          <a:xfrm>
            <a:off x="6980955" y="1847987"/>
            <a:ext cx="3512005" cy="3699908"/>
          </a:xfrm>
          <a:prstGeom prst="rect">
            <a:avLst/>
          </a:prstGeom>
        </p:spPr>
      </p:pic>
      <p:pic>
        <p:nvPicPr>
          <p:cNvPr id="19" name="Εικόνα 18">
            <a:extLst>
              <a:ext uri="{FF2B5EF4-FFF2-40B4-BE49-F238E27FC236}">
                <a16:creationId xmlns:a16="http://schemas.microsoft.com/office/drawing/2014/main" id="{0C987E78-6A08-4E13-AB4B-A94D33490A4E}"/>
              </a:ext>
            </a:extLst>
          </p:cNvPr>
          <p:cNvPicPr>
            <a:picLocks noChangeAspect="1"/>
          </p:cNvPicPr>
          <p:nvPr/>
        </p:nvPicPr>
        <p:blipFill>
          <a:blip r:embed="rId3"/>
          <a:stretch>
            <a:fillRect/>
          </a:stretch>
        </p:blipFill>
        <p:spPr>
          <a:xfrm>
            <a:off x="959808" y="1861061"/>
            <a:ext cx="3499596" cy="3686834"/>
          </a:xfrm>
          <a:prstGeom prst="rect">
            <a:avLst/>
          </a:prstGeom>
        </p:spPr>
      </p:pic>
      <p:sp>
        <p:nvSpPr>
          <p:cNvPr id="3" name="TextBox 2">
            <a:extLst>
              <a:ext uri="{FF2B5EF4-FFF2-40B4-BE49-F238E27FC236}">
                <a16:creationId xmlns:a16="http://schemas.microsoft.com/office/drawing/2014/main" id="{D0942C78-ADDF-4830-8D9B-D190A8F03016}"/>
              </a:ext>
            </a:extLst>
          </p:cNvPr>
          <p:cNvSpPr txBox="1"/>
          <p:nvPr/>
        </p:nvSpPr>
        <p:spPr>
          <a:xfrm>
            <a:off x="9036424" y="2411506"/>
            <a:ext cx="2519082" cy="369332"/>
          </a:xfrm>
          <a:prstGeom prst="rect">
            <a:avLst/>
          </a:prstGeom>
          <a:noFill/>
        </p:spPr>
        <p:txBody>
          <a:bodyPr wrap="square" rtlCol="0">
            <a:spAutoFit/>
          </a:bodyPr>
          <a:lstStyle/>
          <a:p>
            <a:endParaRPr lang="el-GR" dirty="0"/>
          </a:p>
        </p:txBody>
      </p:sp>
      <p:sp>
        <p:nvSpPr>
          <p:cNvPr id="6" name="TextBox 5">
            <a:extLst>
              <a:ext uri="{FF2B5EF4-FFF2-40B4-BE49-F238E27FC236}">
                <a16:creationId xmlns:a16="http://schemas.microsoft.com/office/drawing/2014/main" id="{29F77A91-7F6E-45A2-9B99-68D7D490B5D1}"/>
              </a:ext>
            </a:extLst>
          </p:cNvPr>
          <p:cNvSpPr txBox="1"/>
          <p:nvPr/>
        </p:nvSpPr>
        <p:spPr>
          <a:xfrm>
            <a:off x="6654591" y="5661067"/>
            <a:ext cx="4763666" cy="1200329"/>
          </a:xfrm>
          <a:prstGeom prst="rect">
            <a:avLst/>
          </a:prstGeom>
          <a:noFill/>
        </p:spPr>
        <p:txBody>
          <a:bodyPr wrap="square" rtlCol="0">
            <a:spAutoFit/>
          </a:bodyPr>
          <a:lstStyle/>
          <a:p>
            <a:r>
              <a:rPr lang="en-US" dirty="0"/>
              <a:t>O</a:t>
            </a:r>
            <a:r>
              <a:rPr lang="el-GR" dirty="0"/>
              <a:t>ι</a:t>
            </a:r>
            <a:r>
              <a:rPr lang="en-US" dirty="0"/>
              <a:t> </a:t>
            </a:r>
            <a:r>
              <a:rPr lang="el-GR" dirty="0"/>
              <a:t>παράμετροι</a:t>
            </a:r>
            <a:r>
              <a:rPr lang="en-US" dirty="0"/>
              <a:t>: </a:t>
            </a:r>
            <a:r>
              <a:rPr lang="en-US" dirty="0">
                <a:solidFill>
                  <a:schemeClr val="accent1">
                    <a:lumMod val="75000"/>
                  </a:schemeClr>
                </a:solidFill>
              </a:rPr>
              <a:t>rate=5Mbps</a:t>
            </a:r>
            <a:r>
              <a:rPr lang="en-US" dirty="0"/>
              <a:t>, delay=50ms </a:t>
            </a:r>
            <a:r>
              <a:rPr lang="en-US" dirty="0" err="1"/>
              <a:t>qMaxPkts</a:t>
            </a:r>
            <a:r>
              <a:rPr lang="en-US" dirty="0"/>
              <a:t>=15,packetSize=1200bytes,</a:t>
            </a:r>
          </a:p>
          <a:p>
            <a:r>
              <a:rPr lang="en-US" dirty="0">
                <a:solidFill>
                  <a:schemeClr val="accent1">
                    <a:lumMod val="75000"/>
                  </a:schemeClr>
                </a:solidFill>
              </a:rPr>
              <a:t>interval=0.004s</a:t>
            </a:r>
            <a:r>
              <a:rPr lang="en-US" dirty="0"/>
              <a:t>,</a:t>
            </a:r>
            <a:br>
              <a:rPr lang="el-GR" dirty="0"/>
            </a:br>
            <a:r>
              <a:rPr lang="en-US" dirty="0"/>
              <a:t>failDownAt=6.0s,failUpAt=8.0s.</a:t>
            </a:r>
          </a:p>
        </p:txBody>
      </p:sp>
      <p:sp>
        <p:nvSpPr>
          <p:cNvPr id="7" name="Ορθογώνιο 6">
            <a:extLst>
              <a:ext uri="{FF2B5EF4-FFF2-40B4-BE49-F238E27FC236}">
                <a16:creationId xmlns:a16="http://schemas.microsoft.com/office/drawing/2014/main" id="{BDC3D52B-C066-4EEA-8C24-5EC598431E3B}"/>
              </a:ext>
            </a:extLst>
          </p:cNvPr>
          <p:cNvSpPr/>
          <p:nvPr/>
        </p:nvSpPr>
        <p:spPr>
          <a:xfrm>
            <a:off x="293617" y="5661198"/>
            <a:ext cx="4831977" cy="1200329"/>
          </a:xfrm>
          <a:prstGeom prst="rect">
            <a:avLst/>
          </a:prstGeom>
        </p:spPr>
        <p:txBody>
          <a:bodyPr wrap="square">
            <a:spAutoFit/>
          </a:bodyPr>
          <a:lstStyle/>
          <a:p>
            <a:r>
              <a:rPr lang="el-GR" dirty="0"/>
              <a:t>Οι</a:t>
            </a:r>
            <a:r>
              <a:rPr lang="en-US" dirty="0"/>
              <a:t> </a:t>
            </a:r>
            <a:r>
              <a:rPr lang="el-GR" dirty="0"/>
              <a:t>παράμετροι</a:t>
            </a:r>
            <a:r>
              <a:rPr lang="en-US" dirty="0"/>
              <a:t>: </a:t>
            </a:r>
            <a:r>
              <a:rPr lang="en-US" dirty="0">
                <a:solidFill>
                  <a:schemeClr val="accent1">
                    <a:lumMod val="75000"/>
                  </a:schemeClr>
                </a:solidFill>
              </a:rPr>
              <a:t>rate=3Mbps</a:t>
            </a:r>
            <a:r>
              <a:rPr lang="el-GR" dirty="0"/>
              <a:t>,</a:t>
            </a:r>
            <a:r>
              <a:rPr lang="en-US" dirty="0"/>
              <a:t>delay=30ms, </a:t>
            </a:r>
            <a:r>
              <a:rPr lang="en-US" dirty="0" err="1"/>
              <a:t>qMaxPkts</a:t>
            </a:r>
            <a:r>
              <a:rPr lang="en-US" dirty="0"/>
              <a:t>=15,packetSize=1200 bytes,</a:t>
            </a:r>
          </a:p>
          <a:p>
            <a:r>
              <a:rPr lang="en-US" dirty="0">
                <a:solidFill>
                  <a:schemeClr val="accent1">
                    <a:lumMod val="75000"/>
                  </a:schemeClr>
                </a:solidFill>
              </a:rPr>
              <a:t>interval=0.001s</a:t>
            </a:r>
            <a:r>
              <a:rPr lang="en-US" dirty="0"/>
              <a:t>,</a:t>
            </a:r>
            <a:endParaRPr lang="en-US" dirty="0">
              <a:solidFill>
                <a:schemeClr val="accent1">
                  <a:lumMod val="75000"/>
                </a:schemeClr>
              </a:solidFill>
            </a:endParaRPr>
          </a:p>
          <a:p>
            <a:r>
              <a:rPr lang="en-US" dirty="0" err="1"/>
              <a:t>failDownAt</a:t>
            </a:r>
            <a:r>
              <a:rPr lang="en-US" dirty="0"/>
              <a:t>=6.0s</a:t>
            </a:r>
            <a:r>
              <a:rPr lang="el-GR" dirty="0"/>
              <a:t>,</a:t>
            </a:r>
            <a:r>
              <a:rPr lang="en-US" dirty="0"/>
              <a:t> </a:t>
            </a:r>
            <a:r>
              <a:rPr lang="en-US" dirty="0" err="1"/>
              <a:t>failUpAt</a:t>
            </a:r>
            <a:r>
              <a:rPr lang="en-US" dirty="0"/>
              <a:t>=8.0s.</a:t>
            </a:r>
            <a:endParaRPr lang="el-GR" dirty="0"/>
          </a:p>
        </p:txBody>
      </p:sp>
    </p:spTree>
    <p:extLst>
      <p:ext uri="{BB962C8B-B14F-4D97-AF65-F5344CB8AC3E}">
        <p14:creationId xmlns:p14="http://schemas.microsoft.com/office/powerpoint/2010/main" val="275005029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2318D31-C5C0-4F14-9237-95D3730D9299}"/>
              </a:ext>
            </a:extLst>
          </p:cNvPr>
          <p:cNvSpPr>
            <a:spLocks noGrp="1"/>
          </p:cNvSpPr>
          <p:nvPr>
            <p:ph type="title"/>
          </p:nvPr>
        </p:nvSpPr>
        <p:spPr>
          <a:xfrm>
            <a:off x="1024127" y="585216"/>
            <a:ext cx="10979613" cy="1499616"/>
          </a:xfrm>
        </p:spPr>
        <p:txBody>
          <a:bodyPr/>
          <a:lstStyle/>
          <a:p>
            <a:r>
              <a:rPr lang="el-GR" b="1" dirty="0"/>
              <a:t>Αποτελεσματα του ερωτηματοσ 2 (3)</a:t>
            </a:r>
          </a:p>
        </p:txBody>
      </p:sp>
      <p:sp>
        <p:nvSpPr>
          <p:cNvPr id="3" name="Θέση περιεχομένου 2">
            <a:extLst>
              <a:ext uri="{FF2B5EF4-FFF2-40B4-BE49-F238E27FC236}">
                <a16:creationId xmlns:a16="http://schemas.microsoft.com/office/drawing/2014/main" id="{2A5AD40C-A21D-43EF-BD16-71B83576B261}"/>
              </a:ext>
            </a:extLst>
          </p:cNvPr>
          <p:cNvSpPr>
            <a:spLocks noGrp="1"/>
          </p:cNvSpPr>
          <p:nvPr>
            <p:ph sz="half" idx="1"/>
          </p:nvPr>
        </p:nvSpPr>
        <p:spPr>
          <a:xfrm>
            <a:off x="1024126" y="2286000"/>
            <a:ext cx="9688697" cy="4023360"/>
          </a:xfrm>
        </p:spPr>
        <p:txBody>
          <a:bodyPr>
            <a:normAutofit/>
          </a:bodyPr>
          <a:lstStyle/>
          <a:p>
            <a:pPr algn="just">
              <a:buFont typeface="Arial" panose="020B0604020202020204" pitchFamily="34" charset="0"/>
              <a:buChar char="•"/>
            </a:pPr>
            <a:r>
              <a:rPr lang="el-GR" dirty="0"/>
              <a:t> Παρατηρήσαμε πως η απόδοση του δικτύου εξαρτάται από τον ρυθμό αποστολής και το μέγεθος της ουράς. Όταν το interval είναι μικρό, το δίκτυο υπερφορτώνεται με αυξημένες απώλειες και καθυστέρηση, ενώ με μεγαλύτερο interval επιτυγχάνεται σταθερή ροή, υψηλό PDR και χαμηλό delay.</a:t>
            </a:r>
          </a:p>
          <a:p>
            <a:pPr algn="just">
              <a:buFont typeface="Arial" panose="020B0604020202020204" pitchFamily="34" charset="0"/>
              <a:buChar char="•"/>
            </a:pPr>
            <a:r>
              <a:rPr lang="el-GR" dirty="0"/>
              <a:t> Η μεγάλη ουρά μειώνει τις απώλειες αλλά αυξάνει το delay</a:t>
            </a:r>
            <a:r>
              <a:rPr lang="en-US" dirty="0"/>
              <a:t>,</a:t>
            </a:r>
            <a:r>
              <a:rPr lang="el-GR" dirty="0"/>
              <a:t> ενώ η  μικρή ουρά (π.χ. 5 πακέτα) μειώνει το delay</a:t>
            </a:r>
            <a:r>
              <a:rPr lang="en-US" dirty="0"/>
              <a:t> </a:t>
            </a:r>
            <a:r>
              <a:rPr lang="el-GR" dirty="0"/>
              <a:t>βέβαια οδηγεί σε περισσότερες απώλειες σε συνθήκες συμφόρησης.</a:t>
            </a:r>
          </a:p>
          <a:p>
            <a:pPr algn="just">
              <a:buFont typeface="Arial" panose="020B0604020202020204" pitchFamily="34" charset="0"/>
              <a:buChar char="•"/>
            </a:pPr>
            <a:r>
              <a:rPr lang="el-GR"/>
              <a:t> Συνολικά</a:t>
            </a:r>
            <a:r>
              <a:rPr lang="el-GR" dirty="0"/>
              <a:t>, το OLSR αποδεικνύεται ένα αξιόπιστο πρωτόκολλο δρομολόγησης</a:t>
            </a:r>
            <a:r>
              <a:rPr lang="en-US" dirty="0"/>
              <a:t> </a:t>
            </a:r>
            <a:r>
              <a:rPr lang="el-GR" dirty="0"/>
              <a:t>,το οποίο επαναφέρει γρήγορα τη συνδεσιμότητα, αποδεικνύοντας την αξιοπιστία του.</a:t>
            </a:r>
          </a:p>
        </p:txBody>
      </p:sp>
    </p:spTree>
    <p:extLst>
      <p:ext uri="{BB962C8B-B14F-4D97-AF65-F5344CB8AC3E}">
        <p14:creationId xmlns:p14="http://schemas.microsoft.com/office/powerpoint/2010/main" val="263715417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23E0F-817A-A7CC-B5F5-03219ED5923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67C5853-3793-1138-66EF-657A081F2D3D}"/>
              </a:ext>
            </a:extLst>
          </p:cNvPr>
          <p:cNvSpPr>
            <a:spLocks noGrp="1"/>
          </p:cNvSpPr>
          <p:nvPr>
            <p:ph type="title"/>
          </p:nvPr>
        </p:nvSpPr>
        <p:spPr>
          <a:xfrm>
            <a:off x="817940" y="585741"/>
            <a:ext cx="11167872" cy="1499616"/>
          </a:xfrm>
        </p:spPr>
        <p:txBody>
          <a:bodyPr/>
          <a:lstStyle/>
          <a:p>
            <a:r>
              <a:rPr lang="el-GR" b="1" dirty="0"/>
              <a:t>Συνεχεια του πειραματος</a:t>
            </a:r>
            <a:endParaRPr lang="el-GR" dirty="0"/>
          </a:p>
        </p:txBody>
      </p:sp>
      <p:sp>
        <p:nvSpPr>
          <p:cNvPr id="3" name="Θέση περιεχομένου 2">
            <a:extLst>
              <a:ext uri="{FF2B5EF4-FFF2-40B4-BE49-F238E27FC236}">
                <a16:creationId xmlns:a16="http://schemas.microsoft.com/office/drawing/2014/main" id="{5F60EA03-548E-9D94-5308-C8578BD8D5F5}"/>
              </a:ext>
            </a:extLst>
          </p:cNvPr>
          <p:cNvSpPr>
            <a:spLocks noGrp="1"/>
          </p:cNvSpPr>
          <p:nvPr>
            <p:ph sz="half" idx="1"/>
          </p:nvPr>
        </p:nvSpPr>
        <p:spPr>
          <a:xfrm>
            <a:off x="1024125" y="2286000"/>
            <a:ext cx="9463645" cy="3881718"/>
          </a:xfrm>
        </p:spPr>
        <p:txBody>
          <a:bodyPr>
            <a:normAutofit/>
          </a:bodyPr>
          <a:lstStyle/>
          <a:p>
            <a:pPr algn="just">
              <a:buFont typeface="Arial" panose="020B0604020202020204" pitchFamily="34" charset="0"/>
              <a:buChar char="•"/>
            </a:pPr>
            <a:r>
              <a:rPr lang="el-GR" dirty="0"/>
              <a:t> Χρησιμοποιήσαμε  </a:t>
            </a:r>
            <a:r>
              <a:rPr lang="en-US" dirty="0"/>
              <a:t>2 </a:t>
            </a:r>
            <a:r>
              <a:rPr lang="el-GR" dirty="0"/>
              <a:t>ειδών </a:t>
            </a:r>
            <a:r>
              <a:rPr lang="en-GB" dirty="0"/>
              <a:t>dynamic routing</a:t>
            </a:r>
            <a:r>
              <a:rPr lang="el-GR" dirty="0"/>
              <a:t>. Το </a:t>
            </a:r>
            <a:r>
              <a:rPr lang="en-GB" dirty="0"/>
              <a:t>protocol OLSR </a:t>
            </a:r>
            <a:r>
              <a:rPr lang="el-GR" dirty="0"/>
              <a:t>είναι αρκετά προβλεπτικό κάτι που σημαίνει ότι διατηρεί σε όλες τις χρονικές στιγμές τα </a:t>
            </a:r>
            <a:r>
              <a:rPr lang="en-GB" dirty="0"/>
              <a:t>routing tables</a:t>
            </a:r>
            <a:r>
              <a:rPr lang="el-GR" dirty="0"/>
              <a:t>. Επομένως, δεν υπήρχε κάποια ορατή διαφορά στα αποτελέσματα της χρήσης με την μη-χρήση του </a:t>
            </a:r>
            <a:r>
              <a:rPr lang="en-US" dirty="0"/>
              <a:t>warm-up phase.</a:t>
            </a:r>
            <a:endParaRPr lang="el-GR" dirty="0"/>
          </a:p>
          <a:p>
            <a:pPr algn="just">
              <a:buFont typeface="Arial" panose="020B0604020202020204" pitchFamily="34" charset="0"/>
              <a:buChar char="•"/>
            </a:pPr>
            <a:r>
              <a:rPr lang="el-GR" dirty="0"/>
              <a:t> Βέβαια, το AODV είναι reactive πρωτόκολλο, δηλαδή δημιουργεί διαδρομές μόνο όταν χρειάζονται. Έτσι, στην αρχή υπάρχει μια καθυστέρηση μέχρι να βρεθούν οι διαδρομές μεταξύ των κόμβων. </a:t>
            </a:r>
            <a:endParaRPr lang="en-US" dirty="0"/>
          </a:p>
          <a:p>
            <a:pPr algn="just">
              <a:buFont typeface="Arial" panose="020B0604020202020204" pitchFamily="34" charset="0"/>
              <a:buChar char="•"/>
            </a:pPr>
            <a:r>
              <a:rPr lang="el-GR" dirty="0"/>
              <a:t> Το warm-up phase βοηθά ώστε αυτές οι διαδρομές να έχουν ήδη δημιουργηθεί πριν ξεκινήσουν οι μετρήσεις.</a:t>
            </a:r>
            <a:r>
              <a:rPr lang="en-US" dirty="0"/>
              <a:t> </a:t>
            </a:r>
            <a:r>
              <a:rPr lang="el-GR" dirty="0"/>
              <a:t>Με αποτέλεσμα, να έχουμε πιο σταθερά και αξιόπιστα αποτελέσματα με την χρήση του </a:t>
            </a:r>
            <a:r>
              <a:rPr lang="en-US" altLang="el-GR" dirty="0"/>
              <a:t>AODVN</a:t>
            </a:r>
            <a:r>
              <a:rPr lang="el-GR" altLang="el-GR" dirty="0"/>
              <a:t>.</a:t>
            </a:r>
            <a:endParaRPr lang="en-US" dirty="0"/>
          </a:p>
        </p:txBody>
      </p:sp>
    </p:spTree>
    <p:extLst>
      <p:ext uri="{BB962C8B-B14F-4D97-AF65-F5344CB8AC3E}">
        <p14:creationId xmlns:p14="http://schemas.microsoft.com/office/powerpoint/2010/main" val="186398677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D5640-9372-6295-0129-9341889539ED}"/>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50BF758-34A8-6D30-B8A4-7E1FA62812F1}"/>
              </a:ext>
            </a:extLst>
          </p:cNvPr>
          <p:cNvSpPr>
            <a:spLocks noGrp="1"/>
          </p:cNvSpPr>
          <p:nvPr>
            <p:ph type="title"/>
          </p:nvPr>
        </p:nvSpPr>
        <p:spPr>
          <a:xfrm>
            <a:off x="817940" y="585741"/>
            <a:ext cx="11167872" cy="1499616"/>
          </a:xfrm>
        </p:spPr>
        <p:txBody>
          <a:bodyPr/>
          <a:lstStyle/>
          <a:p>
            <a:r>
              <a:rPr lang="el-GR" b="1" dirty="0"/>
              <a:t>Χρηση </a:t>
            </a:r>
            <a:r>
              <a:rPr lang="en-US" b="1" dirty="0"/>
              <a:t>OLSR protocol</a:t>
            </a:r>
            <a:endParaRPr lang="el-GR" dirty="0"/>
          </a:p>
        </p:txBody>
      </p:sp>
      <p:pic>
        <p:nvPicPr>
          <p:cNvPr id="4" name="Picture 3" descr="A screenshot of a computer&#10;&#10;AI-generated content may be incorrect.">
            <a:extLst>
              <a:ext uri="{FF2B5EF4-FFF2-40B4-BE49-F238E27FC236}">
                <a16:creationId xmlns:a16="http://schemas.microsoft.com/office/drawing/2014/main" id="{61989FDD-4629-A9A9-4EC3-158B14382847}"/>
              </a:ext>
            </a:extLst>
          </p:cNvPr>
          <p:cNvPicPr>
            <a:picLocks noChangeAspect="1"/>
          </p:cNvPicPr>
          <p:nvPr/>
        </p:nvPicPr>
        <p:blipFill>
          <a:blip r:embed="rId2"/>
          <a:stretch>
            <a:fillRect/>
          </a:stretch>
        </p:blipFill>
        <p:spPr>
          <a:xfrm>
            <a:off x="7448994" y="2181667"/>
            <a:ext cx="4193399" cy="4519100"/>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664F6319-ACE9-D792-D47C-DBE5678E464B}"/>
              </a:ext>
            </a:extLst>
          </p:cNvPr>
          <p:cNvPicPr>
            <a:picLocks noChangeAspect="1"/>
          </p:cNvPicPr>
          <p:nvPr/>
        </p:nvPicPr>
        <p:blipFill>
          <a:blip r:embed="rId3"/>
          <a:stretch>
            <a:fillRect/>
          </a:stretch>
        </p:blipFill>
        <p:spPr>
          <a:xfrm>
            <a:off x="1003714" y="2195114"/>
            <a:ext cx="4193399" cy="4524189"/>
          </a:xfrm>
          <a:prstGeom prst="rect">
            <a:avLst/>
          </a:prstGeom>
        </p:spPr>
      </p:pic>
      <p:sp>
        <p:nvSpPr>
          <p:cNvPr id="3" name="TextBox 2">
            <a:extLst>
              <a:ext uri="{FF2B5EF4-FFF2-40B4-BE49-F238E27FC236}">
                <a16:creationId xmlns:a16="http://schemas.microsoft.com/office/drawing/2014/main" id="{024471DD-EB18-A725-9D41-B640C6B4DF5E}"/>
              </a:ext>
            </a:extLst>
          </p:cNvPr>
          <p:cNvSpPr txBox="1"/>
          <p:nvPr/>
        </p:nvSpPr>
        <p:spPr>
          <a:xfrm>
            <a:off x="1918004" y="1825782"/>
            <a:ext cx="2095189" cy="369332"/>
          </a:xfrm>
          <a:prstGeom prst="rect">
            <a:avLst/>
          </a:prstGeom>
          <a:noFill/>
        </p:spPr>
        <p:txBody>
          <a:bodyPr wrap="none" rtlCol="0">
            <a:spAutoFit/>
          </a:bodyPr>
          <a:lstStyle/>
          <a:p>
            <a:r>
              <a:rPr lang="el-GR" dirty="0">
                <a:solidFill>
                  <a:schemeClr val="accent1">
                    <a:lumMod val="75000"/>
                  </a:schemeClr>
                </a:solidFill>
              </a:rPr>
              <a:t>Με</a:t>
            </a:r>
            <a:r>
              <a:rPr lang="en-US" dirty="0"/>
              <a:t> Warm-up phase</a:t>
            </a:r>
            <a:endParaRPr lang="en-GB" dirty="0"/>
          </a:p>
        </p:txBody>
      </p:sp>
      <p:sp>
        <p:nvSpPr>
          <p:cNvPr id="5" name="TextBox 4">
            <a:extLst>
              <a:ext uri="{FF2B5EF4-FFF2-40B4-BE49-F238E27FC236}">
                <a16:creationId xmlns:a16="http://schemas.microsoft.com/office/drawing/2014/main" id="{FCB83E4A-9EBA-B6E1-A510-39A03A9E97A8}"/>
              </a:ext>
            </a:extLst>
          </p:cNvPr>
          <p:cNvSpPr txBox="1"/>
          <p:nvPr/>
        </p:nvSpPr>
        <p:spPr>
          <a:xfrm>
            <a:off x="8516954" y="1825782"/>
            <a:ext cx="2354875" cy="369332"/>
          </a:xfrm>
          <a:prstGeom prst="rect">
            <a:avLst/>
          </a:prstGeom>
          <a:noFill/>
        </p:spPr>
        <p:txBody>
          <a:bodyPr wrap="none" rtlCol="0">
            <a:spAutoFit/>
          </a:bodyPr>
          <a:lstStyle/>
          <a:p>
            <a:r>
              <a:rPr lang="en-US" dirty="0">
                <a:solidFill>
                  <a:schemeClr val="accent1">
                    <a:lumMod val="75000"/>
                  </a:schemeClr>
                </a:solidFill>
              </a:rPr>
              <a:t>X</a:t>
            </a:r>
            <a:r>
              <a:rPr lang="el-GR" dirty="0">
                <a:solidFill>
                  <a:schemeClr val="accent1">
                    <a:lumMod val="75000"/>
                  </a:schemeClr>
                </a:solidFill>
              </a:rPr>
              <a:t>ωρίς</a:t>
            </a:r>
            <a:r>
              <a:rPr lang="en-US" dirty="0">
                <a:solidFill>
                  <a:schemeClr val="accent1">
                    <a:lumMod val="75000"/>
                  </a:schemeClr>
                </a:solidFill>
              </a:rPr>
              <a:t> </a:t>
            </a:r>
            <a:r>
              <a:rPr lang="en-US" dirty="0"/>
              <a:t>Warm-up phase</a:t>
            </a:r>
            <a:endParaRPr lang="en-GB" dirty="0"/>
          </a:p>
        </p:txBody>
      </p:sp>
    </p:spTree>
    <p:extLst>
      <p:ext uri="{BB962C8B-B14F-4D97-AF65-F5344CB8AC3E}">
        <p14:creationId xmlns:p14="http://schemas.microsoft.com/office/powerpoint/2010/main" val="441472198"/>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51168-20B0-D145-C392-3104CBD19B26}"/>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9F515014-C1BF-0928-DD44-13FE4F1E3CDD}"/>
              </a:ext>
            </a:extLst>
          </p:cNvPr>
          <p:cNvSpPr>
            <a:spLocks noGrp="1"/>
          </p:cNvSpPr>
          <p:nvPr>
            <p:ph type="title"/>
          </p:nvPr>
        </p:nvSpPr>
        <p:spPr>
          <a:xfrm>
            <a:off x="817940" y="585741"/>
            <a:ext cx="11167872" cy="1499616"/>
          </a:xfrm>
        </p:spPr>
        <p:txBody>
          <a:bodyPr/>
          <a:lstStyle/>
          <a:p>
            <a:r>
              <a:rPr lang="el-GR" b="1" dirty="0"/>
              <a:t>Χρηση </a:t>
            </a:r>
            <a:r>
              <a:rPr lang="en-US" b="1" dirty="0"/>
              <a:t>AODVN protocol</a:t>
            </a:r>
            <a:endParaRPr lang="el-GR" dirty="0"/>
          </a:p>
        </p:txBody>
      </p:sp>
      <p:sp>
        <p:nvSpPr>
          <p:cNvPr id="3" name="TextBox 2">
            <a:extLst>
              <a:ext uri="{FF2B5EF4-FFF2-40B4-BE49-F238E27FC236}">
                <a16:creationId xmlns:a16="http://schemas.microsoft.com/office/drawing/2014/main" id="{2FEE4BFB-1910-1418-79CA-18CA309ADCD9}"/>
              </a:ext>
            </a:extLst>
          </p:cNvPr>
          <p:cNvSpPr txBox="1"/>
          <p:nvPr/>
        </p:nvSpPr>
        <p:spPr>
          <a:xfrm>
            <a:off x="1951144" y="1841425"/>
            <a:ext cx="2075953" cy="369332"/>
          </a:xfrm>
          <a:prstGeom prst="rect">
            <a:avLst/>
          </a:prstGeom>
          <a:noFill/>
        </p:spPr>
        <p:txBody>
          <a:bodyPr wrap="none" rtlCol="0">
            <a:spAutoFit/>
          </a:bodyPr>
          <a:lstStyle/>
          <a:p>
            <a:r>
              <a:rPr lang="en-US"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M</a:t>
            </a:r>
            <a:r>
              <a:rPr lang="el-GR"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ε</a:t>
            </a:r>
            <a:r>
              <a:rPr lang="en-US" dirty="0">
                <a:latin typeface="Calibri" panose="020F0502020204030204" pitchFamily="34" charset="0"/>
                <a:ea typeface="Calibri" panose="020F0502020204030204" pitchFamily="34" charset="0"/>
                <a:cs typeface="Calibri" panose="020F0502020204030204" pitchFamily="34" charset="0"/>
              </a:rPr>
              <a:t> Warm-up phase</a:t>
            </a:r>
            <a:endParaRPr lang="en-GB"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2F820ED7-7C68-9240-B9D1-938FEF683314}"/>
              </a:ext>
            </a:extLst>
          </p:cNvPr>
          <p:cNvSpPr txBox="1"/>
          <p:nvPr/>
        </p:nvSpPr>
        <p:spPr>
          <a:xfrm>
            <a:off x="8268577" y="1825782"/>
            <a:ext cx="2297167" cy="369332"/>
          </a:xfrm>
          <a:prstGeom prst="rect">
            <a:avLst/>
          </a:prstGeom>
          <a:noFill/>
        </p:spPr>
        <p:txBody>
          <a:bodyPr wrap="none" rtlCol="0">
            <a:spAutoFit/>
          </a:bodyPr>
          <a:lstStyle/>
          <a:p>
            <a:r>
              <a:rPr lang="el-GR"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Χωρίς</a:t>
            </a:r>
            <a:r>
              <a:rPr lang="en-US" dirty="0">
                <a:latin typeface="Calibri" panose="020F0502020204030204" pitchFamily="34" charset="0"/>
                <a:ea typeface="Calibri" panose="020F0502020204030204" pitchFamily="34" charset="0"/>
                <a:cs typeface="Calibri" panose="020F0502020204030204" pitchFamily="34" charset="0"/>
              </a:rPr>
              <a:t> Warm-up phase</a:t>
            </a:r>
            <a:endParaRPr lang="en-GB" dirty="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a:extLst>
              <a:ext uri="{FF2B5EF4-FFF2-40B4-BE49-F238E27FC236}">
                <a16:creationId xmlns:a16="http://schemas.microsoft.com/office/drawing/2014/main" id="{14912532-71D2-D068-A8BE-CF5E3434FB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7727" y="2195114"/>
            <a:ext cx="4342363" cy="44076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0509D98-DE82-B9FF-7926-C3F98D8185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940" y="2195114"/>
            <a:ext cx="4342363" cy="4445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08446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65791-9F55-09CB-C866-3B1699FE22E2}"/>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FC7F9E96-BEAE-B353-9BEE-889629395330}"/>
              </a:ext>
            </a:extLst>
          </p:cNvPr>
          <p:cNvSpPr>
            <a:spLocks noGrp="1"/>
          </p:cNvSpPr>
          <p:nvPr>
            <p:ph type="title"/>
          </p:nvPr>
        </p:nvSpPr>
        <p:spPr>
          <a:xfrm>
            <a:off x="817940" y="585741"/>
            <a:ext cx="11167872" cy="1499616"/>
          </a:xfrm>
        </p:spPr>
        <p:txBody>
          <a:bodyPr/>
          <a:lstStyle/>
          <a:p>
            <a:r>
              <a:rPr lang="el-GR" b="1" dirty="0"/>
              <a:t>Χειρισμος των </a:t>
            </a:r>
            <a:r>
              <a:rPr lang="en-US" b="1" dirty="0"/>
              <a:t>link-failures</a:t>
            </a:r>
            <a:endParaRPr lang="el-GR" dirty="0"/>
          </a:p>
        </p:txBody>
      </p:sp>
      <p:sp>
        <p:nvSpPr>
          <p:cNvPr id="7" name="TextBox 6">
            <a:extLst>
              <a:ext uri="{FF2B5EF4-FFF2-40B4-BE49-F238E27FC236}">
                <a16:creationId xmlns:a16="http://schemas.microsoft.com/office/drawing/2014/main" id="{C967213A-454A-54C2-C324-820384A49FE3}"/>
              </a:ext>
            </a:extLst>
          </p:cNvPr>
          <p:cNvSpPr txBox="1"/>
          <p:nvPr/>
        </p:nvSpPr>
        <p:spPr>
          <a:xfrm>
            <a:off x="8757388" y="2420471"/>
            <a:ext cx="3329860" cy="3970318"/>
          </a:xfrm>
          <a:prstGeom prst="rect">
            <a:avLst/>
          </a:prstGeom>
          <a:noFill/>
        </p:spPr>
        <p:txBody>
          <a:bodyPr wrap="square" rtlCol="0">
            <a:spAutoFit/>
          </a:bodyPr>
          <a:lstStyle/>
          <a:p>
            <a:r>
              <a:rPr lang="el-GR" dirty="0">
                <a:latin typeface="Calibri" panose="020F0502020204030204" pitchFamily="34" charset="0"/>
                <a:ea typeface="Calibri" panose="020F0502020204030204" pitchFamily="34" charset="0"/>
                <a:cs typeface="Calibri" panose="020F0502020204030204" pitchFamily="34" charset="0"/>
              </a:rPr>
              <a:t>Αριστερά</a:t>
            </a:r>
            <a:r>
              <a:rPr lang="en-US" dirty="0">
                <a:latin typeface="Calibri" panose="020F0502020204030204" pitchFamily="34" charset="0"/>
                <a:ea typeface="Calibri" panose="020F0502020204030204" pitchFamily="34" charset="0"/>
                <a:cs typeface="Calibri" panose="020F0502020204030204" pitchFamily="34" charset="0"/>
              </a:rPr>
              <a:t>, </a:t>
            </a:r>
            <a:r>
              <a:rPr lang="el-GR" dirty="0">
                <a:latin typeface="Calibri" panose="020F0502020204030204" pitchFamily="34" charset="0"/>
                <a:ea typeface="Calibri" panose="020F0502020204030204" pitchFamily="34" charset="0"/>
                <a:cs typeface="Calibri" panose="020F0502020204030204" pitchFamily="34" charset="0"/>
              </a:rPr>
              <a:t>οι παράμετροι που χρησιμοποιήσαμε είναι οι εξής</a:t>
            </a:r>
            <a:r>
              <a:rPr lang="en-US" dirty="0">
                <a:latin typeface="Calibri" panose="020F0502020204030204" pitchFamily="34" charset="0"/>
                <a:ea typeface="Calibri" panose="020F0502020204030204" pitchFamily="34" charset="0"/>
                <a:cs typeface="Calibri" panose="020F0502020204030204" pitchFamily="34" charset="0"/>
              </a:rPr>
              <a:t>:</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GB"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delay=1ms</a:t>
            </a:r>
            <a:r>
              <a:rPr lang="en-GB" dirty="0">
                <a:latin typeface="Calibri" panose="020F0502020204030204" pitchFamily="34" charset="0"/>
                <a:ea typeface="Calibri" panose="020F0502020204030204" pitchFamily="34" charset="0"/>
                <a:cs typeface="Calibri" panose="020F0502020204030204" pitchFamily="34" charset="0"/>
              </a:rPr>
              <a:t>,failDownAt=5.0s </a:t>
            </a:r>
            <a:br>
              <a:rPr lang="el-GR" dirty="0">
                <a:latin typeface="Calibri" panose="020F0502020204030204" pitchFamily="34" charset="0"/>
                <a:ea typeface="Calibri" panose="020F0502020204030204" pitchFamily="34" charset="0"/>
                <a:cs typeface="Calibri" panose="020F0502020204030204" pitchFamily="34" charset="0"/>
              </a:rPr>
            </a:br>
            <a:r>
              <a:rPr lang="en-GB" dirty="0">
                <a:latin typeface="Calibri" panose="020F0502020204030204" pitchFamily="34" charset="0"/>
                <a:ea typeface="Calibri" panose="020F0502020204030204" pitchFamily="34" charset="0"/>
                <a:cs typeface="Calibri" panose="020F0502020204030204" pitchFamily="34" charset="0"/>
              </a:rPr>
              <a:t>failUpAt=9.0s,useWarmup=true</a:t>
            </a:r>
            <a:br>
              <a:rPr lang="en-GB" dirty="0">
                <a:latin typeface="Calibri" panose="020F0502020204030204" pitchFamily="34" charset="0"/>
                <a:ea typeface="Calibri" panose="020F0502020204030204" pitchFamily="34" charset="0"/>
                <a:cs typeface="Calibri" panose="020F0502020204030204" pitchFamily="34" charset="0"/>
              </a:rPr>
            </a:br>
            <a:r>
              <a:rPr lang="en-GB" dirty="0">
                <a:latin typeface="Calibri" panose="020F0502020204030204" pitchFamily="34" charset="0"/>
                <a:ea typeface="Calibri" panose="020F0502020204030204" pitchFamily="34" charset="0"/>
                <a:cs typeface="Calibri" panose="020F0502020204030204" pitchFamily="34" charset="0"/>
              </a:rPr>
              <a:t>cbr02Start=1.2,cbr03Start=1.5s.</a:t>
            </a:r>
            <a:br>
              <a:rPr lang="el-GR" dirty="0">
                <a:latin typeface="Calibri" panose="020F0502020204030204" pitchFamily="34" charset="0"/>
                <a:ea typeface="Calibri" panose="020F0502020204030204" pitchFamily="34" charset="0"/>
                <a:cs typeface="Calibri" panose="020F0502020204030204" pitchFamily="34" charset="0"/>
              </a:rPr>
            </a:br>
            <a:endParaRPr lang="el-GR" dirty="0">
              <a:latin typeface="Calibri" panose="020F0502020204030204" pitchFamily="34" charset="0"/>
              <a:ea typeface="Calibri" panose="020F0502020204030204" pitchFamily="34" charset="0"/>
              <a:cs typeface="Calibri" panose="020F0502020204030204" pitchFamily="34" charset="0"/>
            </a:endParaRPr>
          </a:p>
          <a:p>
            <a:r>
              <a:rPr lang="el-GR" dirty="0">
                <a:latin typeface="Calibri" panose="020F0502020204030204" pitchFamily="34" charset="0"/>
                <a:ea typeface="Calibri" panose="020F0502020204030204" pitchFamily="34" charset="0"/>
                <a:cs typeface="Calibri" panose="020F0502020204030204" pitchFamily="34" charset="0"/>
              </a:rPr>
              <a:t>Αντίστοιχα δεξιά</a:t>
            </a:r>
            <a:r>
              <a:rPr lang="en-US" dirty="0">
                <a:latin typeface="Calibri" panose="020F0502020204030204" pitchFamily="34" charset="0"/>
                <a:ea typeface="Calibri" panose="020F0502020204030204" pitchFamily="34" charset="0"/>
                <a:cs typeface="Calibri" panose="020F0502020204030204" pitchFamily="34" charset="0"/>
              </a:rPr>
              <a:t>:</a:t>
            </a:r>
          </a:p>
          <a:p>
            <a:endParaRPr lang="el-GR" dirty="0">
              <a:latin typeface="Calibri" panose="020F0502020204030204" pitchFamily="34" charset="0"/>
              <a:ea typeface="Calibri" panose="020F0502020204030204" pitchFamily="34" charset="0"/>
              <a:cs typeface="Calibri" panose="020F0502020204030204" pitchFamily="34" charset="0"/>
            </a:endParaRPr>
          </a:p>
          <a:p>
            <a:r>
              <a:rPr lang="en-GB"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GB"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delay=8ms</a:t>
            </a:r>
            <a:r>
              <a:rPr lang="el-GR"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rPr>
              <a:t> </a:t>
            </a:r>
            <a:r>
              <a:rPr lang="en-GB" dirty="0">
                <a:latin typeface="Calibri" panose="020F0502020204030204" pitchFamily="34" charset="0"/>
                <a:ea typeface="Calibri" panose="020F0502020204030204" pitchFamily="34" charset="0"/>
                <a:cs typeface="Calibri" panose="020F0502020204030204" pitchFamily="34" charset="0"/>
              </a:rPr>
              <a:t>failDownAt=5.0</a:t>
            </a:r>
            <a:r>
              <a:rPr lang="en-US" dirty="0">
                <a:latin typeface="Calibri" panose="020F0502020204030204" pitchFamily="34" charset="0"/>
                <a:ea typeface="Calibri" panose="020F0502020204030204" pitchFamily="34" charset="0"/>
                <a:cs typeface="Calibri" panose="020F0502020204030204" pitchFamily="34" charset="0"/>
              </a:rPr>
              <a:t>s,</a:t>
            </a:r>
            <a:r>
              <a:rPr lang="en-GB" dirty="0">
                <a:latin typeface="Calibri" panose="020F0502020204030204" pitchFamily="34" charset="0"/>
                <a:ea typeface="Calibri" panose="020F0502020204030204" pitchFamily="34" charset="0"/>
                <a:cs typeface="Calibri" panose="020F0502020204030204" pitchFamily="34" charset="0"/>
              </a:rPr>
              <a:t> failUpAt=9.0s, useWarmup=true cbr02Start=1.2</a:t>
            </a:r>
            <a:r>
              <a:rPr lang="en-US" dirty="0">
                <a:latin typeface="Calibri" panose="020F0502020204030204" pitchFamily="34" charset="0"/>
                <a:ea typeface="Calibri" panose="020F0502020204030204" pitchFamily="34" charset="0"/>
                <a:cs typeface="Calibri" panose="020F0502020204030204" pitchFamily="34" charset="0"/>
              </a:rPr>
              <a:t>s</a:t>
            </a:r>
            <a:r>
              <a:rPr lang="en-GB" dirty="0">
                <a:latin typeface="Calibri" panose="020F0502020204030204" pitchFamily="34" charset="0"/>
                <a:ea typeface="Calibri" panose="020F0502020204030204" pitchFamily="34" charset="0"/>
                <a:cs typeface="Calibri" panose="020F0502020204030204" pitchFamily="34" charset="0"/>
              </a:rPr>
              <a:t> </a:t>
            </a:r>
            <a:r>
              <a:rPr lang="el-GR" dirty="0">
                <a:latin typeface="Calibri" panose="020F0502020204030204" pitchFamily="34" charset="0"/>
                <a:ea typeface="Calibri" panose="020F0502020204030204" pitchFamily="34" charset="0"/>
                <a:cs typeface="Calibri" panose="020F0502020204030204" pitchFamily="34" charset="0"/>
              </a:rPr>
              <a:t>και</a:t>
            </a:r>
            <a:r>
              <a:rPr lang="en-US" dirty="0">
                <a:latin typeface="Calibri" panose="020F0502020204030204" pitchFamily="34" charset="0"/>
                <a:ea typeface="Calibri" panose="020F0502020204030204" pitchFamily="34" charset="0"/>
                <a:cs typeface="Calibri" panose="020F0502020204030204" pitchFamily="34" charset="0"/>
              </a:rPr>
              <a:t> </a:t>
            </a:r>
            <a:r>
              <a:rPr lang="en-GB" dirty="0">
                <a:latin typeface="Calibri" panose="020F0502020204030204" pitchFamily="34" charset="0"/>
                <a:ea typeface="Calibri" panose="020F0502020204030204" pitchFamily="34" charset="0"/>
                <a:cs typeface="Calibri" panose="020F0502020204030204" pitchFamily="34" charset="0"/>
              </a:rPr>
              <a:t>cbr03Start=1.5s.</a:t>
            </a:r>
            <a:br>
              <a:rPr lang="el-GR" dirty="0"/>
            </a:br>
            <a:endParaRPr lang="en-GB" dirty="0"/>
          </a:p>
        </p:txBody>
      </p:sp>
      <p:sp>
        <p:nvSpPr>
          <p:cNvPr id="3" name="AutoShape 2">
            <a:extLst>
              <a:ext uri="{FF2B5EF4-FFF2-40B4-BE49-F238E27FC236}">
                <a16:creationId xmlns:a16="http://schemas.microsoft.com/office/drawing/2014/main" id="{3003BEE9-C879-FAAA-5789-3CA71EFFCF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descr="A screenshot of a computer&#10;&#10;AI-generated content may be incorrect.">
            <a:extLst>
              <a:ext uri="{FF2B5EF4-FFF2-40B4-BE49-F238E27FC236}">
                <a16:creationId xmlns:a16="http://schemas.microsoft.com/office/drawing/2014/main" id="{956C70AD-78A6-2630-7CFF-8D28D30B46B2}"/>
              </a:ext>
            </a:extLst>
          </p:cNvPr>
          <p:cNvPicPr>
            <a:picLocks noChangeAspect="1"/>
          </p:cNvPicPr>
          <p:nvPr/>
        </p:nvPicPr>
        <p:blipFill>
          <a:blip r:embed="rId2"/>
          <a:stretch>
            <a:fillRect/>
          </a:stretch>
        </p:blipFill>
        <p:spPr>
          <a:xfrm>
            <a:off x="104752" y="2085356"/>
            <a:ext cx="4200450" cy="4299903"/>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24B48D48-4B40-97C5-4C19-5F04886F84C7}"/>
              </a:ext>
            </a:extLst>
          </p:cNvPr>
          <p:cNvPicPr>
            <a:picLocks noChangeAspect="1"/>
          </p:cNvPicPr>
          <p:nvPr/>
        </p:nvPicPr>
        <p:blipFill>
          <a:blip r:embed="rId3"/>
          <a:stretch>
            <a:fillRect/>
          </a:stretch>
        </p:blipFill>
        <p:spPr>
          <a:xfrm>
            <a:off x="4431070" y="2085356"/>
            <a:ext cx="4200450" cy="4299903"/>
          </a:xfrm>
          <a:prstGeom prst="rect">
            <a:avLst/>
          </a:prstGeom>
        </p:spPr>
      </p:pic>
    </p:spTree>
    <p:extLst>
      <p:ext uri="{BB962C8B-B14F-4D97-AF65-F5344CB8AC3E}">
        <p14:creationId xmlns:p14="http://schemas.microsoft.com/office/powerpoint/2010/main" val="346499091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FDD0E-3641-3195-FACE-5123545CCF0D}"/>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E086B05-5F5E-02D1-B609-235EA3847758}"/>
              </a:ext>
            </a:extLst>
          </p:cNvPr>
          <p:cNvSpPr>
            <a:spLocks noGrp="1"/>
          </p:cNvSpPr>
          <p:nvPr>
            <p:ph type="title"/>
          </p:nvPr>
        </p:nvSpPr>
        <p:spPr>
          <a:xfrm>
            <a:off x="1024127" y="585216"/>
            <a:ext cx="10979613" cy="1499616"/>
          </a:xfrm>
        </p:spPr>
        <p:txBody>
          <a:bodyPr/>
          <a:lstStyle/>
          <a:p>
            <a:r>
              <a:rPr lang="el-GR" b="1" dirty="0"/>
              <a:t>Αποτελεσματα του ερωτηματοσ 2 (</a:t>
            </a:r>
            <a:r>
              <a:rPr lang="en-US" b="1" dirty="0"/>
              <a:t>4</a:t>
            </a:r>
            <a:r>
              <a:rPr lang="el-GR" b="1" dirty="0"/>
              <a:t>)</a:t>
            </a:r>
          </a:p>
        </p:txBody>
      </p:sp>
      <p:sp>
        <p:nvSpPr>
          <p:cNvPr id="3" name="Θέση περιεχομένου 2">
            <a:extLst>
              <a:ext uri="{FF2B5EF4-FFF2-40B4-BE49-F238E27FC236}">
                <a16:creationId xmlns:a16="http://schemas.microsoft.com/office/drawing/2014/main" id="{89F9973F-06D2-18D7-5956-D88D3A154EC7}"/>
              </a:ext>
            </a:extLst>
          </p:cNvPr>
          <p:cNvSpPr>
            <a:spLocks noGrp="1"/>
          </p:cNvSpPr>
          <p:nvPr>
            <p:ph sz="half" idx="1"/>
          </p:nvPr>
        </p:nvSpPr>
        <p:spPr>
          <a:xfrm>
            <a:off x="1024127" y="2621902"/>
            <a:ext cx="9688697" cy="2724539"/>
          </a:xfrm>
        </p:spPr>
        <p:txBody>
          <a:bodyPr>
            <a:normAutofit lnSpcReduction="10000"/>
          </a:bodyPr>
          <a:lstStyle/>
          <a:p>
            <a:pPr algn="just">
              <a:buFont typeface="Arial" panose="020B0604020202020204" pitchFamily="34" charset="0"/>
              <a:buChar char="•"/>
            </a:pPr>
            <a:r>
              <a:rPr lang="el-GR" dirty="0"/>
              <a:t>Παρατηρήσαμε πως</a:t>
            </a:r>
            <a:r>
              <a:rPr lang="en-US" dirty="0"/>
              <a:t> </a:t>
            </a:r>
            <a:r>
              <a:rPr lang="el-GR" dirty="0"/>
              <a:t>για τον καλύτερο χειρισμό των </a:t>
            </a:r>
            <a:r>
              <a:rPr lang="en-US" dirty="0"/>
              <a:t>failures </a:t>
            </a:r>
            <a:r>
              <a:rPr lang="el-GR" dirty="0"/>
              <a:t>πρέπει να εισάγουμε μικρότερο </a:t>
            </a:r>
            <a:r>
              <a:rPr lang="en-US" dirty="0"/>
              <a:t>delay </a:t>
            </a:r>
            <a:r>
              <a:rPr lang="el-GR" dirty="0"/>
              <a:t>στην μετάδοση πακέτων. Με αυτόν τον τρόπο έχουμε:</a:t>
            </a:r>
          </a:p>
          <a:p>
            <a:pPr marL="0" indent="0" algn="just">
              <a:buNone/>
            </a:pPr>
            <a:endParaRPr lang="el-GR" dirty="0"/>
          </a:p>
          <a:p>
            <a:pPr marL="128016" lvl="1" indent="0">
              <a:buNone/>
            </a:pPr>
            <a:r>
              <a:rPr lang="en-US" sz="2000" dirty="0">
                <a:solidFill>
                  <a:schemeClr val="accent1">
                    <a:lumMod val="75000"/>
                  </a:schemeClr>
                </a:solidFill>
              </a:rPr>
              <a:t>1)</a:t>
            </a:r>
            <a:r>
              <a:rPr lang="el-GR" sz="2000" dirty="0">
                <a:solidFill>
                  <a:schemeClr val="accent1">
                    <a:lumMod val="75000"/>
                  </a:schemeClr>
                </a:solidFill>
              </a:rPr>
              <a:t> </a:t>
            </a:r>
            <a:r>
              <a:rPr lang="el-GR" sz="2000" dirty="0"/>
              <a:t>Πιο γρήγορη επαναφορά του  </a:t>
            </a:r>
            <a:r>
              <a:rPr lang="en-GB" sz="2000" dirty="0"/>
              <a:t>link</a:t>
            </a:r>
            <a:r>
              <a:rPr lang="el-GR" sz="2000" dirty="0"/>
              <a:t> σε κατάσταση </a:t>
            </a:r>
            <a:r>
              <a:rPr lang="en-US" sz="2000" dirty="0"/>
              <a:t>“</a:t>
            </a:r>
            <a:r>
              <a:rPr lang="en-GB" sz="2000" dirty="0"/>
              <a:t>up</a:t>
            </a:r>
            <a:r>
              <a:rPr lang="en-US" sz="2000" dirty="0"/>
              <a:t>”</a:t>
            </a:r>
            <a:endParaRPr lang="el-GR" sz="2000" dirty="0"/>
          </a:p>
          <a:p>
            <a:pPr marL="128016" lvl="1" indent="0">
              <a:buNone/>
            </a:pPr>
            <a:r>
              <a:rPr lang="en-US" sz="2000" dirty="0">
                <a:solidFill>
                  <a:schemeClr val="accent1">
                    <a:lumMod val="75000"/>
                  </a:schemeClr>
                </a:solidFill>
              </a:rPr>
              <a:t>2)</a:t>
            </a:r>
            <a:r>
              <a:rPr lang="el-GR" sz="2000" dirty="0">
                <a:solidFill>
                  <a:schemeClr val="accent1">
                    <a:lumMod val="75000"/>
                  </a:schemeClr>
                </a:solidFill>
              </a:rPr>
              <a:t> </a:t>
            </a:r>
            <a:r>
              <a:rPr lang="el-GR" sz="2000" dirty="0"/>
              <a:t>Λιγότερο </a:t>
            </a:r>
            <a:r>
              <a:rPr lang="en-US" sz="2000" dirty="0"/>
              <a:t>Overall loss</a:t>
            </a:r>
            <a:r>
              <a:rPr lang="el-GR" sz="2000" dirty="0"/>
              <a:t> σε σχέση με αυτή το μεγαλύτερο </a:t>
            </a:r>
            <a:r>
              <a:rPr lang="en-US" sz="2000" dirty="0"/>
              <a:t>delay</a:t>
            </a:r>
            <a:endParaRPr lang="el-GR" sz="2000" dirty="0"/>
          </a:p>
          <a:p>
            <a:pPr marL="128016" lvl="1" indent="0">
              <a:buNone/>
            </a:pPr>
            <a:r>
              <a:rPr lang="en-US" sz="2000" dirty="0">
                <a:solidFill>
                  <a:schemeClr val="accent1">
                    <a:lumMod val="75000"/>
                  </a:schemeClr>
                </a:solidFill>
              </a:rPr>
              <a:t>3)</a:t>
            </a:r>
            <a:r>
              <a:rPr lang="el-GR" sz="2000" dirty="0">
                <a:solidFill>
                  <a:schemeClr val="accent1">
                    <a:lumMod val="75000"/>
                  </a:schemeClr>
                </a:solidFill>
              </a:rPr>
              <a:t> </a:t>
            </a:r>
            <a:r>
              <a:rPr lang="el-GR" sz="2000" dirty="0"/>
              <a:t>Μεγαλύτερο </a:t>
            </a:r>
            <a:r>
              <a:rPr lang="en-GB" sz="2000" dirty="0"/>
              <a:t>throughput </a:t>
            </a:r>
            <a:r>
              <a:rPr lang="el-GR" sz="2000" dirty="0"/>
              <a:t>λόγο του χαμηλού </a:t>
            </a:r>
            <a:r>
              <a:rPr lang="en-US" sz="2000" dirty="0"/>
              <a:t>delay</a:t>
            </a:r>
            <a:br>
              <a:rPr lang="el-GR" sz="2000" dirty="0"/>
            </a:br>
            <a:br>
              <a:rPr lang="en-GB" dirty="0"/>
            </a:br>
            <a:br>
              <a:rPr lang="en-GB" dirty="0"/>
            </a:br>
            <a:r>
              <a:rPr lang="en-GB" dirty="0"/>
              <a:t> </a:t>
            </a:r>
            <a:endParaRPr lang="el-GR" dirty="0"/>
          </a:p>
        </p:txBody>
      </p:sp>
    </p:spTree>
    <p:extLst>
      <p:ext uri="{BB962C8B-B14F-4D97-AF65-F5344CB8AC3E}">
        <p14:creationId xmlns:p14="http://schemas.microsoft.com/office/powerpoint/2010/main" val="369331240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C00DAD0-3F5C-4917-A7D5-A3D10C3144EA}"/>
              </a:ext>
            </a:extLst>
          </p:cNvPr>
          <p:cNvSpPr>
            <a:spLocks noGrp="1"/>
          </p:cNvSpPr>
          <p:nvPr>
            <p:ph type="title"/>
          </p:nvPr>
        </p:nvSpPr>
        <p:spPr>
          <a:xfrm>
            <a:off x="1024128" y="585216"/>
            <a:ext cx="9720072" cy="1499616"/>
          </a:xfrm>
        </p:spPr>
        <p:txBody>
          <a:bodyPr anchor="ctr">
            <a:normAutofit/>
          </a:bodyPr>
          <a:lstStyle/>
          <a:p>
            <a:r>
              <a:rPr lang="el-GR" b="1" dirty="0"/>
              <a:t>Η εργασια στο </a:t>
            </a:r>
            <a:r>
              <a:rPr lang="en-US" b="1" dirty="0"/>
              <a:t>GitHub</a:t>
            </a:r>
            <a:r>
              <a:rPr lang="el-GR" b="1" dirty="0"/>
              <a:t> </a:t>
            </a:r>
          </a:p>
        </p:txBody>
      </p:sp>
      <p:sp>
        <p:nvSpPr>
          <p:cNvPr id="3" name="Θέση περιεχομένου 2">
            <a:extLst>
              <a:ext uri="{FF2B5EF4-FFF2-40B4-BE49-F238E27FC236}">
                <a16:creationId xmlns:a16="http://schemas.microsoft.com/office/drawing/2014/main" id="{A6FF4638-58AE-4F9F-BEB5-E0E22CA065D6}"/>
              </a:ext>
            </a:extLst>
          </p:cNvPr>
          <p:cNvSpPr>
            <a:spLocks noGrp="1"/>
          </p:cNvSpPr>
          <p:nvPr>
            <p:ph sz="half" idx="1"/>
          </p:nvPr>
        </p:nvSpPr>
        <p:spPr>
          <a:xfrm>
            <a:off x="1024128" y="2286000"/>
            <a:ext cx="4311852" cy="3703122"/>
          </a:xfrm>
        </p:spPr>
        <p:txBody>
          <a:bodyPr>
            <a:normAutofit fontScale="92500" lnSpcReduction="10000"/>
          </a:bodyPr>
          <a:lstStyle/>
          <a:p>
            <a:r>
              <a:rPr lang="el-GR" dirty="0"/>
              <a:t>Τα αρχεία του κώδικα καθώς και η</a:t>
            </a:r>
            <a:r>
              <a:rPr lang="en-US" dirty="0"/>
              <a:t> </a:t>
            </a:r>
            <a:r>
              <a:rPr lang="el-GR" dirty="0"/>
              <a:t>παρουσίαση βρίσκονται στο εξής </a:t>
            </a:r>
            <a:r>
              <a:rPr lang="en-US" dirty="0"/>
              <a:t>public repository </a:t>
            </a:r>
            <a:r>
              <a:rPr lang="el-GR" dirty="0"/>
              <a:t>με </a:t>
            </a:r>
            <a:r>
              <a:rPr lang="en-US" dirty="0"/>
              <a:t>link:</a:t>
            </a:r>
            <a:endParaRPr lang="el-GR" dirty="0"/>
          </a:p>
          <a:p>
            <a:br>
              <a:rPr lang="el-GR" dirty="0">
                <a:solidFill>
                  <a:schemeClr val="accent1">
                    <a:lumMod val="75000"/>
                  </a:schemeClr>
                </a:solidFill>
              </a:rPr>
            </a:br>
            <a:r>
              <a:rPr lang="en-US" dirty="0">
                <a:solidFill>
                  <a:schemeClr val="accent1">
                    <a:lumMod val="75000"/>
                  </a:schemeClr>
                </a:solidFill>
                <a:hlinkClick r:id="rId2">
                  <a:extLst>
                    <a:ext uri="{A12FA001-AC4F-418D-AE19-62706E023703}">
                      <ahyp:hlinkClr xmlns:ahyp="http://schemas.microsoft.com/office/drawing/2018/hyperlinkcolor" val="tx"/>
                    </a:ext>
                  </a:extLst>
                </a:hlinkClick>
              </a:rPr>
              <a:t>https://github.com/grgmyl/Ns3Project/tree/main</a:t>
            </a:r>
            <a:endParaRPr lang="en-US" dirty="0">
              <a:solidFill>
                <a:schemeClr val="accent1">
                  <a:lumMod val="75000"/>
                </a:schemeClr>
              </a:solidFill>
            </a:endParaRPr>
          </a:p>
          <a:p>
            <a:endParaRPr lang="en-US" dirty="0"/>
          </a:p>
          <a:p>
            <a:br>
              <a:rPr lang="en-US" dirty="0"/>
            </a:br>
            <a:br>
              <a:rPr lang="en-US" dirty="0"/>
            </a:br>
            <a:br>
              <a:rPr lang="en-US" dirty="0"/>
            </a:br>
            <a:br>
              <a:rPr lang="el-GR" dirty="0"/>
            </a:br>
            <a:endParaRPr lang="el-GR" b="1" dirty="0"/>
          </a:p>
        </p:txBody>
      </p:sp>
      <p:pic>
        <p:nvPicPr>
          <p:cNvPr id="6" name="Picture 5">
            <a:extLst>
              <a:ext uri="{FF2B5EF4-FFF2-40B4-BE49-F238E27FC236}">
                <a16:creationId xmlns:a16="http://schemas.microsoft.com/office/drawing/2014/main" id="{15D8425C-6F45-9DE1-7630-2A66FE55447E}"/>
              </a:ext>
            </a:extLst>
          </p:cNvPr>
          <p:cNvPicPr>
            <a:picLocks noChangeAspect="1"/>
          </p:cNvPicPr>
          <p:nvPr/>
        </p:nvPicPr>
        <p:blipFill>
          <a:blip r:embed="rId3"/>
          <a:stretch>
            <a:fillRect/>
          </a:stretch>
        </p:blipFill>
        <p:spPr>
          <a:xfrm>
            <a:off x="6542419" y="2286000"/>
            <a:ext cx="5082367" cy="3062125"/>
          </a:xfrm>
          <a:prstGeom prst="rect">
            <a:avLst/>
          </a:prstGeom>
          <a:noFill/>
        </p:spPr>
      </p:pic>
    </p:spTree>
    <p:extLst>
      <p:ext uri="{BB962C8B-B14F-4D97-AF65-F5344CB8AC3E}">
        <p14:creationId xmlns:p14="http://schemas.microsoft.com/office/powerpoint/2010/main" val="1058767610"/>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3B5979B-DAA2-4179-A467-7A963AB07EB6}"/>
              </a:ext>
            </a:extLst>
          </p:cNvPr>
          <p:cNvSpPr>
            <a:spLocks noGrp="1"/>
          </p:cNvSpPr>
          <p:nvPr>
            <p:ph type="title"/>
          </p:nvPr>
        </p:nvSpPr>
        <p:spPr/>
        <p:txBody>
          <a:bodyPr/>
          <a:lstStyle/>
          <a:p>
            <a:r>
              <a:rPr lang="el-GR" b="1" dirty="0"/>
              <a:t>Πηγες</a:t>
            </a:r>
            <a:r>
              <a:rPr lang="en-US" b="1" dirty="0"/>
              <a:t> kai </a:t>
            </a:r>
            <a:r>
              <a:rPr lang="el-GR" b="1" dirty="0"/>
              <a:t>Βιβλιογραφια</a:t>
            </a:r>
          </a:p>
        </p:txBody>
      </p:sp>
      <p:sp>
        <p:nvSpPr>
          <p:cNvPr id="3" name="Θέση περιεχομένου 2">
            <a:extLst>
              <a:ext uri="{FF2B5EF4-FFF2-40B4-BE49-F238E27FC236}">
                <a16:creationId xmlns:a16="http://schemas.microsoft.com/office/drawing/2014/main" id="{2C15E7EE-1AAC-44FA-9CBE-14186AB94BEE}"/>
              </a:ext>
            </a:extLst>
          </p:cNvPr>
          <p:cNvSpPr>
            <a:spLocks noGrp="1"/>
          </p:cNvSpPr>
          <p:nvPr>
            <p:ph idx="1"/>
          </p:nvPr>
        </p:nvSpPr>
        <p:spPr>
          <a:xfrm>
            <a:off x="887506" y="2084833"/>
            <a:ext cx="9856695" cy="3897514"/>
          </a:xfrm>
        </p:spPr>
        <p:txBody>
          <a:bodyPr>
            <a:normAutofit fontScale="25000" lnSpcReduction="20000"/>
          </a:bodyPr>
          <a:lstStyle/>
          <a:p>
            <a:r>
              <a:rPr lang="el-GR" sz="7200" b="1" dirty="0"/>
              <a:t>Για το </a:t>
            </a:r>
            <a:r>
              <a:rPr lang="en-US" sz="7200" b="1" dirty="0"/>
              <a:t>setup </a:t>
            </a:r>
            <a:r>
              <a:rPr lang="el-GR" sz="7200" b="1" dirty="0"/>
              <a:t>της εργασίας και για το ερώτημα 1</a:t>
            </a:r>
            <a:r>
              <a:rPr lang="en-US" sz="7200" b="1" dirty="0"/>
              <a:t>:</a:t>
            </a:r>
            <a:br>
              <a:rPr lang="en-US" sz="4800" dirty="0"/>
            </a:br>
            <a:br>
              <a:rPr lang="en-US" sz="4800" dirty="0"/>
            </a:br>
            <a:r>
              <a:rPr lang="en-US" sz="4800" dirty="0">
                <a:solidFill>
                  <a:schemeClr val="accent1">
                    <a:lumMod val="75000"/>
                  </a:schemeClr>
                </a:solidFill>
                <a:hlinkClick r:id="rId2">
                  <a:extLst>
                    <a:ext uri="{A12FA001-AC4F-418D-AE19-62706E023703}">
                      <ahyp:hlinkClr xmlns:ahyp="http://schemas.microsoft.com/office/drawing/2018/hyperlinkcolor" val="tx"/>
                    </a:ext>
                  </a:extLst>
                </a:hlinkClick>
              </a:rPr>
              <a:t>https://www.nsnam.org/documentation/</a:t>
            </a:r>
            <a:endParaRPr lang="el-GR" sz="4800" dirty="0">
              <a:solidFill>
                <a:schemeClr val="accent1">
                  <a:lumMod val="75000"/>
                </a:schemeClr>
              </a:solidFill>
            </a:endParaRPr>
          </a:p>
          <a:p>
            <a:r>
              <a:rPr lang="en-US" sz="4800" dirty="0">
                <a:solidFill>
                  <a:schemeClr val="accent1">
                    <a:lumMod val="75000"/>
                  </a:schemeClr>
                </a:solidFill>
                <a:hlinkClick r:id="rId3">
                  <a:extLst>
                    <a:ext uri="{A12FA001-AC4F-418D-AE19-62706E023703}">
                      <ahyp:hlinkClr xmlns:ahyp="http://schemas.microsoft.com/office/drawing/2018/hyperlinkcolor" val="tx"/>
                    </a:ext>
                  </a:extLst>
                </a:hlinkClick>
              </a:rPr>
              <a:t>https://www.nsnam.org/docs/contributing/html/coding-style.html#header-file-includes</a:t>
            </a:r>
            <a:endParaRPr lang="el-GR" sz="4800" dirty="0">
              <a:solidFill>
                <a:schemeClr val="accent1">
                  <a:lumMod val="75000"/>
                </a:schemeClr>
              </a:solidFill>
            </a:endParaRPr>
          </a:p>
          <a:p>
            <a:r>
              <a:rPr lang="en-US" sz="4800" dirty="0">
                <a:solidFill>
                  <a:schemeClr val="accent1">
                    <a:lumMod val="75000"/>
                  </a:schemeClr>
                </a:solidFill>
                <a:hlinkClick r:id="rId4">
                  <a:extLst>
                    <a:ext uri="{A12FA001-AC4F-418D-AE19-62706E023703}">
                      <ahyp:hlinkClr xmlns:ahyp="http://schemas.microsoft.com/office/drawing/2018/hyperlinkcolor" val="tx"/>
                    </a:ext>
                  </a:extLst>
                </a:hlinkClick>
              </a:rPr>
              <a:t>https://www.nsnam.org/docs/tutorial/html/</a:t>
            </a:r>
            <a:endParaRPr lang="en-US" sz="4800" dirty="0">
              <a:solidFill>
                <a:schemeClr val="accent1">
                  <a:lumMod val="75000"/>
                </a:schemeClr>
              </a:solidFill>
            </a:endParaRPr>
          </a:p>
          <a:p>
            <a:r>
              <a:rPr lang="en-US" sz="4800" dirty="0">
                <a:solidFill>
                  <a:schemeClr val="accent1">
                    <a:lumMod val="75000"/>
                  </a:schemeClr>
                </a:solidFill>
                <a:hlinkClick r:id="rId5">
                  <a:extLst>
                    <a:ext uri="{A12FA001-AC4F-418D-AE19-62706E023703}">
                      <ahyp:hlinkClr xmlns:ahyp="http://schemas.microsoft.com/office/drawing/2018/hyperlinkcolor" val="tx"/>
                    </a:ext>
                  </a:extLst>
                </a:hlinkClick>
              </a:rPr>
              <a:t>https://www.youtube.com/watch?v=Jv_swgcykjQ</a:t>
            </a:r>
            <a:endParaRPr lang="en-US" sz="4800" dirty="0">
              <a:solidFill>
                <a:schemeClr val="accent1">
                  <a:lumMod val="75000"/>
                </a:schemeClr>
              </a:solidFill>
            </a:endParaRPr>
          </a:p>
          <a:p>
            <a:r>
              <a:rPr lang="en-US" sz="4800" dirty="0">
                <a:solidFill>
                  <a:schemeClr val="accent1">
                    <a:lumMod val="75000"/>
                  </a:schemeClr>
                </a:solidFill>
                <a:hlinkClick r:id="rId6">
                  <a:extLst>
                    <a:ext uri="{A12FA001-AC4F-418D-AE19-62706E023703}">
                      <ahyp:hlinkClr xmlns:ahyp="http://schemas.microsoft.com/office/drawing/2018/hyperlinkcolor" val="tx"/>
                    </a:ext>
                  </a:extLst>
                </a:hlinkClick>
              </a:rPr>
              <a:t>https://www.youtube.com/watch?v=2W5mdzQrwXI</a:t>
            </a:r>
            <a:endParaRPr lang="en-US" sz="4800" dirty="0">
              <a:solidFill>
                <a:schemeClr val="accent1">
                  <a:lumMod val="75000"/>
                </a:schemeClr>
              </a:solidFill>
            </a:endParaRPr>
          </a:p>
          <a:p>
            <a:r>
              <a:rPr lang="en-US" sz="4800" dirty="0">
                <a:solidFill>
                  <a:schemeClr val="accent1">
                    <a:lumMod val="75000"/>
                  </a:schemeClr>
                </a:solidFill>
                <a:hlinkClick r:id="rId7">
                  <a:extLst>
                    <a:ext uri="{A12FA001-AC4F-418D-AE19-62706E023703}">
                      <ahyp:hlinkClr xmlns:ahyp="http://schemas.microsoft.com/office/drawing/2018/hyperlinkcolor" val="tx"/>
                    </a:ext>
                  </a:extLst>
                </a:hlinkClick>
              </a:rPr>
              <a:t>https://www.nsnam.org/docs/tutorial/html/building-topologies.html</a:t>
            </a:r>
            <a:endParaRPr lang="el-GR" sz="4800" dirty="0">
              <a:solidFill>
                <a:schemeClr val="accent1">
                  <a:lumMod val="75000"/>
                </a:schemeClr>
              </a:solidFill>
            </a:endParaRPr>
          </a:p>
          <a:p>
            <a:r>
              <a:rPr lang="el-GR" sz="7200" b="1" dirty="0">
                <a:solidFill>
                  <a:schemeClr val="tx1">
                    <a:lumMod val="95000"/>
                    <a:lumOff val="5000"/>
                  </a:schemeClr>
                </a:solidFill>
              </a:rPr>
              <a:t>Για το ερώτημα 2</a:t>
            </a:r>
            <a:r>
              <a:rPr lang="en-US" sz="7200" b="1" dirty="0">
                <a:solidFill>
                  <a:schemeClr val="tx1">
                    <a:lumMod val="95000"/>
                    <a:lumOff val="5000"/>
                  </a:schemeClr>
                </a:solidFill>
              </a:rPr>
              <a:t>:</a:t>
            </a:r>
            <a:endParaRPr lang="el-GR" sz="7200" b="1" dirty="0">
              <a:solidFill>
                <a:schemeClr val="tx1">
                  <a:lumMod val="95000"/>
                  <a:lumOff val="5000"/>
                </a:schemeClr>
              </a:solidFill>
            </a:endParaRPr>
          </a:p>
          <a:p>
            <a:r>
              <a:rPr lang="en-US" sz="4800" dirty="0">
                <a:solidFill>
                  <a:schemeClr val="accent1">
                    <a:lumMod val="75000"/>
                  </a:schemeClr>
                </a:solidFill>
                <a:hlinkClick r:id="rId8" tooltip="https://ns3-code.com/how-to-begin-implement-network-failover-in-ns3/">
                  <a:extLst>
                    <a:ext uri="{A12FA001-AC4F-418D-AE19-62706E023703}">
                      <ahyp:hlinkClr xmlns:ahyp="http://schemas.microsoft.com/office/drawing/2018/hyperlinkcolor" val="tx"/>
                    </a:ext>
                  </a:extLst>
                </a:hlinkClick>
              </a:rPr>
              <a:t>https://ns3-code.com/how-to-begin-implement-network-failover-in-ns3/</a:t>
            </a:r>
            <a:endParaRPr lang="en-US" sz="4800" dirty="0">
              <a:solidFill>
                <a:schemeClr val="accent1">
                  <a:lumMod val="75000"/>
                </a:schemeClr>
              </a:solidFill>
            </a:endParaRPr>
          </a:p>
          <a:p>
            <a:r>
              <a:rPr lang="en-US" sz="4800" dirty="0">
                <a:solidFill>
                  <a:schemeClr val="accent1">
                    <a:lumMod val="75000"/>
                  </a:schemeClr>
                </a:solidFill>
                <a:hlinkClick r:id="rId9">
                  <a:extLst>
                    <a:ext uri="{A12FA001-AC4F-418D-AE19-62706E023703}">
                      <ahyp:hlinkClr xmlns:ahyp="http://schemas.microsoft.com/office/drawing/2018/hyperlinkcolor" val="tx"/>
                    </a:ext>
                  </a:extLst>
                </a:hlinkClick>
              </a:rPr>
              <a:t>https://ns3-code.com/how-to-begin-implement-dynamic-routing-in-ns3/</a:t>
            </a:r>
            <a:endParaRPr lang="en-US" sz="4800" dirty="0">
              <a:solidFill>
                <a:schemeClr val="accent1">
                  <a:lumMod val="75000"/>
                </a:schemeClr>
              </a:solidFill>
            </a:endParaRPr>
          </a:p>
          <a:p>
            <a:r>
              <a:rPr lang="el-GR" sz="4800" dirty="0">
                <a:solidFill>
                  <a:schemeClr val="accent1">
                    <a:lumMod val="75000"/>
                  </a:schemeClr>
                </a:solidFill>
                <a:hlinkClick r:id="rId10" tooltip="https://networksimulationtools.com/how-to-run-netanim-in-ns3/">
                  <a:extLst>
                    <a:ext uri="{A12FA001-AC4F-418D-AE19-62706E023703}">
                      <ahyp:hlinkClr xmlns:ahyp="http://schemas.microsoft.com/office/drawing/2018/hyperlinkcolor" val="tx"/>
                    </a:ext>
                  </a:extLst>
                </a:hlinkClick>
              </a:rPr>
              <a:t>[</a:t>
            </a:r>
            <a:r>
              <a:rPr lang="en-US" sz="4800" dirty="0">
                <a:solidFill>
                  <a:schemeClr val="accent1">
                    <a:lumMod val="75000"/>
                  </a:schemeClr>
                </a:solidFill>
                <a:hlinkClick r:id="rId10" tooltip="https://networksimulationtools.com/how-to-run-netanim-in-ns3/">
                  <a:extLst>
                    <a:ext uri="{A12FA001-AC4F-418D-AE19-62706E023703}">
                      <ahyp:hlinkClr xmlns:ahyp="http://schemas.microsoft.com/office/drawing/2018/hyperlinkcolor" val="tx"/>
                    </a:ext>
                  </a:extLst>
                </a:hlinkClick>
              </a:rPr>
              <a:t>https://networksimulationtools.com/how-to-run-netanim-in-ns3/</a:t>
            </a:r>
            <a:br>
              <a:rPr lang="el-GR" sz="4800" dirty="0">
                <a:solidFill>
                  <a:schemeClr val="accent1">
                    <a:lumMod val="75000"/>
                  </a:schemeClr>
                </a:solidFill>
              </a:rPr>
            </a:br>
            <a:endParaRPr lang="el-GR" sz="4800" dirty="0"/>
          </a:p>
          <a:p>
            <a:endParaRPr lang="en-US" sz="4800" dirty="0">
              <a:solidFill>
                <a:schemeClr val="accent1">
                  <a:lumMod val="75000"/>
                </a:schemeClr>
              </a:solidFill>
            </a:endParaRPr>
          </a:p>
          <a:p>
            <a:endParaRPr lang="el-GR" sz="2600" dirty="0">
              <a:solidFill>
                <a:schemeClr val="accent1">
                  <a:lumMod val="75000"/>
                </a:schemeClr>
              </a:solidFill>
            </a:endParaRPr>
          </a:p>
          <a:p>
            <a:endParaRPr lang="en-US" sz="2600" dirty="0">
              <a:solidFill>
                <a:schemeClr val="accent1">
                  <a:lumMod val="75000"/>
                </a:schemeClr>
              </a:solidFill>
            </a:endParaRPr>
          </a:p>
          <a:p>
            <a:br>
              <a:rPr lang="en-US" dirty="0"/>
            </a:br>
            <a:endParaRPr lang="el-GR" dirty="0"/>
          </a:p>
        </p:txBody>
      </p:sp>
    </p:spTree>
    <p:extLst>
      <p:ext uri="{BB962C8B-B14F-4D97-AF65-F5344CB8AC3E}">
        <p14:creationId xmlns:p14="http://schemas.microsoft.com/office/powerpoint/2010/main" val="1234120531"/>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Ολοκλήρωμα">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36805159_TF22378848.potx" id="{51E92035-72BC-4B07-89CE-59A925E51368}" vid="{AC9007D9-22C0-4E44-B232-42ADFD1A740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788A2F88-55C5-4ED1-9541-807C65424763}">
  <ds:schemaRefs>
    <ds:schemaRef ds:uri="http://purl.org/dc/terms/"/>
    <ds:schemaRef ds:uri="16c05727-aa75-4e4a-9b5f-8a80a1165891"/>
    <ds:schemaRef ds:uri="http://purl.org/dc/dcmitype/"/>
    <ds:schemaRef ds:uri="http://schemas.microsoft.com/office/2006/documentManagement/types"/>
    <ds:schemaRef ds:uri="71af3243-3dd4-4a8d-8c0d-dd76da1f02a5"/>
    <ds:schemaRef ds:uri="http://schemas.openxmlformats.org/package/2006/metadata/core-properties"/>
    <ds:schemaRef ds:uri="http://schemas.microsoft.com/office/2006/metadata/properties"/>
    <ds:schemaRef ds:uri="http://schemas.microsoft.com/office/infopath/2007/PartnerControl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Ολοκληρωμένος σχεδιασμός</Template>
  <TotalTime>1388</TotalTime>
  <Words>1323</Words>
  <Application>Microsoft Office PowerPoint</Application>
  <PresentationFormat>Ευρεία οθόνη</PresentationFormat>
  <Paragraphs>116</Paragraphs>
  <Slides>19</Slides>
  <Notes>2</Notes>
  <HiddenSlides>0</HiddenSlides>
  <MMClips>0</MMClips>
  <ScaleCrop>false</ScaleCrop>
  <HeadingPairs>
    <vt:vector size="6" baseType="variant">
      <vt:variant>
        <vt:lpstr>Γραμματοσειρές που χρησιμοποιούνται</vt:lpstr>
      </vt:variant>
      <vt:variant>
        <vt:i4>5</vt:i4>
      </vt:variant>
      <vt:variant>
        <vt:lpstr>Θέμα</vt:lpstr>
      </vt:variant>
      <vt:variant>
        <vt:i4>1</vt:i4>
      </vt:variant>
      <vt:variant>
        <vt:lpstr>Τίτλοι διαφανειών</vt:lpstr>
      </vt:variant>
      <vt:variant>
        <vt:i4>19</vt:i4>
      </vt:variant>
    </vt:vector>
  </HeadingPairs>
  <TitlesOfParts>
    <vt:vector size="25" baseType="lpstr">
      <vt:lpstr>Arial</vt:lpstr>
      <vt:lpstr>Calibri</vt:lpstr>
      <vt:lpstr>Tw Cen MT</vt:lpstr>
      <vt:lpstr>Wingdings</vt:lpstr>
      <vt:lpstr>Wingdings 3</vt:lpstr>
      <vt:lpstr>Ολοκλήρωμα</vt:lpstr>
      <vt:lpstr>ΠΡΟΣΟΜΟΙΩΣΗ ΔΙΚΤΥΟΥ ΜΕ NS-3</vt:lpstr>
      <vt:lpstr>Το Κυριο θεμα της εργασιασ</vt:lpstr>
      <vt:lpstr>ΒΗΜΑΤΑ ΥΛΟΠΟΙΗΣΗΣ ΤΗΣ ΕΡΓΑΣΙΑΣ (1)</vt:lpstr>
      <vt:lpstr>ΒΗΜΑΤΑ ΥΛΟΠΟΙΗΣΗΣ ΤΗΣ ΕΡΓΑΣΙΑΣ (2)</vt:lpstr>
      <vt:lpstr>Δεδομενα του ΕΡΩΤΗΜΑτοσ 1</vt:lpstr>
      <vt:lpstr>Παρουσίαση του PowerPoint</vt:lpstr>
      <vt:lpstr>αποτελεσματα του ερωτηματοσ 1 </vt:lpstr>
      <vt:lpstr>ΔΕΔΟΜΕΝΑ ΤΟυ ΕΡΩΤΗΜΑτοσ 2</vt:lpstr>
      <vt:lpstr>ΥΛΟΠΟΙΗΣΗ ΤΟΥ ΕΡΩΤΗΜΑΤΟΣ 2</vt:lpstr>
      <vt:lpstr>ΑΠΟΤΕΛΕΣΜΑΤΑ ΤΟΥ ΕΡΩΤΗΜΑΤΟΣ 2(1)</vt:lpstr>
      <vt:lpstr>ΑΠΟΤΕΛΕΣΜΑΤΑ ΤΟΥ ΕΡΩΤΗΜΑΤΟΣ 2(2)</vt:lpstr>
      <vt:lpstr>Αποτελεσματα του ερωτηματοσ 2 (3)</vt:lpstr>
      <vt:lpstr>Συνεχεια του πειραματος</vt:lpstr>
      <vt:lpstr>Χρηση OLSR protocol</vt:lpstr>
      <vt:lpstr>Χρηση AODVN protocol</vt:lpstr>
      <vt:lpstr>Χειρισμος των link-failures</vt:lpstr>
      <vt:lpstr>Αποτελεσματα του ερωτηματοσ 2 (4)</vt:lpstr>
      <vt:lpstr>Η εργασια στο GitHub </vt:lpstr>
      <vt:lpstr>Πηγες kai Βιβλιογραφια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ΠΡΟΣΟΜΟΙΩΣΗ ΔΙΚΤΥΟΥ ΜΕ NS-3</dc:title>
  <dc:creator>Socrates Gillis</dc:creator>
  <cp:lastModifiedBy>Georgia</cp:lastModifiedBy>
  <cp:revision>333</cp:revision>
  <dcterms:created xsi:type="dcterms:W3CDTF">2025-10-19T19:42:56Z</dcterms:created>
  <dcterms:modified xsi:type="dcterms:W3CDTF">2025-12-09T13:09:49Z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