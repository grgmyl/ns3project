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86" r:id="rId14"/>
    <p:sldId id="293" r:id="rId15"/>
    <p:sldId id="294" r:id="rId16"/>
    <p:sldId id="295" r:id="rId17"/>
    <p:sldId id="288" r:id="rId18"/>
    <p:sldId id="281" r:id="rId19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111" d="100"/>
          <a:sy n="111" d="100"/>
        </p:scale>
        <p:origin x="5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17/11/2025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FF0000"/>
                </a:solidFill>
              </a:rPr>
              <a:t>Explain yourself!</a:t>
            </a:r>
            <a:endParaRPr lang="el-GR" b="1" dirty="0">
              <a:solidFill>
                <a:srgbClr val="FF0000"/>
              </a:solidFill>
            </a:endParaRP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807868" y="2112885"/>
            <a:ext cx="1109708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l-GR" altLang="el-GR" dirty="0">
                <a:latin typeface="Arial" panose="020B0604020202020204" pitchFamily="34" charset="0"/>
              </a:rPr>
              <a:t>Επιλέξαμε την δυναμική δρομολόγηση OLSR (Optimized Link State Routing)</a:t>
            </a:r>
            <a:r>
              <a:rPr lang="en-US" altLang="el-GR" dirty="0">
                <a:latin typeface="Arial" panose="020B0604020202020204" pitchFamily="34" charset="0"/>
              </a:rPr>
              <a:t>, </a:t>
            </a:r>
            <a:r>
              <a:rPr lang="el-GR" altLang="el-GR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μήπως αν πούμε κάτι τέτοιο εδώ? </a:t>
            </a:r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reacts quickly to topology changes</a:t>
            </a:r>
            <a:r>
              <a:rPr lang="el-GR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Scales better with many nodes and well-supported in NS-3.</a:t>
            </a:r>
            <a:endParaRPr lang="en-US" altLang="el-GR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l-GR" altLang="el-GR" dirty="0">
                <a:latin typeface="Arial" panose="020B0604020202020204" pitchFamily="34" charset="0"/>
              </a:rPr>
              <a:t>Επιπλέον,</a:t>
            </a:r>
            <a:r>
              <a:rPr lang="en-US" altLang="el-GR" dirty="0">
                <a:latin typeface="Arial" panose="020B0604020202020204" pitchFamily="34" charset="0"/>
              </a:rPr>
              <a:t> </a:t>
            </a:r>
            <a:r>
              <a:rPr lang="el-GR" altLang="el-GR" dirty="0">
                <a:latin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dirty="0">
                <a:latin typeface="Arial" panose="020B0604020202020204" pitchFamily="34" charset="0"/>
              </a:rPr>
              <a:t>module </a:t>
            </a:r>
            <a:r>
              <a:rPr lang="en-US" altLang="el-GR" dirty="0" err="1">
                <a:latin typeface="Arial" panose="020B0604020202020204" pitchFamily="34" charset="0"/>
              </a:rPr>
              <a:t>olsr-helper.h</a:t>
            </a:r>
            <a:r>
              <a:rPr lang="en-US" altLang="el-GR" dirty="0">
                <a:latin typeface="Arial" panose="020B0604020202020204" pitchFamily="34" charset="0"/>
              </a:rPr>
              <a:t>, ns3/applications-</a:t>
            </a:r>
            <a:r>
              <a:rPr lang="en-US" altLang="el-GR" dirty="0" err="1">
                <a:latin typeface="Arial" panose="020B0604020202020204" pitchFamily="34" charset="0"/>
              </a:rPr>
              <a:t>module.h</a:t>
            </a:r>
            <a:r>
              <a:rPr lang="en-US" altLang="el-GR">
                <a:latin typeface="Arial" panose="020B0604020202020204" pitchFamily="34" charset="0"/>
              </a:rPr>
              <a:t>, </a:t>
            </a:r>
            <a:br>
              <a:rPr lang="en-US" altLang="el-GR">
                <a:latin typeface="Arial" panose="020B0604020202020204" pitchFamily="34" charset="0"/>
              </a:rPr>
            </a:br>
            <a:r>
              <a:rPr lang="en-US" altLang="el-GR">
                <a:latin typeface="Arial" panose="020B0604020202020204" pitchFamily="34" charset="0"/>
              </a:rPr>
              <a:t>internet-</a:t>
            </a:r>
            <a:r>
              <a:rPr lang="en-US" altLang="el-GR" dirty="0" err="1">
                <a:latin typeface="Arial" panose="020B0604020202020204" pitchFamily="34" charset="0"/>
              </a:rPr>
              <a:t>module.h</a:t>
            </a:r>
            <a:r>
              <a:rPr lang="en-US" altLang="el-GR" dirty="0">
                <a:latin typeface="Arial" panose="020B0604020202020204" pitchFamily="34" charset="0"/>
              </a:rPr>
              <a:t>.</a:t>
            </a:r>
            <a:endParaRPr lang="el-GR" altLang="el-G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l-GR" dirty="0">
                <a:latin typeface="Arial" panose="020B0604020202020204" pitchFamily="34" charset="0"/>
              </a:rPr>
              <a:t>Internet stack, </a:t>
            </a:r>
            <a:r>
              <a:rPr lang="en-US" dirty="0">
                <a:latin typeface="Arial" panose="020B0604020202020204" pitchFamily="34" charset="0"/>
              </a:rPr>
              <a:t>Provides the essential networking protocol layers that enable nodes in a network to communicate and poses as a software foundation for sending, receiving, and processing packets.</a:t>
            </a:r>
            <a:endParaRPr lang="el-GR" altLang="el-GR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l-GR" dirty="0">
                <a:latin typeface="Arial" panose="020B0604020202020204" pitchFamily="34" charset="0"/>
              </a:rPr>
              <a:t>Packet sink, </a:t>
            </a:r>
            <a:r>
              <a:rPr lang="en-US" dirty="0">
                <a:latin typeface="Arial" panose="020B0604020202020204" pitchFamily="34" charset="0"/>
              </a:rPr>
              <a:t>A simple application that receives incoming packets, used to measure traffic, throughput, or packet delivery</a:t>
            </a:r>
            <a:endParaRPr lang="el-GR" altLang="el-GR" dirty="0"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lang="en-US" altLang="el-GR" dirty="0">
                <a:latin typeface="Arial" panose="020B0604020202020204" pitchFamily="34" charset="0"/>
              </a:rPr>
              <a:t>Warm-up phase,  A period of time where in a  system the </a:t>
            </a:r>
            <a:r>
              <a:rPr lang="en-US" dirty="0">
                <a:latin typeface="Arial" panose="020B0604020202020204" pitchFamily="34" charset="0"/>
              </a:rPr>
              <a:t>measurements are intentionally ignored to allow routing tables, queues, and traffic patterns to stabilize before accurate performance data is collected</a:t>
            </a:r>
            <a:r>
              <a:rPr lang="en-US" dirty="0"/>
              <a:t>.</a:t>
            </a:r>
            <a:endParaRPr lang="el-GR" altLang="el-GR" dirty="0">
              <a:latin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904" y="585216"/>
            <a:ext cx="11248556" cy="1398085"/>
          </a:xfrm>
        </p:spPr>
        <p:txBody>
          <a:bodyPr/>
          <a:lstStyle/>
          <a:p>
            <a:r>
              <a:rPr lang="el-GR" b="1" dirty="0"/>
              <a:t>ΑΠΟΤΕΛΕΣΜΑΤΑ ΤΟΥ ΕΡΩΤΗΜΑΤΟΣ 2(1)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199811" cy="740979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Με</a:t>
            </a:r>
            <a:r>
              <a:rPr lang="en-US" dirty="0"/>
              <a:t>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fr-FR" b="1" dirty="0"/>
              <a:t>double</a:t>
            </a:r>
            <a:r>
              <a:rPr lang="fr-FR" dirty="0"/>
              <a:t> </a:t>
            </a:r>
            <a:r>
              <a:rPr lang="fr-FR" b="1" dirty="0"/>
              <a:t>failDownAt = 2.0</a:t>
            </a:r>
            <a:r>
              <a:rPr lang="fr-FR" dirty="0"/>
              <a:t>;</a:t>
            </a:r>
            <a:r>
              <a:rPr lang="el-GR" dirty="0"/>
              <a:t> </a:t>
            </a:r>
            <a:r>
              <a:rPr lang="fr-FR" b="1" dirty="0"/>
              <a:t>double failUpAt   = 3.0</a:t>
            </a:r>
            <a:r>
              <a:rPr lang="fr-FR" dirty="0"/>
              <a:t>;</a:t>
            </a:r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7" y="3329678"/>
            <a:ext cx="6169599" cy="3184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FE7DF0-34E2-C0A5-1E9E-80484AC29557}"/>
              </a:ext>
            </a:extLst>
          </p:cNvPr>
          <p:cNvSpPr txBox="1"/>
          <p:nvPr/>
        </p:nvSpPr>
        <p:spPr>
          <a:xfrm>
            <a:off x="8146937" y="4480513"/>
            <a:ext cx="34181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FF0000"/>
                </a:solidFill>
              </a:rPr>
              <a:t>Λέω για εδώ να βρούμε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ένα καλύτερο παράδειγμα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μην χάνονται πακέτα και να </a:t>
            </a:r>
            <a:br>
              <a:rPr lang="el-GR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τσεκάρουμε ότι όλα λειτουργούν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like they should be!</a:t>
            </a:r>
          </a:p>
        </p:txBody>
      </p:sp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Με </a:t>
            </a:r>
            <a:r>
              <a:rPr lang="en-US" dirty="0"/>
              <a:t>delay=</a:t>
            </a:r>
            <a:r>
              <a:rPr lang="el-GR" dirty="0"/>
              <a:t>2</a:t>
            </a:r>
            <a:r>
              <a:rPr lang="en-US" dirty="0"/>
              <a:t>ms </a:t>
            </a:r>
            <a:r>
              <a:rPr lang="el-GR" dirty="0"/>
              <a:t>στα  </a:t>
            </a:r>
            <a:r>
              <a:rPr lang="en-US" dirty="0"/>
              <a:t>node devices 0-1 </a:t>
            </a:r>
            <a:r>
              <a:rPr lang="el-GR" dirty="0"/>
              <a:t>και </a:t>
            </a:r>
            <a:br>
              <a:rPr lang="el-GR" dirty="0"/>
            </a:br>
            <a:r>
              <a:rPr lang="en-US" b="1" dirty="0"/>
              <a:t>double failDownAt = </a:t>
            </a:r>
            <a:r>
              <a:rPr lang="el-GR" b="1" dirty="0"/>
              <a:t>8</a:t>
            </a:r>
            <a:r>
              <a:rPr lang="en-US" b="1" dirty="0"/>
              <a:t>.0; double</a:t>
            </a:r>
            <a:r>
              <a:rPr lang="en-US" dirty="0"/>
              <a:t> </a:t>
            </a:r>
            <a:r>
              <a:rPr lang="en-US" b="1" dirty="0"/>
              <a:t>failUpAt</a:t>
            </a:r>
            <a:r>
              <a:rPr lang="el-GR" b="1" dirty="0"/>
              <a:t> </a:t>
            </a:r>
            <a:r>
              <a:rPr lang="en-US" b="1" dirty="0"/>
              <a:t>= </a:t>
            </a:r>
            <a:r>
              <a:rPr lang="el-GR" b="1" dirty="0"/>
              <a:t>6</a:t>
            </a:r>
            <a:r>
              <a:rPr lang="en-US" b="1" dirty="0"/>
              <a:t>.0; </a:t>
            </a:r>
            <a:r>
              <a:rPr lang="el-GR" dirty="0"/>
              <a:t>έχουμε :</a:t>
            </a:r>
          </a:p>
          <a:p>
            <a:endParaRPr lang="en-US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D11F0DD8-4464-A6B8-A74D-0875BF51EA6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4126" y="3429000"/>
            <a:ext cx="5849639" cy="2843259"/>
          </a:xfrm>
          <a:prstGeom prst="rect">
            <a:avLst/>
          </a:prstGeom>
        </p:spPr>
      </p:pic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l-GR" dirty="0"/>
              <a:t>Παρατηρούμε επίσης πως το PDR </a:t>
            </a:r>
            <a:r>
              <a:rPr lang="en-US" dirty="0"/>
              <a:t>=</a:t>
            </a:r>
            <a:r>
              <a:rPr lang="el-GR" dirty="0"/>
              <a:t>50% επειδή κάποια πακέτα χάνονται ενώ άλλα έχουν ήδη αρχίσει να δρομολογούνται μέσω της νέας διαδρομής</a:t>
            </a:r>
            <a:r>
              <a:rPr lang="en-US" dirty="0"/>
              <a:t> </a:t>
            </a:r>
            <a:r>
              <a:rPr lang="el-GR" dirty="0"/>
              <a:t>.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(</a:t>
            </a:r>
            <a:r>
              <a:rPr lang="el-GR" b="1" dirty="0">
                <a:solidFill>
                  <a:srgbClr val="FF0000"/>
                </a:solidFill>
              </a:rPr>
              <a:t>Αυτό ισχύει και για το 2 </a:t>
            </a:r>
            <a:r>
              <a:rPr lang="en-US" b="1" dirty="0">
                <a:solidFill>
                  <a:srgbClr val="FF0000"/>
                </a:solidFill>
              </a:rPr>
              <a:t>screenshot! we’ll talk!)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l-GR" b="1" dirty="0">
                <a:solidFill>
                  <a:srgbClr val="FF0000"/>
                </a:solidFill>
              </a:rPr>
              <a:t>να σταθούμε πιο πολύ στην σημασία της αλλαγής του </a:t>
            </a:r>
            <a:r>
              <a:rPr lang="en-US" b="1" dirty="0">
                <a:solidFill>
                  <a:srgbClr val="FF0000"/>
                </a:solidFill>
              </a:rPr>
              <a:t>delay </a:t>
            </a:r>
            <a:r>
              <a:rPr lang="el-GR" b="1" dirty="0">
                <a:solidFill>
                  <a:srgbClr val="FF0000"/>
                </a:solidFill>
              </a:rPr>
              <a:t>λέω εγώ.</a:t>
            </a:r>
            <a:endParaRPr lang="el-G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3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366C-622C-7125-D484-05F4642D4D20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114C50-3F0F-9504-F66D-9FAB2B708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 </a:t>
            </a:r>
            <a:r>
              <a:rPr lang="el-GR" dirty="0"/>
              <a:t>Σε κάποιο άλλο </a:t>
            </a:r>
            <a:r>
              <a:rPr lang="en-US" dirty="0"/>
              <a:t>Instance!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718D-C5F6-1E2D-1546-669E78D251C3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272" y="2964119"/>
            <a:ext cx="5678424" cy="3421249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>
            <a:normAutofit/>
          </a:bodyPr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r>
              <a:rPr lang="en-US" b="1" dirty="0">
                <a:solidFill>
                  <a:srgbClr val="FF0000"/>
                </a:solidFill>
              </a:rPr>
              <a:t>Na </a:t>
            </a:r>
            <a:r>
              <a:rPr lang="en-US" b="1" dirty="0" err="1">
                <a:solidFill>
                  <a:srgbClr val="FF0000"/>
                </a:solidFill>
              </a:rPr>
              <a:t>valoume</a:t>
            </a:r>
            <a:r>
              <a:rPr lang="en-US" b="1" dirty="0">
                <a:solidFill>
                  <a:srgbClr val="FF0000"/>
                </a:solidFill>
              </a:rPr>
              <a:t> se ola DONE </a:t>
            </a:r>
            <a:r>
              <a:rPr lang="en-US" b="1" dirty="0" err="1">
                <a:solidFill>
                  <a:srgbClr val="FF0000"/>
                </a:solidFill>
              </a:rPr>
              <a:t>lew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egw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ahhahah</a:t>
            </a:r>
            <a:r>
              <a:rPr lang="en-US" b="1" dirty="0">
                <a:solidFill>
                  <a:srgbClr val="FF0000"/>
                </a:solidFill>
              </a:rPr>
              <a:t>! =&gt;</a:t>
            </a: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505</TotalTime>
  <Words>938</Words>
  <Application>Microsoft Office PowerPoint</Application>
  <PresentationFormat>Widescreen</PresentationFormat>
  <Paragraphs>86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PowerPoint Presentation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kostas gillis</cp:lastModifiedBy>
  <cp:revision>168</cp:revision>
  <dcterms:created xsi:type="dcterms:W3CDTF">2025-10-19T19:42:56Z</dcterms:created>
  <dcterms:modified xsi:type="dcterms:W3CDTF">2025-11-17T11:36:19Z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