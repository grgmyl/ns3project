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86" r:id="rId14"/>
    <p:sldId id="291" r:id="rId15"/>
    <p:sldId id="288" r:id="rId16"/>
    <p:sldId id="281" r:id="rId17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6395" autoAdjust="0"/>
  </p:normalViewPr>
  <p:slideViewPr>
    <p:cSldViewPr snapToGrid="0">
      <p:cViewPr varScale="1">
        <p:scale>
          <a:sx n="85" d="100"/>
          <a:sy n="85" d="100"/>
        </p:scale>
        <p:origin x="58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12/11/2025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12/11/2025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</a:t>
            </a:r>
            <a:r>
              <a:rPr lang="el-GR" sz="4800" b="1" dirty="0" err="1"/>
              <a:t>Κυριο</a:t>
            </a:r>
            <a:r>
              <a:rPr lang="el-GR" sz="4800" b="1" dirty="0"/>
              <a:t> θεμα της </a:t>
            </a:r>
            <a:r>
              <a:rPr lang="el-GR" sz="4800" b="1" dirty="0" err="1"/>
              <a:t>εργασιασ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destination</a:t>
            </a:r>
            <a:r>
              <a:rPr lang="en-GB" dirty="0"/>
              <a:t>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endParaRPr lang="en-US" sz="2000" dirty="0"/>
          </a:p>
          <a:p>
            <a:pPr marL="0" indent="0">
              <a:buNone/>
            </a:pP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 err="1"/>
              <a:t>github</a:t>
            </a:r>
            <a:r>
              <a:rPr lang="en-US" sz="2000" dirty="0"/>
              <a:t>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/>
              <a:t>Drawi.o</a:t>
            </a:r>
            <a:r>
              <a:rPr lang="en-US" sz="2000" dirty="0"/>
              <a:t>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3771791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 err="1"/>
              <a:t>Δεδομενα</a:t>
            </a:r>
            <a:r>
              <a:rPr lang="el-GR" sz="4800" b="1" dirty="0"/>
              <a:t> του </a:t>
            </a:r>
            <a:r>
              <a:rPr lang="el-GR" sz="4800" b="1" dirty="0" err="1"/>
              <a:t>ΕΡΩΤΗΜΑτοσ</a:t>
            </a:r>
            <a:r>
              <a:rPr lang="el-GR" sz="4800" b="1" dirty="0"/>
              <a:t>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2000" dirty="0"/>
              <a:t>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000" dirty="0"/>
              <a:t>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/>
              <a:t>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3.</a:t>
            </a:r>
            <a:r>
              <a:rPr lang="en-US" sz="2000" dirty="0"/>
              <a:t>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 err="1"/>
              <a:t>Υλοποιηση</a:t>
            </a:r>
            <a:r>
              <a:rPr lang="el-GR" sz="4800" b="1" dirty="0"/>
              <a:t> του </a:t>
            </a:r>
            <a:r>
              <a:rPr lang="el-GR" sz="4800" b="1" dirty="0" err="1"/>
              <a:t>ερωτηματοσ</a:t>
            </a:r>
            <a:r>
              <a:rPr lang="el-GR" sz="4800" b="1" dirty="0"/>
              <a:t>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 marL="0" indent="0">
              <a:buNone/>
            </a:pPr>
            <a:endParaRPr lang="el-GR" u="sng" dirty="0"/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 marL="0" indent="0">
              <a:buNone/>
            </a:pPr>
            <a:r>
              <a:rPr lang="el-GR" dirty="0"/>
              <a:t>+ </a:t>
            </a:r>
            <a:r>
              <a:rPr lang="el-GR" dirty="0" err="1"/>
              <a:t>καποιο</a:t>
            </a:r>
            <a:r>
              <a:rPr lang="el-GR" dirty="0"/>
              <a:t> </a:t>
            </a:r>
            <a:r>
              <a:rPr lang="el-GR" dirty="0" err="1"/>
              <a:t>διαγραμμα</a:t>
            </a:r>
            <a:r>
              <a:rPr lang="el-GR" dirty="0"/>
              <a:t>?</a:t>
            </a:r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</a:t>
            </a:r>
            <a:r>
              <a:rPr lang="el-GR" b="1" dirty="0" err="1"/>
              <a:t>ΤΟυ</a:t>
            </a:r>
            <a:r>
              <a:rPr lang="el-GR" b="1" dirty="0"/>
              <a:t> </a:t>
            </a:r>
            <a:r>
              <a:rPr lang="el-GR" b="1" dirty="0" err="1"/>
              <a:t>ΕΡΩΤΗΜΑτοσ</a:t>
            </a:r>
            <a:r>
              <a:rPr lang="el-GR" b="1" dirty="0"/>
              <a:t> 2</a:t>
            </a:r>
            <a:endParaRPr lang="el-G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348DBDB-F5BE-4294-BA1E-2FB5A71F5C2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1652" y="-837131"/>
            <a:ext cx="919950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C2FF6A6-1223-4495-B894-6E350D7BC4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3038" y="1694850"/>
            <a:ext cx="9298113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w Cen MT" panose="020B0602020104020603" pitchFamily="34" charset="0"/>
              <a:buNone/>
            </a:pPr>
            <a:endParaRPr lang="en-US" altLang="el-GR" sz="1800" b="1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w Cen MT" panose="020B0602020104020603" pitchFamily="34" charset="0"/>
              <a:buNone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l-GR" altLang="el-GR" sz="1800" dirty="0">
                <a:latin typeface="Arial" panose="020B0604020202020204" pitchFamily="34" charset="0"/>
              </a:rPr>
              <a:t>Επιλέξαμε την δυναμική δρομολόγηση OLSR (</a:t>
            </a:r>
            <a:r>
              <a:rPr lang="el-GR" altLang="el-GR" sz="1800" dirty="0" err="1">
                <a:latin typeface="Arial" panose="020B0604020202020204" pitchFamily="34" charset="0"/>
              </a:rPr>
              <a:t>Optimized</a:t>
            </a:r>
            <a:r>
              <a:rPr lang="el-GR" altLang="el-GR" sz="1800" dirty="0">
                <a:latin typeface="Arial" panose="020B0604020202020204" pitchFamily="34" charset="0"/>
              </a:rPr>
              <a:t> </a:t>
            </a:r>
            <a:r>
              <a:rPr lang="el-GR" altLang="el-GR" sz="1800" dirty="0" err="1">
                <a:latin typeface="Arial" panose="020B0604020202020204" pitchFamily="34" charset="0"/>
              </a:rPr>
              <a:t>Link</a:t>
            </a:r>
            <a:r>
              <a:rPr lang="el-GR" altLang="el-GR" sz="1800" dirty="0">
                <a:latin typeface="Arial" panose="020B0604020202020204" pitchFamily="34" charset="0"/>
              </a:rPr>
              <a:t> </a:t>
            </a:r>
            <a:r>
              <a:rPr lang="el-GR" altLang="el-GR" sz="1800" dirty="0" err="1">
                <a:latin typeface="Arial" panose="020B0604020202020204" pitchFamily="34" charset="0"/>
              </a:rPr>
              <a:t>State</a:t>
            </a:r>
            <a:r>
              <a:rPr lang="el-GR" altLang="el-GR" sz="1800" dirty="0">
                <a:latin typeface="Arial" panose="020B0604020202020204" pitchFamily="34" charset="0"/>
              </a:rPr>
              <a:t> </a:t>
            </a:r>
            <a:r>
              <a:rPr lang="el-GR" altLang="el-GR" sz="1800" dirty="0" err="1">
                <a:latin typeface="Arial" panose="020B0604020202020204" pitchFamily="34" charset="0"/>
              </a:rPr>
              <a:t>Routing</a:t>
            </a:r>
            <a:r>
              <a:rPr lang="el-GR" altLang="el-GR" sz="1800" dirty="0">
                <a:latin typeface="Arial" panose="020B0604020202020204" pitchFamily="34" charset="0"/>
              </a:rPr>
              <a:t>).</a:t>
            </a:r>
            <a:endParaRPr lang="en-US" altLang="el-G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l-GR" sz="1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l-GR" altLang="el-GR" sz="1800" dirty="0">
                <a:latin typeface="Arial" panose="020B0604020202020204" pitchFamily="34" charset="0"/>
              </a:rPr>
              <a:t>Επιπλέον,</a:t>
            </a:r>
            <a:r>
              <a:rPr lang="en-US" altLang="el-GR" sz="1800" dirty="0">
                <a:latin typeface="Arial" panose="020B0604020202020204" pitchFamily="34" charset="0"/>
              </a:rPr>
              <a:t> </a:t>
            </a:r>
            <a:r>
              <a:rPr lang="el-GR" altLang="el-GR" sz="1800" dirty="0">
                <a:latin typeface="Arial" panose="020B0604020202020204" pitchFamily="34" charset="0"/>
              </a:rPr>
              <a:t>συμπεριλάβαμε τα </a:t>
            </a:r>
            <a:r>
              <a:rPr lang="en-US" altLang="el-GR" sz="1800" dirty="0">
                <a:latin typeface="Arial" panose="020B0604020202020204" pitchFamily="34" charset="0"/>
              </a:rPr>
              <a:t>module </a:t>
            </a:r>
            <a:r>
              <a:rPr lang="en-US" altLang="el-GR" sz="1800" dirty="0" err="1">
                <a:latin typeface="Arial" panose="020B0604020202020204" pitchFamily="34" charset="0"/>
              </a:rPr>
              <a:t>olsr-helper.h</a:t>
            </a:r>
            <a:r>
              <a:rPr lang="en-US" altLang="el-GR" sz="1800" dirty="0">
                <a:latin typeface="Arial" panose="020B0604020202020204" pitchFamily="34" charset="0"/>
              </a:rPr>
              <a:t>, ns3/applications-</a:t>
            </a:r>
            <a:r>
              <a:rPr lang="en-US" altLang="el-GR" sz="1800" dirty="0" err="1">
                <a:latin typeface="Arial" panose="020B0604020202020204" pitchFamily="34" charset="0"/>
              </a:rPr>
              <a:t>module.h</a:t>
            </a:r>
            <a:r>
              <a:rPr lang="en-US" altLang="el-GR" sz="1800" dirty="0">
                <a:latin typeface="Arial" panose="020B0604020202020204" pitchFamily="34" charset="0"/>
              </a:rPr>
              <a:t>, internet-</a:t>
            </a:r>
            <a:r>
              <a:rPr lang="en-US" altLang="el-GR" sz="1800" dirty="0" err="1">
                <a:latin typeface="Arial" panose="020B0604020202020204" pitchFamily="34" charset="0"/>
              </a:rPr>
              <a:t>module.h</a:t>
            </a:r>
            <a:r>
              <a:rPr lang="en-US" altLang="el-GR" sz="1800" dirty="0">
                <a:latin typeface="Arial" panose="020B0604020202020204" pitchFamily="34" charset="0"/>
              </a:rPr>
              <a:t>.</a:t>
            </a:r>
            <a:endParaRPr lang="el-GR" altLang="el-GR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US" altLang="el-GR" sz="1800" dirty="0">
                <a:latin typeface="Arial" panose="020B0604020202020204" pitchFamily="34" charset="0"/>
              </a:rPr>
              <a:t>Internet stack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US" altLang="el-GR" sz="1800" dirty="0">
                <a:latin typeface="Arial" panose="020B0604020202020204" pitchFamily="34" charset="0"/>
              </a:rPr>
              <a:t>Packet sink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l-GR" altLang="el-GR" sz="1800" dirty="0">
                <a:latin typeface="Arial" panose="020B0604020202020204" pitchFamily="34" charset="0"/>
              </a:rPr>
              <a:t>Γρήγορη δρομολόγηση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w Cen MT" panose="020B0602020104020603" pitchFamily="34" charset="0"/>
              <a:buNone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w Cen MT" panose="020B0602020104020603" pitchFamily="34" charset="0"/>
              <a:buNone/>
            </a:pPr>
            <a:endParaRPr lang="el-GR" altLang="el-G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l-GR" altLang="el-GR" sz="1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66" y="3003954"/>
            <a:ext cx="3476927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904" y="585216"/>
            <a:ext cx="11248556" cy="1398085"/>
          </a:xfrm>
        </p:spPr>
        <p:txBody>
          <a:bodyPr/>
          <a:lstStyle/>
          <a:p>
            <a:r>
              <a:rPr lang="el-GR" b="1" dirty="0"/>
              <a:t>ΑΠΟΤΕΛΕΣΜΑΤΑ ΤΟΥ ΕΡΩΤΗΜΑΤΟΣ 2(1)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199811" cy="740979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Με</a:t>
            </a:r>
            <a:r>
              <a:rPr lang="en-US" dirty="0"/>
              <a:t>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  <a:r>
              <a:rPr lang="fr-FR" dirty="0"/>
              <a:t>double </a:t>
            </a:r>
            <a:r>
              <a:rPr lang="fr-FR" b="1" dirty="0" err="1"/>
              <a:t>failDownAt</a:t>
            </a:r>
            <a:r>
              <a:rPr lang="fr-FR" b="1" dirty="0"/>
              <a:t> = 2.0</a:t>
            </a:r>
            <a:r>
              <a:rPr lang="fr-FR" dirty="0"/>
              <a:t>;</a:t>
            </a:r>
            <a:r>
              <a:rPr lang="el-GR" dirty="0"/>
              <a:t> </a:t>
            </a:r>
            <a:r>
              <a:rPr lang="fr-FR" b="1" dirty="0"/>
              <a:t>double </a:t>
            </a:r>
            <a:r>
              <a:rPr lang="fr-FR" b="1" dirty="0" err="1"/>
              <a:t>failUpAt</a:t>
            </a:r>
            <a:r>
              <a:rPr lang="fr-FR" b="1" dirty="0"/>
              <a:t>   = 3.0</a:t>
            </a:r>
            <a:r>
              <a:rPr lang="fr-FR" dirty="0"/>
              <a:t>;</a:t>
            </a:r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DA09587-AC8A-42DB-BB6F-871EFA108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3329678"/>
            <a:ext cx="6169599" cy="3184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4AC1203-DE96-4B6F-8CA4-2F60F7F5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2(2)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ACBCB00-2F20-4477-BDCC-021A102AB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Με </a:t>
            </a:r>
            <a:r>
              <a:rPr lang="en-US" dirty="0"/>
              <a:t>delay=</a:t>
            </a:r>
            <a:r>
              <a:rPr lang="el-GR" dirty="0"/>
              <a:t>2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l-GR" dirty="0"/>
              <a:t>στα  </a:t>
            </a:r>
            <a:r>
              <a:rPr lang="en-US" dirty="0"/>
              <a:t>node devices 0-1 </a:t>
            </a:r>
            <a:r>
              <a:rPr lang="el-GR" dirty="0"/>
              <a:t>και </a:t>
            </a:r>
            <a:r>
              <a:rPr lang="en-US" b="1" dirty="0"/>
              <a:t>double </a:t>
            </a:r>
            <a:r>
              <a:rPr lang="en-US" b="1" dirty="0" err="1"/>
              <a:t>failDownAt</a:t>
            </a:r>
            <a:r>
              <a:rPr lang="en-US" b="1" dirty="0"/>
              <a:t> = </a:t>
            </a:r>
            <a:r>
              <a:rPr lang="el-GR" b="1" dirty="0"/>
              <a:t>8</a:t>
            </a:r>
            <a:r>
              <a:rPr lang="en-US" b="1" dirty="0"/>
              <a:t>.0; </a:t>
            </a:r>
            <a:r>
              <a:rPr lang="en-US" dirty="0"/>
              <a:t>double </a:t>
            </a:r>
            <a:r>
              <a:rPr lang="en-US" b="1" dirty="0" err="1"/>
              <a:t>failUpAt</a:t>
            </a:r>
            <a:r>
              <a:rPr lang="en-US" b="1" dirty="0"/>
              <a:t>   = </a:t>
            </a:r>
            <a:r>
              <a:rPr lang="el-GR" b="1" dirty="0"/>
              <a:t>6</a:t>
            </a:r>
            <a:r>
              <a:rPr lang="en-US" b="1" dirty="0"/>
              <a:t>.0; </a:t>
            </a:r>
            <a:r>
              <a:rPr lang="el-GR" dirty="0"/>
              <a:t>έχουμε :</a:t>
            </a:r>
          </a:p>
          <a:p>
            <a:endParaRPr lang="en-US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ACDCA8BA-760A-4DEE-AA1B-0DC480EDDC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4126" y="3429000"/>
            <a:ext cx="5849639" cy="2843259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5368E1DB-74DB-4CCE-94F2-53719AEDB8D7}"/>
              </a:ext>
            </a:extLst>
          </p:cNvPr>
          <p:cNvSpPr/>
          <p:nvPr/>
        </p:nvSpPr>
        <p:spPr>
          <a:xfrm>
            <a:off x="7099738" y="3849839"/>
            <a:ext cx="425931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Παρατηρούμε επίσης πως το PDR </a:t>
            </a:r>
            <a:r>
              <a:rPr lang="en-US" dirty="0"/>
              <a:t>=</a:t>
            </a:r>
            <a:r>
              <a:rPr lang="el-GR" dirty="0"/>
              <a:t>50% επειδή κάποια πακέτα χάνονται ενώ άλλα έχουν ήδη αρχίσει να δρομολογούνται μέσω της νέας διαδρομής.</a:t>
            </a:r>
          </a:p>
        </p:txBody>
      </p:sp>
    </p:spTree>
    <p:extLst>
      <p:ext uri="{BB962C8B-B14F-4D97-AF65-F5344CB8AC3E}">
        <p14:creationId xmlns:p14="http://schemas.microsoft.com/office/powerpoint/2010/main" val="398091013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861963" cy="4023360"/>
          </a:xfrm>
        </p:spPr>
        <p:txBody>
          <a:bodyPr/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hlinkClick r:id="rId8" tooltip="https://ns3-code.com/how-to-begin-implement-network-failover-in-ns3/"/>
              </a:rPr>
              <a:t>https://ns3-code.com/how-to-begin-implement-network-failover-in-ns3/</a:t>
            </a:r>
            <a:endParaRPr lang="en-US" sz="4800" dirty="0"/>
          </a:p>
          <a:p>
            <a:r>
              <a:rPr lang="en-US" sz="4800" dirty="0">
                <a:hlinkClick r:id="rId9"/>
              </a:rPr>
              <a:t>https://ns3-code.com/how-to-begin-implement-dynamic-routing-in-ns3/</a:t>
            </a:r>
            <a:endParaRPr lang="en-US" sz="4800" dirty="0"/>
          </a:p>
          <a:p>
            <a:r>
              <a:rPr lang="el-GR" sz="4800" dirty="0">
                <a:hlinkClick r:id="rId10" tooltip="https://networksimulationtools.com/how-to-run-netanim-in-ns3/"/>
              </a:rPr>
              <a:t>[</a:t>
            </a:r>
            <a:r>
              <a:rPr lang="en-US" sz="4800" dirty="0">
                <a:hlinkClick r:id="rId10" tooltip="https://networksimulationtools.com/how-to-run-netanim-in-ns3/"/>
              </a:rPr>
              <a:t>https://networksimulationtools.com/how-to-run-netanim-in-ns3/</a:t>
            </a:r>
            <a:r>
              <a:rPr lang="el-GR" sz="4800" dirty="0"/>
              <a:t>]</a:t>
            </a:r>
            <a:endParaRPr lang="en-US" sz="4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459</TotalTime>
  <Words>709</Words>
  <Application>Microsoft Office PowerPoint</Application>
  <PresentationFormat>Ευρεία οθόνη</PresentationFormat>
  <Paragraphs>90</Paragraphs>
  <Slides>13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13</vt:i4>
      </vt:variant>
    </vt:vector>
  </HeadingPairs>
  <TitlesOfParts>
    <vt:vector size="19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Παρουσίαση του PowerPoint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ΑΠΟΤΕΛΕΣΜΑΤΑ ΤΟΥ ΕΡΩΤΗΜΑΤΟΣ 2(2)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150</cp:revision>
  <dcterms:created xsi:type="dcterms:W3CDTF">2025-10-19T19:42:56Z</dcterms:created>
  <dcterms:modified xsi:type="dcterms:W3CDTF">2025-11-12T11:38:32Z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