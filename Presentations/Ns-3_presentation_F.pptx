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56" r:id="rId5"/>
    <p:sldId id="277" r:id="rId6"/>
    <p:sldId id="279" r:id="rId7"/>
    <p:sldId id="282" r:id="rId8"/>
    <p:sldId id="284" r:id="rId9"/>
    <p:sldId id="283" r:id="rId10"/>
    <p:sldId id="278" r:id="rId11"/>
    <p:sldId id="290" r:id="rId12"/>
    <p:sldId id="287" r:id="rId13"/>
    <p:sldId id="286" r:id="rId14"/>
    <p:sldId id="293" r:id="rId15"/>
    <p:sldId id="294" r:id="rId16"/>
    <p:sldId id="295" r:id="rId17"/>
    <p:sldId id="288" r:id="rId18"/>
    <p:sldId id="281" r:id="rId19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96395" autoAdjust="0"/>
  </p:normalViewPr>
  <p:slideViewPr>
    <p:cSldViewPr snapToGrid="0">
      <p:cViewPr varScale="1">
        <p:scale>
          <a:sx n="113" d="100"/>
          <a:sy n="113" d="100"/>
        </p:scale>
        <p:origin x="4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18/11/2025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 dirty="0"/>
              <a:t>Κάντε κλικ για να επεξεργαστείτε τον υπότιτλο του υποδείγματος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/>
              <a:t>Κάντε κλικ στο εικονίδιο για να προσθέσετε εικόνα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ns3-code.com/how-to-begin-implement-network-failover-in-ns3/" TargetMode="External"/><Relationship Id="rId3" Type="http://schemas.openxmlformats.org/officeDocument/2006/relationships/hyperlink" Target="https://www.nsnam.org/docs/contributing/html/coding-style.html#header-file-includes" TargetMode="External"/><Relationship Id="rId7" Type="http://schemas.openxmlformats.org/officeDocument/2006/relationships/hyperlink" Target="https://www.nsnam.org/docs/tutorial/html/building-topologies.html" TargetMode="External"/><Relationship Id="rId2" Type="http://schemas.openxmlformats.org/officeDocument/2006/relationships/hyperlink" Target="https://www.nsnam.org/document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2W5mdzQrwXI" TargetMode="External"/><Relationship Id="rId5" Type="http://schemas.openxmlformats.org/officeDocument/2006/relationships/hyperlink" Target="https://www.youtube.com/watch?v=Jv_swgcykjQ" TargetMode="External"/><Relationship Id="rId10" Type="http://schemas.openxmlformats.org/officeDocument/2006/relationships/hyperlink" Target="https://networksimulationtools.com/how-to-run-netanim-in-ns3/" TargetMode="External"/><Relationship Id="rId4" Type="http://schemas.openxmlformats.org/officeDocument/2006/relationships/hyperlink" Target="https://www.nsnam.org/docs/tutorial/html/" TargetMode="External"/><Relationship Id="rId9" Type="http://schemas.openxmlformats.org/officeDocument/2006/relationships/hyperlink" Target="https://ns3-code.com/how-to-begin-implement-dynamic-routing-in-ns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-60366" y="0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 fontScale="90000"/>
          </a:bodyPr>
          <a:lstStyle/>
          <a:p>
            <a:pPr algn="l"/>
            <a:r>
              <a:rPr lang="el-GR" b="1" dirty="0">
                <a:solidFill>
                  <a:srgbClr val="FFFFFF"/>
                </a:solidFill>
              </a:rPr>
              <a:t>ΠΡΟΣΟΜΟΙΩΣΗ ΔΙΚΤΥΟΥ ΜΕ</a:t>
            </a:r>
            <a:r>
              <a:rPr lang="en-US" b="1" dirty="0">
                <a:solidFill>
                  <a:srgbClr val="FFFFFF"/>
                </a:solidFill>
              </a:rPr>
              <a:t> NS-3</a:t>
            </a:r>
            <a:endParaRPr lang="el-GR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165476" cy="474006"/>
          </a:xfrm>
        </p:spPr>
        <p:txBody>
          <a:bodyPr rtlCol="0" anchor="t">
            <a:normAutofit fontScale="77500" lnSpcReduction="20000"/>
          </a:bodyPr>
          <a:lstStyle/>
          <a:p>
            <a:r>
              <a:rPr lang="el-GR" dirty="0">
                <a:solidFill>
                  <a:srgbClr val="FFFFFF"/>
                </a:solidFill>
              </a:rPr>
              <a:t>Κωσταντίνος Γκύλλης, ΑΜ:1100526</a:t>
            </a:r>
          </a:p>
          <a:p>
            <a:r>
              <a:rPr lang="el-GR" dirty="0">
                <a:solidFill>
                  <a:srgbClr val="FFFFFF"/>
                </a:solidFill>
              </a:rPr>
              <a:t>Γεωργία Μυλωνά, ΑΜ: 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10568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Το Κυριο θεμα της εργασιασ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7415F4C-54AA-443E-9712-CE3889761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102" y="2286000"/>
            <a:ext cx="10758196" cy="4023360"/>
          </a:xfrm>
        </p:spPr>
        <p:txBody>
          <a:bodyPr>
            <a:normAutofit/>
          </a:bodyPr>
          <a:lstStyle/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Προσομοίωση δικτύου με την χρήση του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simulator NS-3.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Κύριοι στόχοι της εργασίας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: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1)</a:t>
            </a:r>
            <a:r>
              <a:rPr lang="en-US" dirty="0"/>
              <a:t> </a:t>
            </a:r>
            <a:r>
              <a:rPr lang="el-GR" dirty="0"/>
              <a:t>Προσομοίωση μιας απλής σύνδεσης σημείου-προς-σημείο μεταξύ δύο κόμβων,  με προϋπόθεση η  μετάδοση να γίνει με την τεχνική του </a:t>
            </a:r>
            <a:r>
              <a:rPr lang="en-US" dirty="0"/>
              <a:t>UDP-echo (</a:t>
            </a:r>
            <a:r>
              <a:rPr lang="el-GR" dirty="0"/>
              <a:t>«</a:t>
            </a:r>
            <a:r>
              <a:rPr lang="en-GB" dirty="0"/>
              <a:t>a process for testing network connectivity and measuring response time by sending a UDP packet to a 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destination</a:t>
            </a:r>
            <a:r>
              <a:rPr lang="en-GB" dirty="0"/>
              <a:t> and waiting for the destination to send it back</a:t>
            </a:r>
            <a:r>
              <a:rPr lang="el-GR" dirty="0"/>
              <a:t>» ).</a:t>
            </a: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2) </a:t>
            </a:r>
            <a:r>
              <a:rPr lang="el-GR" dirty="0"/>
              <a:t>Προσομοίωση ενός πιο πολύπλοκου δικτύου με δυναμική δρομολόγηση, δημιουργία ροών πακέτων, εισαγωγή αποτυχίας συνδέσεων και ανάλυση απώλειας πακέτων.</a:t>
            </a:r>
          </a:p>
          <a:p>
            <a:pPr marL="173736" lvl="1" indent="0" algn="just">
              <a:buNone/>
            </a:pPr>
            <a:endParaRPr lang="el-GR" dirty="0"/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83BE075-A1BA-4528-A907-BE8925441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16" y="547893"/>
            <a:ext cx="11167872" cy="1499616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(1)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46792E-DE04-4CE2-B5D8-B785F3F8C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516" y="1900996"/>
            <a:ext cx="10051148" cy="254488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l-GR" sz="2000" dirty="0"/>
              <a:t>Χρησιμοποιήσαμε τα εξής εργαλεία για την υλοποίηση της άσκησης :</a:t>
            </a:r>
            <a:endParaRPr lang="en-US" sz="2000" dirty="0"/>
          </a:p>
          <a:p>
            <a:pPr marL="0" indent="0">
              <a:buNone/>
            </a:pPr>
            <a:br>
              <a:rPr lang="el-GR" sz="2000" dirty="0"/>
            </a:br>
            <a:endParaRPr lang="el-GR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VMware Workstation Pro</a:t>
            </a:r>
            <a:r>
              <a:rPr lang="el-GR" sz="2000" dirty="0"/>
              <a:t> για το </a:t>
            </a:r>
            <a:r>
              <a:rPr lang="en-US" sz="2000" dirty="0"/>
              <a:t>Linux VM.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Ubuntu Linux distribution.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Discord </a:t>
            </a:r>
            <a:r>
              <a:rPr lang="el-GR" sz="2000" dirty="0"/>
              <a:t>και </a:t>
            </a:r>
            <a:r>
              <a:rPr lang="en-US" sz="2000" dirty="0"/>
              <a:t>GitHub </a:t>
            </a:r>
            <a:r>
              <a:rPr lang="el-GR" sz="2000" dirty="0"/>
              <a:t>για την επικοινωνία και τον συγχρονισμό των μελών της ομάδας.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Draw.io </a:t>
            </a:r>
            <a:r>
              <a:rPr lang="el-GR" sz="2000" dirty="0"/>
              <a:t>για την υλοποίηση σχεδιαγραμμάτων/τοπολογίας</a:t>
            </a:r>
            <a:r>
              <a:rPr lang="el-G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FFC7C8-3E1A-1BC4-1438-EB7E3E40A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828" y="4559485"/>
            <a:ext cx="2010569" cy="2010569"/>
          </a:xfrm>
          <a:prstGeom prst="rect">
            <a:avLst/>
          </a:prstGeom>
        </p:spPr>
      </p:pic>
      <p:pic>
        <p:nvPicPr>
          <p:cNvPr id="7" name="Picture 6" descr="A blue and orange square logo&#10;&#10;AI-generated content may be incorrect.">
            <a:extLst>
              <a:ext uri="{FF2B5EF4-FFF2-40B4-BE49-F238E27FC236}">
                <a16:creationId xmlns:a16="http://schemas.microsoft.com/office/drawing/2014/main" id="{C9DE2D26-6AFA-0109-C2F1-F425F3EA2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79448"/>
            <a:ext cx="2119364" cy="2119364"/>
          </a:xfrm>
          <a:prstGeom prst="rect">
            <a:avLst/>
          </a:prstGeom>
        </p:spPr>
      </p:pic>
      <p:pic>
        <p:nvPicPr>
          <p:cNvPr id="9" name="Picture 8" descr="A logo with a circle and a circle with a circle and a circle with a circle with a circle with a circle with a circle with a circle with a circle with a circle with a circle with&#10;&#10;AI-generated content may be incorrect.">
            <a:extLst>
              <a:ext uri="{FF2B5EF4-FFF2-40B4-BE49-F238E27FC236}">
                <a16:creationId xmlns:a16="http://schemas.microsoft.com/office/drawing/2014/main" id="{A059D40E-1E60-0DBC-1A62-414710D2E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994" y="4857097"/>
            <a:ext cx="2319248" cy="1641715"/>
          </a:xfrm>
          <a:prstGeom prst="rect">
            <a:avLst/>
          </a:prstGeom>
        </p:spPr>
      </p:pic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6213963-0CDF-A7D0-0F23-FA0301AA6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932" y="4857097"/>
            <a:ext cx="2347674" cy="1320567"/>
          </a:xfrm>
          <a:prstGeom prst="rect">
            <a:avLst/>
          </a:prstGeom>
        </p:spPr>
      </p:pic>
      <p:pic>
        <p:nvPicPr>
          <p:cNvPr id="4" name="Εικόνα 3">
            <a:extLst>
              <a:ext uri="{FF2B5EF4-FFF2-40B4-BE49-F238E27FC236}">
                <a16:creationId xmlns:a16="http://schemas.microsoft.com/office/drawing/2014/main" id="{2A35B6A1-721A-4FBA-8F36-F670825F98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722" y="4330949"/>
            <a:ext cx="2347674" cy="228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0311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682E-C30A-EC5F-F169-76ED3D8D9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A65C177-78EC-E045-063E-270C7A4F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492" y="678522"/>
            <a:ext cx="10835080" cy="1278615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</a:t>
            </a:r>
            <a:r>
              <a:rPr lang="el-GR" sz="4800" b="1" dirty="0"/>
              <a:t>2</a:t>
            </a:r>
            <a:r>
              <a:rPr lang="en-US" sz="4800" b="1" dirty="0"/>
              <a:t>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1F1056E-B878-8B1C-3420-F817646D1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" y="2512468"/>
            <a:ext cx="6567466" cy="3771791"/>
          </a:xfrm>
        </p:spPr>
        <p:txBody>
          <a:bodyPr>
            <a:no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Δημιουργία ενός repository στο </a:t>
            </a:r>
            <a:r>
              <a:rPr lang="en-US" dirty="0"/>
              <a:t>GitHub</a:t>
            </a:r>
            <a:r>
              <a:rPr lang="el-GR" dirty="0"/>
              <a:t>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Μελέτη  της βιβλιογραφίας του </a:t>
            </a:r>
            <a:r>
              <a:rPr lang="en-US" dirty="0"/>
              <a:t>NS-3</a:t>
            </a:r>
            <a:r>
              <a:rPr lang="el-GR" dirty="0"/>
              <a:t> και πιο συγκεκριμένα του </a:t>
            </a:r>
            <a:r>
              <a:rPr lang="en-US" dirty="0"/>
              <a:t>“ns-3 tutorial” </a:t>
            </a:r>
            <a:r>
              <a:rPr lang="el-GR" dirty="0"/>
              <a:t>για απλά παραδείγματα χρήσης του νέου αυτού εργαλείου.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Αναζήτηση στο </a:t>
            </a:r>
            <a:r>
              <a:rPr lang="en-US" dirty="0"/>
              <a:t>“ns-3 Model Library” </a:t>
            </a:r>
            <a:r>
              <a:rPr lang="el-GR" dirty="0"/>
              <a:t>για διασαφήνιση   σχετικών  εννοιών  (</a:t>
            </a:r>
            <a:r>
              <a:rPr lang="en-US" dirty="0"/>
              <a:t>flow monitoring, internet models, etc</a:t>
            </a:r>
            <a:r>
              <a:rPr lang="el-GR" dirty="0"/>
              <a:t>.</a:t>
            </a:r>
            <a:r>
              <a:rPr lang="en-US" dirty="0"/>
              <a:t>)</a:t>
            </a:r>
            <a:r>
              <a:rPr lang="el-GR" dirty="0"/>
              <a:t> που αναφέρονταν στην εργασία.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Ως γλώσσα προγραμματισμού επιλέχθηκε η </a:t>
            </a:r>
            <a:r>
              <a:rPr lang="en-US" dirty="0"/>
              <a:t>C++.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  <a:p>
            <a:pPr marL="0" indent="0" algn="just">
              <a:buNone/>
            </a:pPr>
            <a:endParaRPr lang="el-GR" dirty="0"/>
          </a:p>
          <a:p>
            <a:pPr marL="0" indent="0">
              <a:buNone/>
            </a:pPr>
            <a:br>
              <a:rPr lang="en-US" dirty="0"/>
            </a:br>
            <a:endParaRPr lang="el-G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BFED06-2B00-5AAC-F37F-EE97C2DA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007" y="2454009"/>
            <a:ext cx="3797565" cy="3432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9383505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1">
            <a:extLst>
              <a:ext uri="{FF2B5EF4-FFF2-40B4-BE49-F238E27FC236}">
                <a16:creationId xmlns:a16="http://schemas.microsoft.com/office/drawing/2014/main" id="{D774839F-51E4-E46D-4EE5-1DF8B9BC8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839755"/>
            <a:ext cx="9720072" cy="899830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Δεδομενα του ΕΡΩΤΗΜΑτοσ 1</a:t>
            </a:r>
          </a:p>
        </p:txBody>
      </p:sp>
      <p:sp>
        <p:nvSpPr>
          <p:cNvPr id="5" name="Θέση περιεχομένου 2">
            <a:extLst>
              <a:ext uri="{FF2B5EF4-FFF2-40B4-BE49-F238E27FC236}">
                <a16:creationId xmlns:a16="http://schemas.microsoft.com/office/drawing/2014/main" id="{784F8DDC-B6BC-8339-BE2C-10A96FCD8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033" y="2317531"/>
            <a:ext cx="11105199" cy="34794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l-GR" dirty="0"/>
              <a:t>Πιο συγκεκριμένα για το πρώτο ερώτημα της εργασίας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1</a:t>
            </a:r>
            <a:r>
              <a:rPr lang="en-US" sz="2000" dirty="0"/>
              <a:t>.</a:t>
            </a:r>
            <a:r>
              <a:rPr lang="el-GR" sz="2000" dirty="0"/>
              <a:t>Ορίζονται τα χαρακτηριστικά της σύνδεσης και αντιστοιχίζονται διευθύνσεις τύπου ipv4 στις διεπαφές των κόμβων.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2</a:t>
            </a:r>
            <a:r>
              <a:rPr lang="en-US" sz="2000" dirty="0"/>
              <a:t>.</a:t>
            </a:r>
            <a:r>
              <a:rPr lang="el-GR" sz="2000" dirty="0"/>
              <a:t> </a:t>
            </a:r>
            <a:r>
              <a:rPr lang="en-US" sz="2000" dirty="0"/>
              <a:t>Y</a:t>
            </a:r>
            <a:r>
              <a:rPr lang="el-GR" sz="2000" dirty="0"/>
              <a:t>λοποιήθηκαν δύο servers UDP echo στον κόμβο 1 σε διαφορετικές θύρες με δημιουργία δύο πελατών  UDP echo στον κόμβο 0. 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3.</a:t>
            </a:r>
            <a:r>
              <a:rPr lang="en-US" sz="2000" dirty="0"/>
              <a:t>T</a:t>
            </a:r>
            <a:r>
              <a:rPr lang="el-GR" sz="2000" dirty="0"/>
              <a:t>έλος, εκτελέστηκε η προσομοίωση και καταγράφτηκαν τα δεδομένα ροής με χρήση του </a:t>
            </a:r>
            <a:r>
              <a:rPr lang="en-US" sz="2000" dirty="0"/>
              <a:t>module Flow-Monitoring</a:t>
            </a:r>
            <a:r>
              <a:rPr lang="el-GR" sz="2000" dirty="0"/>
              <a:t> (πακέτα, καθυστέρηση, εύρος ζώνης).</a:t>
            </a:r>
          </a:p>
        </p:txBody>
      </p:sp>
    </p:spTree>
    <p:extLst>
      <p:ext uri="{BB962C8B-B14F-4D97-AF65-F5344CB8AC3E}">
        <p14:creationId xmlns:p14="http://schemas.microsoft.com/office/powerpoint/2010/main" val="3077155193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Τίτλος 1">
            <a:extLst>
              <a:ext uri="{FF2B5EF4-FFF2-40B4-BE49-F238E27FC236}">
                <a16:creationId xmlns:a16="http://schemas.microsoft.com/office/drawing/2014/main" id="{FB84AE28-5848-E665-6D72-8FA26E4F4EA0}"/>
              </a:ext>
            </a:extLst>
          </p:cNvPr>
          <p:cNvSpPr txBox="1">
            <a:spLocks/>
          </p:cNvSpPr>
          <p:nvPr/>
        </p:nvSpPr>
        <p:spPr>
          <a:xfrm>
            <a:off x="1045029" y="627529"/>
            <a:ext cx="9453318" cy="112363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r>
              <a:rPr lang="el-GR" sz="4800" b="1" dirty="0"/>
              <a:t>Υλοποιηση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6" name="Θέση περιεχομένου 2">
            <a:extLst>
              <a:ext uri="{FF2B5EF4-FFF2-40B4-BE49-F238E27FC236}">
                <a16:creationId xmlns:a16="http://schemas.microsoft.com/office/drawing/2014/main" id="{1BD6B2D5-E19E-AB53-1C03-C2A591F0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9" y="2155371"/>
            <a:ext cx="10888824" cy="4198776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Μέσα στον φάκελο</a:t>
            </a:r>
            <a:r>
              <a:rPr lang="en-US" dirty="0"/>
              <a:t> scratch </a:t>
            </a:r>
            <a:r>
              <a:rPr lang="el-GR" dirty="0"/>
              <a:t>του </a:t>
            </a:r>
            <a:r>
              <a:rPr lang="en-US" dirty="0"/>
              <a:t>NS3 </a:t>
            </a:r>
            <a:r>
              <a:rPr lang="el-GR" dirty="0"/>
              <a:t>υλοποιήθηκε η λύση του 1</a:t>
            </a:r>
            <a:r>
              <a:rPr lang="el-GR" baseline="30000" dirty="0"/>
              <a:t>ου</a:t>
            </a:r>
            <a:r>
              <a:rPr lang="el-GR" dirty="0"/>
              <a:t> ερωτήματος στο αρχείο </a:t>
            </a:r>
            <a:r>
              <a:rPr lang="en-US" dirty="0"/>
              <a:t>mypoint.cc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Έγινε χρήση των </a:t>
            </a:r>
            <a:r>
              <a:rPr lang="en-US" dirty="0"/>
              <a:t>module:</a:t>
            </a:r>
            <a:r>
              <a:rPr lang="el-GR" dirty="0"/>
              <a:t> </a:t>
            </a:r>
            <a:r>
              <a:rPr lang="en-US" dirty="0"/>
              <a:t>flow- monitoring -</a:t>
            </a:r>
            <a:r>
              <a:rPr lang="en-US" dirty="0" err="1"/>
              <a:t>module.h</a:t>
            </a:r>
            <a:r>
              <a:rPr lang="en-US" dirty="0"/>
              <a:t> , point-to-point-</a:t>
            </a:r>
            <a:r>
              <a:rPr lang="en-US" dirty="0" err="1"/>
              <a:t>module.h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παραμετροποίηση με τις παραδοχές </a:t>
            </a:r>
            <a:r>
              <a:rPr lang="en-US" dirty="0"/>
              <a:t>:</a:t>
            </a:r>
            <a:endParaRPr lang="el-GR" dirty="0"/>
          </a:p>
          <a:p>
            <a:pPr marL="173736" lvl="1" indent="0" algn="just">
              <a:buNone/>
            </a:pPr>
            <a:r>
              <a:rPr lang="en-US" dirty="0"/>
              <a:t>  Data Rate = 5Mbps</a:t>
            </a:r>
          </a:p>
          <a:p>
            <a:pPr marL="173736" lvl="1" indent="0" algn="just">
              <a:buNone/>
            </a:pPr>
            <a:r>
              <a:rPr lang="en-US" dirty="0"/>
              <a:t>  Delay = 6ms</a:t>
            </a:r>
          </a:p>
          <a:p>
            <a:pPr marL="173736" lvl="1" indent="0" algn="just">
              <a:buNone/>
            </a:pPr>
            <a:r>
              <a:rPr lang="en-US" dirty="0"/>
              <a:t>  Packet Size = 1024 bytes</a:t>
            </a:r>
          </a:p>
          <a:p>
            <a:pPr marL="173736" lvl="1" indent="0" algn="just">
              <a:buNone/>
            </a:pPr>
            <a:r>
              <a:rPr lang="en-US" dirty="0"/>
              <a:t>  Max Packets = 6</a:t>
            </a:r>
          </a:p>
          <a:p>
            <a:pPr marL="173736" lvl="1" indent="0" algn="just">
              <a:buNone/>
            </a:pPr>
            <a:r>
              <a:rPr lang="en-US" dirty="0"/>
              <a:t>  Simulation Time = 11.0s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</p:txBody>
      </p:sp>
      <p:pic>
        <p:nvPicPr>
          <p:cNvPr id="2" name="Εικόνα 1">
            <a:extLst>
              <a:ext uri="{FF2B5EF4-FFF2-40B4-BE49-F238E27FC236}">
                <a16:creationId xmlns:a16="http://schemas.microsoft.com/office/drawing/2014/main" id="{72465A12-DE92-430F-83D8-A8CA456E2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884" y="4396609"/>
            <a:ext cx="470535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95406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356E8B7-F79F-49D2-A78C-DB5794033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7" y="979714"/>
            <a:ext cx="10415203" cy="1105118"/>
          </a:xfrm>
        </p:spPr>
        <p:txBody>
          <a:bodyPr anchor="ctr">
            <a:noAutofit/>
          </a:bodyPr>
          <a:lstStyle/>
          <a:p>
            <a:r>
              <a:rPr lang="el-GR" sz="4800" b="1" dirty="0"/>
              <a:t>αποτελεσματα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4EFDE80-4506-46C6-AB1D-895B45782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7" y="2579914"/>
            <a:ext cx="4754880" cy="348981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Εκτελώντας την προσομοίωση </a:t>
            </a:r>
            <a:r>
              <a:rPr lang="en-US" dirty="0"/>
              <a:t>point to point </a:t>
            </a:r>
            <a:r>
              <a:rPr lang="el-GR" dirty="0"/>
              <a:t>σύνδεσης στο </a:t>
            </a:r>
            <a:r>
              <a:rPr lang="en-US" dirty="0"/>
              <a:t>Ubuntu</a:t>
            </a:r>
            <a:r>
              <a:rPr lang="el-GR" dirty="0"/>
              <a:t> σύστημα μας, προέκυψαν τα εξής δεδομένα :</a:t>
            </a:r>
          </a:p>
          <a:p>
            <a:pPr marL="0" indent="0">
              <a:buNone/>
            </a:pPr>
            <a:endParaRPr lang="el-GR" u="sng" dirty="0"/>
          </a:p>
        </p:txBody>
      </p:sp>
      <p:pic>
        <p:nvPicPr>
          <p:cNvPr id="5" name="Picture 4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4D4C9CBC-682B-AA87-BB61-FF4351371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694" y="2184449"/>
            <a:ext cx="3979506" cy="41249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4525112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1C8A6D00-8650-44C1-ADBF-B2BBD782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093" y="870452"/>
            <a:ext cx="9720072" cy="653003"/>
          </a:xfrm>
        </p:spPr>
        <p:txBody>
          <a:bodyPr>
            <a:normAutofit fontScale="90000"/>
          </a:bodyPr>
          <a:lstStyle/>
          <a:p>
            <a:r>
              <a:rPr lang="el-GR" b="1" dirty="0"/>
              <a:t>ΔΕΔΟΜΕΝΑ ΤΟυ ΕΡΩΤΗΜΑτοσ 2</a:t>
            </a:r>
            <a:endParaRPr lang="el-G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94425-F47D-8652-2A48-D2A9D02F106D}"/>
              </a:ext>
            </a:extLst>
          </p:cNvPr>
          <p:cNvSpPr txBox="1"/>
          <p:nvPr/>
        </p:nvSpPr>
        <p:spPr>
          <a:xfrm>
            <a:off x="723201" y="1867351"/>
            <a:ext cx="11097088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Επιλέξαμε την δυναμική δρομολόγηση OLSR (Optimized Link State </a:t>
            </a:r>
            <a:r>
              <a:rPr lang="el-GR" altLang="el-GR" sz="17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Routing</a:t>
            </a:r>
            <a:r>
              <a:rPr lang="el-GR" altLang="el-GR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 Το OLSR ανταποκρίνεται γρήγορα σε αλλαγές της τοπολογίας και υποστηρίζεται πλήρως στο περιβάλλον του ns-3.</a:t>
            </a:r>
            <a:endParaRPr lang="en-US" altLang="el-GR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altLang="el-GR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Επιπλέον,</a:t>
            </a:r>
            <a:r>
              <a:rPr lang="en-US" altLang="el-GR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altLang="el-GR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συμπεριλάβαμε τις εξής βιβλιοθήκες: </a:t>
            </a:r>
            <a:r>
              <a:rPr lang="en-US" altLang="el-GR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 </a:t>
            </a:r>
            <a:r>
              <a:rPr lang="en-US" altLang="el-GR" sz="17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olsr-helper.h</a:t>
            </a:r>
            <a:r>
              <a:rPr lang="en-US" altLang="el-GR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ns3/applications-</a:t>
            </a:r>
            <a:r>
              <a:rPr lang="en-US" altLang="el-GR" sz="17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module.h</a:t>
            </a:r>
            <a:r>
              <a:rPr lang="en-US" altLang="el-GR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br>
              <a:rPr lang="en-US" altLang="el-GR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el-GR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internet-</a:t>
            </a:r>
            <a:r>
              <a:rPr lang="en-US" altLang="el-GR" sz="17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module.h</a:t>
            </a:r>
            <a:r>
              <a:rPr lang="en-US" altLang="el-GR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l-GR" altLang="el-GR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l-GR" altLang="el-GR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Το </a:t>
            </a:r>
            <a:r>
              <a:rPr lang="en-US" altLang="el-GR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internet stack </a:t>
            </a:r>
            <a:r>
              <a:rPr lang="el-GR" altLang="el-GR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παρέχει τα βασικά επίπεδα πρωτοκόλλων δικτύου που επιτρέπουν την επικοινωνία μεταξύ των κόμβων και λειτουργεί ως σύστημα λογισμικού που υποστηρίζει την αποστολή, λήψη και επεξεργασία πακέτων.</a:t>
            </a:r>
            <a:endParaRPr lang="en-US" altLang="el-GR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lang="el-GR" altLang="el-GR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Το </a:t>
            </a:r>
            <a:r>
              <a:rPr lang="en-US" altLang="el-GR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packet sink </a:t>
            </a:r>
            <a:r>
              <a:rPr lang="el-GR" altLang="el-GR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που λαμβάνει εισερχόμενα πακέτα και χρησιμοποιείται για τη μέτρηση της δικτυακής κίνησης και της επιτυχούς παράδοσης πακέτων.</a:t>
            </a:r>
            <a:endParaRPr lang="en-US" altLang="el-GR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l-GR" altLang="el-GR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Το </a:t>
            </a:r>
            <a:r>
              <a:rPr lang="en-US" altLang="el-GR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warm up phase </a:t>
            </a:r>
            <a:r>
              <a:rPr lang="el-GR" altLang="el-GR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είναι μια χρονική περίοδος κατά την οποία οι μετρήσεις αγνοούνται σκόπιμα, ώστε να δοθεί χρόνος στο σύστημα να σταθεροποιήσει τους πίνακες δρομολόγησης, τις ουρές και τα πρότυπα κίνησης πριν ξεκινήσει η συλλογή ακριβών δεδομένων απόδοσης.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584059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40B5DCF-D7F8-4FA1-B6A2-C54F072B9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ΥΛΟΠΟΙΗΣΗ ΤΟΥ ΕΡΩΤΗΜΑΤΟΣ 2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26EC1D-ADB3-40C8-9BDF-B44BD50ABE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466" y="2249294"/>
            <a:ext cx="9720073" cy="4023360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Όσον αφορά το δεύτερο ερώτημα της εργασίας, η τοπολογία που δημιουργήθηκε είναι η εξής 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l-GR" dirty="0"/>
          </a:p>
        </p:txBody>
      </p:sp>
      <p:sp>
        <p:nvSpPr>
          <p:cNvPr id="5" name="AutoShape 4" descr="image.png">
            <a:extLst>
              <a:ext uri="{FF2B5EF4-FFF2-40B4-BE49-F238E27FC236}">
                <a16:creationId xmlns:a16="http://schemas.microsoft.com/office/drawing/2014/main" id="{9EC8DA17-04F4-4836-B00D-8C2179B2E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l-GR"/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9107478B-F89B-47FA-B8F9-EAC2BCD55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024975"/>
            <a:ext cx="3669102" cy="324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45880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E5365960-9D8F-4319-A962-7839A7D1F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904" y="585216"/>
            <a:ext cx="11248556" cy="1398085"/>
          </a:xfrm>
        </p:spPr>
        <p:txBody>
          <a:bodyPr/>
          <a:lstStyle/>
          <a:p>
            <a:r>
              <a:rPr lang="el-GR" b="1" dirty="0"/>
              <a:t>ΑΠΟΤΕΛΕΣΜΑΤΑ ΤΟΥ ΕΡΩΤΗΜΑΤΟΣ 2(1)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1D1334D3-3BC5-4A44-90E5-26EDD7F3FC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199811" cy="740979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Με</a:t>
            </a:r>
            <a:r>
              <a:rPr lang="en-US" dirty="0"/>
              <a:t> delay=5ms </a:t>
            </a:r>
            <a:r>
              <a:rPr lang="el-GR" dirty="0"/>
              <a:t>στα </a:t>
            </a:r>
            <a:r>
              <a:rPr lang="en-US" dirty="0"/>
              <a:t> node devices 0-1 </a:t>
            </a:r>
            <a:r>
              <a:rPr lang="el-GR" dirty="0"/>
              <a:t>και </a:t>
            </a:r>
            <a:br>
              <a:rPr lang="el-GR" dirty="0"/>
            </a:br>
            <a:r>
              <a:rPr lang="fr-FR" b="1" dirty="0"/>
              <a:t>double</a:t>
            </a:r>
            <a:r>
              <a:rPr lang="fr-FR" dirty="0"/>
              <a:t> </a:t>
            </a:r>
            <a:r>
              <a:rPr lang="fr-FR" b="1" dirty="0"/>
              <a:t>failDownAt = 2.0</a:t>
            </a:r>
            <a:r>
              <a:rPr lang="fr-FR" dirty="0"/>
              <a:t>;</a:t>
            </a:r>
            <a:r>
              <a:rPr lang="el-GR" dirty="0"/>
              <a:t> </a:t>
            </a:r>
            <a:r>
              <a:rPr lang="fr-FR" b="1" dirty="0"/>
              <a:t>double failUpAt   = 3.0</a:t>
            </a:r>
            <a:r>
              <a:rPr lang="fr-FR" dirty="0"/>
              <a:t>;</a:t>
            </a:r>
            <a:r>
              <a:rPr lang="el-GR" dirty="0"/>
              <a:t> έχουμε </a:t>
            </a:r>
            <a:r>
              <a:rPr lang="en-US" dirty="0"/>
              <a:t>:</a:t>
            </a:r>
          </a:p>
          <a:p>
            <a:endParaRPr lang="el-GR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DDA09587-AC8A-42DB-BB6F-871EFA108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7" y="3329678"/>
            <a:ext cx="6169599" cy="31846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FE7DF0-34E2-C0A5-1E9E-80484AC29557}"/>
              </a:ext>
            </a:extLst>
          </p:cNvPr>
          <p:cNvSpPr txBox="1"/>
          <p:nvPr/>
        </p:nvSpPr>
        <p:spPr>
          <a:xfrm>
            <a:off x="8146937" y="4480513"/>
            <a:ext cx="341811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b="1" dirty="0">
                <a:solidFill>
                  <a:srgbClr val="FF0000"/>
                </a:solidFill>
              </a:rPr>
              <a:t>Λέω για εδώ να βρούμε </a:t>
            </a:r>
            <a:br>
              <a:rPr lang="el-GR" b="1" dirty="0">
                <a:solidFill>
                  <a:srgbClr val="FF0000"/>
                </a:solidFill>
              </a:rPr>
            </a:br>
            <a:r>
              <a:rPr lang="el-GR" b="1" dirty="0">
                <a:solidFill>
                  <a:srgbClr val="FF0000"/>
                </a:solidFill>
              </a:rPr>
              <a:t>ένα καλύτερο παράδειγμα να </a:t>
            </a:r>
            <a:br>
              <a:rPr lang="el-GR" b="1" dirty="0">
                <a:solidFill>
                  <a:srgbClr val="FF0000"/>
                </a:solidFill>
              </a:rPr>
            </a:br>
            <a:r>
              <a:rPr lang="el-GR" b="1" dirty="0">
                <a:solidFill>
                  <a:srgbClr val="FF0000"/>
                </a:solidFill>
              </a:rPr>
              <a:t>μην χάνονται πακέτα και να </a:t>
            </a:r>
            <a:br>
              <a:rPr lang="el-GR" b="1" dirty="0">
                <a:solidFill>
                  <a:srgbClr val="FF0000"/>
                </a:solidFill>
              </a:rPr>
            </a:br>
            <a:r>
              <a:rPr lang="el-GR" b="1" dirty="0">
                <a:solidFill>
                  <a:srgbClr val="FF0000"/>
                </a:solidFill>
              </a:rPr>
              <a:t>τσεκάρουμε ότι όλα λειτουργούν </a:t>
            </a:r>
            <a:br>
              <a:rPr lang="en-US" b="1" dirty="0">
                <a:solidFill>
                  <a:srgbClr val="FF0000"/>
                </a:solidFill>
              </a:rPr>
            </a:br>
            <a:r>
              <a:rPr lang="en-US" b="1" dirty="0">
                <a:solidFill>
                  <a:srgbClr val="FF0000"/>
                </a:solidFill>
              </a:rPr>
              <a:t>like they should be!</a:t>
            </a:r>
          </a:p>
        </p:txBody>
      </p:sp>
    </p:spTree>
    <p:extLst>
      <p:ext uri="{BB962C8B-B14F-4D97-AF65-F5344CB8AC3E}">
        <p14:creationId xmlns:p14="http://schemas.microsoft.com/office/powerpoint/2010/main" val="3034707825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62AF1-DEAC-ACCB-2EB0-FFEC8680A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7D6E0E0-263A-1B94-E1DA-4278AC92A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2(2)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7D1A746-4021-C534-26B8-E34D2DC5FB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050039" cy="961697"/>
          </a:xfrm>
        </p:spPr>
        <p:txBody>
          <a:bodyPr>
            <a:normAutofit/>
          </a:bodyPr>
          <a:lstStyle/>
          <a:p>
            <a:r>
              <a:rPr lang="el-GR" dirty="0"/>
              <a:t>Με </a:t>
            </a:r>
            <a:r>
              <a:rPr lang="en-US" dirty="0"/>
              <a:t>delay=</a:t>
            </a:r>
            <a:r>
              <a:rPr lang="el-GR" dirty="0"/>
              <a:t>2</a:t>
            </a:r>
            <a:r>
              <a:rPr lang="en-US" dirty="0"/>
              <a:t>ms </a:t>
            </a:r>
            <a:r>
              <a:rPr lang="el-GR" dirty="0"/>
              <a:t>στα  </a:t>
            </a:r>
            <a:r>
              <a:rPr lang="en-US" dirty="0"/>
              <a:t>node devices 0-1 </a:t>
            </a:r>
            <a:r>
              <a:rPr lang="el-GR" dirty="0"/>
              <a:t>και </a:t>
            </a:r>
            <a:br>
              <a:rPr lang="el-GR" dirty="0"/>
            </a:br>
            <a:r>
              <a:rPr lang="en-US" b="1" dirty="0"/>
              <a:t>double failDownAt = </a:t>
            </a:r>
            <a:r>
              <a:rPr lang="el-GR" b="1" dirty="0"/>
              <a:t>8</a:t>
            </a:r>
            <a:r>
              <a:rPr lang="en-US" b="1" dirty="0"/>
              <a:t>.0; double</a:t>
            </a:r>
            <a:r>
              <a:rPr lang="en-US" dirty="0"/>
              <a:t> </a:t>
            </a:r>
            <a:r>
              <a:rPr lang="en-US" b="1" dirty="0"/>
              <a:t>failUpAt</a:t>
            </a:r>
            <a:r>
              <a:rPr lang="el-GR" b="1" dirty="0"/>
              <a:t> </a:t>
            </a:r>
            <a:r>
              <a:rPr lang="en-US" b="1" dirty="0"/>
              <a:t>= </a:t>
            </a:r>
            <a:r>
              <a:rPr lang="el-GR" b="1" dirty="0"/>
              <a:t>6</a:t>
            </a:r>
            <a:r>
              <a:rPr lang="en-US" b="1" dirty="0"/>
              <a:t>.0; </a:t>
            </a:r>
            <a:r>
              <a:rPr lang="el-GR" dirty="0"/>
              <a:t>έχουμε :</a:t>
            </a:r>
          </a:p>
          <a:p>
            <a:endParaRPr lang="en-US" dirty="0"/>
          </a:p>
        </p:txBody>
      </p:sp>
      <p:pic>
        <p:nvPicPr>
          <p:cNvPr id="5" name="Θέση περιεχομένου 4">
            <a:extLst>
              <a:ext uri="{FF2B5EF4-FFF2-40B4-BE49-F238E27FC236}">
                <a16:creationId xmlns:a16="http://schemas.microsoft.com/office/drawing/2014/main" id="{D11F0DD8-4464-A6B8-A74D-0875BF51EA6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024126" y="3429000"/>
            <a:ext cx="5849639" cy="2843259"/>
          </a:xfrm>
          <a:prstGeom prst="rect">
            <a:avLst/>
          </a:prstGeom>
        </p:spPr>
      </p:pic>
      <p:sp>
        <p:nvSpPr>
          <p:cNvPr id="6" name="Ορθογώνιο 5">
            <a:extLst>
              <a:ext uri="{FF2B5EF4-FFF2-40B4-BE49-F238E27FC236}">
                <a16:creationId xmlns:a16="http://schemas.microsoft.com/office/drawing/2014/main" id="{DF5E7B91-521C-840F-200F-34F250DCA13C}"/>
              </a:ext>
            </a:extLst>
          </p:cNvPr>
          <p:cNvSpPr/>
          <p:nvPr/>
        </p:nvSpPr>
        <p:spPr>
          <a:xfrm>
            <a:off x="7099738" y="3849839"/>
            <a:ext cx="4259317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l-GR" dirty="0"/>
              <a:t>Παρατηρούμε επίσης πως το PDR </a:t>
            </a:r>
            <a:r>
              <a:rPr lang="en-US" dirty="0"/>
              <a:t>=</a:t>
            </a:r>
            <a:r>
              <a:rPr lang="el-GR" dirty="0"/>
              <a:t>50% επειδή κάποια πακέτα χάνονται ενώ άλλα έχουν ήδη αρχίσει να δρομολογούνται μέσω της νέας διαδρομής</a:t>
            </a:r>
            <a:r>
              <a:rPr lang="en-US" dirty="0"/>
              <a:t> </a:t>
            </a:r>
            <a:r>
              <a:rPr lang="el-GR" dirty="0"/>
              <a:t>.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(</a:t>
            </a:r>
            <a:r>
              <a:rPr lang="el-GR" b="1" dirty="0">
                <a:solidFill>
                  <a:srgbClr val="FF0000"/>
                </a:solidFill>
              </a:rPr>
              <a:t>Αυτό ισχύει και για το 2 </a:t>
            </a:r>
            <a:r>
              <a:rPr lang="en-US" b="1" dirty="0">
                <a:solidFill>
                  <a:srgbClr val="FF0000"/>
                </a:solidFill>
              </a:rPr>
              <a:t>screenshot! we’ll talk!)</a:t>
            </a:r>
            <a:br>
              <a:rPr lang="en-US" b="1" dirty="0">
                <a:solidFill>
                  <a:srgbClr val="FF0000"/>
                </a:solidFill>
              </a:rPr>
            </a:br>
            <a:r>
              <a:rPr lang="el-GR" b="1" dirty="0">
                <a:solidFill>
                  <a:srgbClr val="FF0000"/>
                </a:solidFill>
              </a:rPr>
              <a:t>να σταθούμε πιο πολύ στην σημασία της αλλαγής του </a:t>
            </a:r>
            <a:r>
              <a:rPr lang="en-US" b="1" dirty="0">
                <a:solidFill>
                  <a:srgbClr val="FF0000"/>
                </a:solidFill>
              </a:rPr>
              <a:t>delay </a:t>
            </a:r>
            <a:r>
              <a:rPr lang="el-GR" b="1" dirty="0">
                <a:solidFill>
                  <a:srgbClr val="FF0000"/>
                </a:solidFill>
              </a:rPr>
              <a:t>λέω εγώ.</a:t>
            </a:r>
            <a:endParaRPr lang="el-GR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3760690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23E0F-817A-A7CC-B5F5-03219ED59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67C5853-3793-1138-66EF-657A081F2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</a:t>
            </a:r>
            <a:r>
              <a:rPr lang="en-US" b="1" dirty="0"/>
              <a:t>3</a:t>
            </a:r>
            <a:r>
              <a:rPr lang="el-GR" b="1" dirty="0"/>
              <a:t>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F60EA03-548E-9D94-5308-C8578BD8D5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050039" cy="961697"/>
          </a:xfrm>
        </p:spPr>
        <p:txBody>
          <a:bodyPr>
            <a:normAutofit/>
          </a:bodyPr>
          <a:lstStyle/>
          <a:p>
            <a:r>
              <a:rPr lang="el-GR" dirty="0"/>
              <a:t>Χρήση του </a:t>
            </a:r>
            <a:r>
              <a:rPr lang="en-US" dirty="0"/>
              <a:t>warm-up phase!</a:t>
            </a:r>
            <a:endParaRPr lang="el-GR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8366C-622C-7125-D484-05F4642D4D20}"/>
              </a:ext>
            </a:extLst>
          </p:cNvPr>
          <p:cNvSpPr txBox="1"/>
          <p:nvPr/>
        </p:nvSpPr>
        <p:spPr>
          <a:xfrm>
            <a:off x="3288494" y="4244195"/>
            <a:ext cx="56150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Screen shot for showing what we have done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863986776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65791-9F55-09CB-C866-3B1699FE2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FC7F9E96-BEAE-B353-9BEE-88962939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</a:t>
            </a:r>
            <a:r>
              <a:rPr lang="en-US" b="1" dirty="0"/>
              <a:t>4</a:t>
            </a:r>
            <a:r>
              <a:rPr lang="el-GR" b="1" dirty="0"/>
              <a:t>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08114C50-3F0F-9504-F66D-9FAB2B7084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050039" cy="961697"/>
          </a:xfrm>
        </p:spPr>
        <p:txBody>
          <a:bodyPr>
            <a:normAutofit/>
          </a:bodyPr>
          <a:lstStyle/>
          <a:p>
            <a:r>
              <a:rPr lang="el-GR" dirty="0"/>
              <a:t>Χρήση του </a:t>
            </a:r>
            <a:r>
              <a:rPr lang="en-US" dirty="0"/>
              <a:t>warm-up phase! </a:t>
            </a:r>
            <a:r>
              <a:rPr lang="el-GR" dirty="0"/>
              <a:t>Σε κάποιο άλλο </a:t>
            </a:r>
            <a:r>
              <a:rPr lang="en-US" dirty="0"/>
              <a:t>Instance!</a:t>
            </a:r>
            <a:endParaRPr lang="el-GR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F7718D-C5F6-1E2D-1546-669E78D251C3}"/>
              </a:ext>
            </a:extLst>
          </p:cNvPr>
          <p:cNvSpPr txBox="1"/>
          <p:nvPr/>
        </p:nvSpPr>
        <p:spPr>
          <a:xfrm>
            <a:off x="3288494" y="4244195"/>
            <a:ext cx="56150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Screen shot for showing what we have done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464990915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C00DAD0-3F5C-4917-A7D5-A3D10C314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anchor="ctr">
            <a:normAutofit/>
          </a:bodyPr>
          <a:lstStyle/>
          <a:p>
            <a:r>
              <a:rPr lang="en-US" b="1" dirty="0"/>
              <a:t>GitHub</a:t>
            </a:r>
            <a:r>
              <a:rPr lang="el-GR" b="1" dirty="0"/>
              <a:t> </a:t>
            </a:r>
            <a:r>
              <a:rPr lang="en-US" b="1" dirty="0"/>
              <a:t>link</a:t>
            </a:r>
            <a:endParaRPr lang="el-GR" b="1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76E9FFE-28CA-03E3-8840-E040B5431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272" y="2964119"/>
            <a:ext cx="5678424" cy="3421249"/>
          </a:xfrm>
          <a:prstGeom prst="rect">
            <a:avLst/>
          </a:prstGeom>
          <a:noFill/>
        </p:spPr>
      </p:pic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6FF4638-58AE-4F9F-BEB5-E0E22CA065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>
            <a:normAutofit/>
          </a:bodyPr>
          <a:lstStyle/>
          <a:p>
            <a:r>
              <a:rPr lang="el-GR" dirty="0"/>
              <a:t>Τα αρχεία του κώδικα καθώς και η</a:t>
            </a:r>
            <a:r>
              <a:rPr lang="en-US" dirty="0"/>
              <a:t> </a:t>
            </a:r>
            <a:r>
              <a:rPr lang="el-GR" dirty="0"/>
              <a:t>παρουσίαση βρίσκονται στο εξής </a:t>
            </a:r>
            <a:r>
              <a:rPr lang="en-US" dirty="0"/>
              <a:t>link: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l-GR" dirty="0"/>
            </a:br>
            <a:r>
              <a:rPr lang="en-US" b="1" dirty="0">
                <a:solidFill>
                  <a:srgbClr val="FF0000"/>
                </a:solidFill>
              </a:rPr>
              <a:t>Na </a:t>
            </a:r>
            <a:r>
              <a:rPr lang="en-US" b="1" dirty="0" err="1">
                <a:solidFill>
                  <a:srgbClr val="FF0000"/>
                </a:solidFill>
              </a:rPr>
              <a:t>valoume</a:t>
            </a:r>
            <a:r>
              <a:rPr lang="en-US" b="1" dirty="0">
                <a:solidFill>
                  <a:srgbClr val="FF0000"/>
                </a:solidFill>
              </a:rPr>
              <a:t> se ola DONE </a:t>
            </a:r>
            <a:r>
              <a:rPr lang="en-US" b="1" dirty="0" err="1">
                <a:solidFill>
                  <a:srgbClr val="FF0000"/>
                </a:solidFill>
              </a:rPr>
              <a:t>lew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egw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ahhahah</a:t>
            </a:r>
            <a:r>
              <a:rPr lang="en-US" b="1" dirty="0">
                <a:solidFill>
                  <a:srgbClr val="FF0000"/>
                </a:solidFill>
              </a:rPr>
              <a:t>! =&gt;</a:t>
            </a:r>
            <a:endParaRPr lang="el-G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8767610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3B5979B-DAA2-4179-A467-7A963AB0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Πηγες</a:t>
            </a:r>
            <a:r>
              <a:rPr lang="en-US" b="1" dirty="0"/>
              <a:t> kai </a:t>
            </a:r>
            <a:r>
              <a:rPr lang="el-GR" b="1" dirty="0"/>
              <a:t>Βιβλιογραφια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2C15E7EE-1AAC-44FA-9CBE-14186AB9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435291"/>
            <a:ext cx="9720073" cy="3547055"/>
          </a:xfrm>
        </p:spPr>
        <p:txBody>
          <a:bodyPr>
            <a:normAutofit fontScale="25000" lnSpcReduction="20000"/>
          </a:bodyPr>
          <a:lstStyle/>
          <a:p>
            <a:r>
              <a:rPr lang="el-GR" sz="4800" b="1" dirty="0"/>
              <a:t>Για το </a:t>
            </a:r>
            <a:r>
              <a:rPr lang="en-US" sz="4800" b="1" dirty="0"/>
              <a:t>setup </a:t>
            </a:r>
            <a:r>
              <a:rPr lang="el-GR" sz="4800" b="1" dirty="0"/>
              <a:t>της εργασίας και το ερώτημα 1</a:t>
            </a:r>
            <a:r>
              <a:rPr lang="en-US" sz="4800" b="1" dirty="0"/>
              <a:t>: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https://www.nsnam.org/documentation/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https://www.nsnam.org/docs/contributing/html/coding-style.html#header-file-includes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https://www.youtube.com/watch?v=Jv_swgcykjQ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https://www.youtube.com/watch?v=2W5mdzQrwXI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https://www.nsnam.org/docs/tutorial/html/building-topologies.html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Για το ερώτημα 2</a:t>
            </a:r>
            <a:r>
              <a:rPr lang="en-US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endParaRPr lang="el-GR" sz="48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8" tooltip="https://ns3-code.com/how-to-begin-implement-network-failover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https://ns3-code.com/how-to-begin-implement-network-failover-in-ns3/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https://ns3-code.com/how-to-begin-implement-dynamic-routing-in-ns3/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dirty="0">
                <a:solidFill>
                  <a:schemeClr val="accent1">
                    <a:lumMod val="75000"/>
                  </a:schemeClr>
                </a:solidFill>
                <a:hlinkClick r:id="rId10" tooltip="https://networksimulationtools.com/how-to-run-netanim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</a:t>
            </a: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10" tooltip="https://networksimulationtools.com/how-to-run-netanim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https://networksimulationtools.com/how-to-run-netanim-in-ns3/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l-GR" sz="26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br>
              <a:rPr lang="en-US" dirty="0"/>
            </a:b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234120531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88A2F88-55C5-4ED1-9541-807C65424763}">
  <ds:schemaRefs>
    <ds:schemaRef ds:uri="71af3243-3dd4-4a8d-8c0d-dd76da1f02a5"/>
    <ds:schemaRef ds:uri="http://purl.org/dc/dcmitype/"/>
    <ds:schemaRef ds:uri="16c05727-aa75-4e4a-9b5f-8a80a1165891"/>
    <ds:schemaRef ds:uri="http://www.w3.org/XML/1998/namespace"/>
    <ds:schemaRef ds:uri="http://schemas.microsoft.com/office/2006/documentManagement/types"/>
    <ds:schemaRef ds:uri="http://purl.org/dc/terms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524</TotalTime>
  <Words>927</Words>
  <Application>Microsoft Office PowerPoint</Application>
  <PresentationFormat>Ευρεία οθόνη</PresentationFormat>
  <Paragraphs>83</Paragraphs>
  <Slides>15</Slides>
  <Notes>2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5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15</vt:i4>
      </vt:variant>
    </vt:vector>
  </HeadingPairs>
  <TitlesOfParts>
    <vt:vector size="21" baseType="lpstr">
      <vt:lpstr>Arial</vt:lpstr>
      <vt:lpstr>Calibri</vt:lpstr>
      <vt:lpstr>Tw Cen MT</vt:lpstr>
      <vt:lpstr>Wingdings</vt:lpstr>
      <vt:lpstr>Wingdings 3</vt:lpstr>
      <vt:lpstr>Ολοκλήρωμα</vt:lpstr>
      <vt:lpstr>ΠΡΟΣΟΜΟΙΩΣΗ ΔΙΚΤΥΟΥ ΜΕ NS-3</vt:lpstr>
      <vt:lpstr>Το Κυριο θεμα της εργασιασ</vt:lpstr>
      <vt:lpstr>ΒΗΜΑΤΑ ΥΛΟΠΟΙΗΣΗΣ ΤΗΣ ΕΡΓΑΣΙΑΣ (1)</vt:lpstr>
      <vt:lpstr>ΒΗΜΑΤΑ ΥΛΟΠΟΙΗΣΗΣ ΤΗΣ ΕΡΓΑΣΙΑΣ (2)</vt:lpstr>
      <vt:lpstr>Δεδομενα του ΕΡΩΤΗΜΑτοσ 1</vt:lpstr>
      <vt:lpstr>Παρουσίαση του PowerPoint</vt:lpstr>
      <vt:lpstr>αποτελεσματα του ερωτηματοσ 1 </vt:lpstr>
      <vt:lpstr>ΔΕΔΟΜΕΝΑ ΤΟυ ΕΡΩΤΗΜΑτοσ 2</vt:lpstr>
      <vt:lpstr>ΥΛΟΠΟΙΗΣΗ ΤΟΥ ΕΡΩΤΗΜΑΤΟΣ 2</vt:lpstr>
      <vt:lpstr>ΑΠΟΤΕΛΕΣΜΑΤΑ ΤΟΥ ΕΡΩΤΗΜΑΤΟΣ 2(1)</vt:lpstr>
      <vt:lpstr>ΑΠΟΤΕΛΕΣΜΑΤΑ ΤΟΥ ΕΡΩΤΗΜΑΤΟΣ 2(2)</vt:lpstr>
      <vt:lpstr>ΑΠΟΤΕΛΕΣΜΑΤΑ ΤΟΥ ΕΡΩΤΗΜΑΤΟΣ 2(3)</vt:lpstr>
      <vt:lpstr>ΑΠΟΤΕΛΕΣΜΑΤΑ ΤΟΥ ΕΡΩΤΗΜΑΤΟΣ 2(4)</vt:lpstr>
      <vt:lpstr>GitHub link</vt:lpstr>
      <vt:lpstr>Πηγες kai Βιβλιογραφια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ΠΡΟΣΟΜΟΙΩΣΗ ΔΙΚΤΥΟΥ ΜΕ NS-3</dc:title>
  <dc:creator>Socrates Gillis</dc:creator>
  <cp:lastModifiedBy>Georgia</cp:lastModifiedBy>
  <cp:revision>179</cp:revision>
  <dcterms:created xsi:type="dcterms:W3CDTF">2025-10-19T19:42:56Z</dcterms:created>
  <dcterms:modified xsi:type="dcterms:W3CDTF">2025-11-18T15:16:55Z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