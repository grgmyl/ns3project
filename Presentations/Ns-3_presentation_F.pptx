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18"/>
  </p:notesMasterIdLst>
  <p:handoutMasterIdLst>
    <p:handoutMasterId r:id="rId19"/>
  </p:handoutMasterIdLst>
  <p:sldIdLst>
    <p:sldId id="256" r:id="rId5"/>
    <p:sldId id="277" r:id="rId6"/>
    <p:sldId id="279" r:id="rId7"/>
    <p:sldId id="282" r:id="rId8"/>
    <p:sldId id="284" r:id="rId9"/>
    <p:sldId id="283" r:id="rId10"/>
    <p:sldId id="278" r:id="rId11"/>
    <p:sldId id="290" r:id="rId12"/>
    <p:sldId id="287" r:id="rId13"/>
    <p:sldId id="286" r:id="rId14"/>
    <p:sldId id="291" r:id="rId15"/>
    <p:sldId id="288" r:id="rId16"/>
    <p:sldId id="281" r:id="rId17"/>
  </p:sldIdLst>
  <p:sldSz cx="12192000" cy="6858000"/>
  <p:notesSz cx="6858000" cy="9144000"/>
  <p:defaultTextStyle>
    <a:defPPr rtl="0">
      <a:defRPr lang="el-gr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204" autoAdjust="0"/>
    <p:restoredTop sz="96395" autoAdjust="0"/>
  </p:normalViewPr>
  <p:slideViewPr>
    <p:cSldViewPr snapToGrid="0">
      <p:cViewPr varScale="1">
        <p:scale>
          <a:sx n="85" d="100"/>
          <a:sy n="85" d="100"/>
        </p:scale>
        <p:origin x="581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8" d="100"/>
          <a:sy n="88" d="100"/>
        </p:scale>
        <p:origin x="3822" y="6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κεφαλίδας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l-GR" dirty="0"/>
          </a:p>
        </p:txBody>
      </p:sp>
      <p:sp>
        <p:nvSpPr>
          <p:cNvPr id="3" name="Θέση ημερομηνίας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F0EC7D35-77BB-4867-BAC6-5C40C37B98F1}" type="datetime1">
              <a:rPr lang="el-GR" smtClean="0"/>
              <a:t>12/11/2025</a:t>
            </a:fld>
            <a:endParaRPr lang="el-GR" dirty="0"/>
          </a:p>
        </p:txBody>
      </p:sp>
      <p:sp>
        <p:nvSpPr>
          <p:cNvPr id="4" name="Θέση υποσέλιδου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l-GR" dirty="0"/>
          </a:p>
        </p:txBody>
      </p:sp>
      <p:sp>
        <p:nvSpPr>
          <p:cNvPr id="5" name="Θέση αριθμού διαφάνειας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FB53ADFC-ABB8-401A-BB24-33FDAFEDCEBD}" type="slidenum">
              <a:rPr lang="el-GR" smtClean="0"/>
              <a:t>‹#›</a:t>
            </a:fld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273324930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κεφαλίδας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l-GR" noProof="0" dirty="0"/>
          </a:p>
        </p:txBody>
      </p:sp>
      <p:sp>
        <p:nvSpPr>
          <p:cNvPr id="3" name="Θέση ημερομηνίας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707ABAE7-72BE-4378-9C66-B300388DE536}" type="datetime1">
              <a:rPr lang="el-GR" noProof="0" smtClean="0"/>
              <a:t>12/11/2025</a:t>
            </a:fld>
            <a:endParaRPr lang="el-GR" noProof="0" dirty="0"/>
          </a:p>
        </p:txBody>
      </p:sp>
      <p:sp>
        <p:nvSpPr>
          <p:cNvPr id="4" name="Θέση εικόνας διαφάνειας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el-GR" noProof="0" dirty="0"/>
          </a:p>
        </p:txBody>
      </p:sp>
      <p:sp>
        <p:nvSpPr>
          <p:cNvPr id="5" name="Θέση σημειώσεων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el-GR" noProof="0" dirty="0"/>
              <a:t>Κάντε κλικ για επεξεργασία των στυλ κειμένου του υποδείγματος</a:t>
            </a:r>
          </a:p>
          <a:p>
            <a:pPr lvl="1" rtl="0"/>
            <a:r>
              <a:rPr lang="el-GR" noProof="0" dirty="0"/>
              <a:t>Δεύτερου επιπέδου</a:t>
            </a:r>
          </a:p>
          <a:p>
            <a:pPr lvl="2" rtl="0"/>
            <a:r>
              <a:rPr lang="el-GR" noProof="0" dirty="0"/>
              <a:t>Τρίτου επιπέδου</a:t>
            </a:r>
          </a:p>
          <a:p>
            <a:pPr lvl="3" rtl="0"/>
            <a:r>
              <a:rPr lang="el-GR" noProof="0" dirty="0"/>
              <a:t>Τέταρτου επιπέδου</a:t>
            </a:r>
          </a:p>
          <a:p>
            <a:pPr lvl="4" rtl="0"/>
            <a:r>
              <a:rPr lang="el-GR" noProof="0" dirty="0"/>
              <a:t>Πέμπτου επιπέδου</a:t>
            </a:r>
          </a:p>
        </p:txBody>
      </p:sp>
      <p:sp>
        <p:nvSpPr>
          <p:cNvPr id="6" name="Θέση υποσέλιδου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l-GR" noProof="0" dirty="0"/>
          </a:p>
        </p:txBody>
      </p:sp>
      <p:sp>
        <p:nvSpPr>
          <p:cNvPr id="7" name="Θέση αριθμού διαφάνειας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4B725628-3A68-42F4-BA86-981817953149}" type="slidenum">
              <a:rPr lang="el-GR" noProof="0" smtClean="0"/>
              <a:t>‹#›</a:t>
            </a:fld>
            <a:endParaRPr lang="el-GR" noProof="0" dirty="0"/>
          </a:p>
        </p:txBody>
      </p:sp>
    </p:spTree>
    <p:extLst>
      <p:ext uri="{BB962C8B-B14F-4D97-AF65-F5344CB8AC3E}">
        <p14:creationId xmlns:p14="http://schemas.microsoft.com/office/powerpoint/2010/main" val="64925861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εικόνας διαφάνειας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Θέση σημειώσεων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l-GR" dirty="0"/>
          </a:p>
        </p:txBody>
      </p:sp>
      <p:sp>
        <p:nvSpPr>
          <p:cNvPr id="4" name="Θέση αριθμού διαφάνειας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4B725628-3A68-42F4-BA86-981817953149}" type="slidenum">
              <a:rPr lang="el-GR" smtClean="0"/>
              <a:t>1</a:t>
            </a:fld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385925774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εικόνας διαφάνειας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Θέση σημειώσεων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l-GR" dirty="0"/>
          </a:p>
        </p:txBody>
      </p:sp>
      <p:sp>
        <p:nvSpPr>
          <p:cNvPr id="4" name="Θέση αριθμού διαφάνειας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4B725628-3A68-42F4-BA86-981817953149}" type="slidenum">
              <a:rPr lang="el-GR" smtClean="0"/>
              <a:t>2</a:t>
            </a:fld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39598457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Διαφάνεια τίτλο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Ορθογώνιο 9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1" name="Έλλειψη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" name="Τίτλος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rtlCol="0" anchor="ctr">
            <a:normAutofit/>
          </a:bodyPr>
          <a:lstStyle>
            <a:lvl1pPr algn="r">
              <a:defRPr sz="5000" spc="200" baseline="0"/>
            </a:lvl1pPr>
          </a:lstStyle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Υπότιτλος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rtlCol="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pPr rtl="0"/>
            <a:r>
              <a:rPr lang="el-GR" noProof="0"/>
              <a:t>Κάντε κλικ για να επεξεργαστείτε τον υπότιτλο του υποδείγματος</a:t>
            </a:r>
            <a:endParaRPr lang="el-GR" noProof="0" dirty="0"/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algn="l">
              <a:defRPr/>
            </a:lvl1pPr>
          </a:lstStyle>
          <a:p>
            <a:pPr rtl="0"/>
            <a:fld id="{EABDBA74-E4DB-4313-95D3-B7F630EE7B7F}" type="datetime1">
              <a:rPr lang="el-GR" noProof="0" smtClean="0"/>
              <a:t>12/11/2025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  <p:cxnSp>
        <p:nvCxnSpPr>
          <p:cNvPr id="8" name="Ευθεία γραμμή σύνδεσης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slow">
    <p:push dir="u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Τίτλος και περιεχό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περιεχομένου 2"/>
          <p:cNvSpPr>
            <a:spLocks noGrp="1"/>
          </p:cNvSpPr>
          <p:nvPr>
            <p:ph idx="1"/>
          </p:nvPr>
        </p:nvSpPr>
        <p:spPr/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FE5ACA5-56F5-4208-8101-108DA68822C6}" type="datetime1">
              <a:rPr lang="el-GR" noProof="0" smtClean="0"/>
              <a:t>12/11/2025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Κεφαλίδα ενότητα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Ορθογώνιο 8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1" name="Έλλειψη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" name="Τίτλος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rtlCol="0" anchor="ctr">
            <a:normAutofit/>
          </a:bodyPr>
          <a:lstStyle>
            <a:lvl1pPr algn="r">
              <a:defRPr sz="5000" b="0" spc="200" baseline="0"/>
            </a:lvl1pPr>
          </a:lstStyle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κειμένου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rtlCol="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8AAE694-814A-4F58-A8E2-AA9B6575E0B5}" type="datetime1">
              <a:rPr lang="el-GR" noProof="0" smtClean="0"/>
              <a:t>12/11/2025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  <p:cxnSp>
        <p:nvCxnSpPr>
          <p:cNvPr id="8" name="Ευθεία γραμμή σύνδεσης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slow">
    <p:push dir="u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Δύο περιεχόμεν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περιεχομένου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περιεχομένου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5" name="Θέση ημερομηνίας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8B30D4A-F623-45A5-BE49-543B4B609AF2}" type="datetime1">
              <a:rPr lang="el-GR" noProof="0" smtClean="0"/>
              <a:t>12/11/2025</a:t>
            </a:fld>
            <a:endParaRPr lang="el-GR" noProof="0" dirty="0"/>
          </a:p>
        </p:txBody>
      </p:sp>
      <p:sp>
        <p:nvSpPr>
          <p:cNvPr id="6" name="Θέση υποσέλιδου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7" name="Θέση αριθμού διαφάνειας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Σύγκριση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Τίτλος 9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κειμένου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rtlCol="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1"/>
                </a:solidFill>
                <a:latin typeface="Calibri" panose="020F050202020403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4" name="Θέση περιεχομένου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5" name="Θέση κειμένου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rtlCol="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1"/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6" name="Θέση περιεχομένου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7" name="Θέση ημερομηνίας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6412F62-D18F-463A-9A7E-E4809AAD76E4}" type="datetime1">
              <a:rPr lang="el-GR" noProof="0" smtClean="0"/>
              <a:t>12/11/2025</a:t>
            </a:fld>
            <a:endParaRPr lang="el-GR" noProof="0" dirty="0"/>
          </a:p>
        </p:txBody>
      </p:sp>
      <p:sp>
        <p:nvSpPr>
          <p:cNvPr id="8" name="Θέση υποσέλιδου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9" name="Θέση αριθμού διαφάνειας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Μόνο τίτλο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ημερομηνίας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2009D47-CF8A-48CB-81B8-5988DBFADA28}" type="datetime1">
              <a:rPr lang="el-GR" noProof="0" smtClean="0"/>
              <a:t>12/11/2025</a:t>
            </a:fld>
            <a:endParaRPr lang="el-GR" noProof="0" dirty="0"/>
          </a:p>
        </p:txBody>
      </p:sp>
      <p:sp>
        <p:nvSpPr>
          <p:cNvPr id="4" name="Θέση υποσέλιδου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5" name="Θέση αριθμού διαφάνειας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Κεν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ημερομηνίας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89B075A6-4B0E-489A-92E5-C2C81D969D11}" type="datetime1">
              <a:rPr lang="el-GR" noProof="0" smtClean="0"/>
              <a:t>12/11/2025</a:t>
            </a:fld>
            <a:endParaRPr lang="el-GR" noProof="0" dirty="0"/>
          </a:p>
        </p:txBody>
      </p:sp>
      <p:sp>
        <p:nvSpPr>
          <p:cNvPr id="3" name="Θέση υποσέλιδου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4" name="Θέση αριθμού διαφάνειας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Περιεχόμενο με λεζάντ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Τίτλος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 rtlCol="0"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περιεχομένου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 rtlCol="0"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κειμένου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 rtlCol="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5" name="Θέση ημερομηνίας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C290451-C354-46E0-BBD8-0317D7A1384C}" type="datetime1">
              <a:rPr lang="el-GR" noProof="0" smtClean="0"/>
              <a:t>12/11/2025</a:t>
            </a:fld>
            <a:endParaRPr lang="el-GR" noProof="0" dirty="0"/>
          </a:p>
        </p:txBody>
      </p:sp>
      <p:sp>
        <p:nvSpPr>
          <p:cNvPr id="6" name="Θέση υποσέλιδου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7" name="Θέση αριθμού διαφάνειας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Εικόνα με λεζάντ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rtlCol="0" anchor="ctr">
            <a:normAutofit/>
          </a:bodyPr>
          <a:lstStyle>
            <a:lvl1pPr algn="r">
              <a:defRPr sz="5000" spc="200" baseline="0"/>
            </a:lvl1pPr>
          </a:lstStyle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εικόνας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rIns="45720" bIns="45720" rtlCol="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el-GR" noProof="0"/>
              <a:t>Κάντε κλικ στο εικονίδιο για να προσθέσετε εικόνα</a:t>
            </a:r>
            <a:endParaRPr lang="el-GR" noProof="0" dirty="0"/>
          </a:p>
        </p:txBody>
      </p:sp>
      <p:sp>
        <p:nvSpPr>
          <p:cNvPr id="4" name="Θέση κειμένου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rtlCol="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5" name="Θέση ημερομηνίας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5DAA40D-D363-46A0-9276-B6A4797DC9A5}" type="datetime1">
              <a:rPr lang="el-GR" noProof="0" smtClean="0"/>
              <a:t>12/11/2025</a:t>
            </a:fld>
            <a:endParaRPr lang="el-GR" noProof="0" dirty="0"/>
          </a:p>
        </p:txBody>
      </p:sp>
      <p:sp>
        <p:nvSpPr>
          <p:cNvPr id="6" name="Θέση υποσέλιδου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7" name="Θέση αριθμού διαφάνειας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67E5644-1E61-4311-A31E-84CB9C7AA8A9}" type="slidenum">
              <a:rPr lang="el-GR" noProof="0" smtClean="0"/>
              <a:t>‹#›</a:t>
            </a:fld>
            <a:endParaRPr lang="el-GR" noProof="0" dirty="0"/>
          </a:p>
        </p:txBody>
      </p:sp>
      <p:cxnSp>
        <p:nvCxnSpPr>
          <p:cNvPr id="8" name="Ευθεία γραμμή σύνδεσης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slow">
    <p:push dir="u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Τίτλος και κατακόρυφο κεί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κατακόρυφου κειμένου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9C97E28-F60A-427B-851A-BCC048F06BC7}" type="datetime1">
              <a:rPr lang="el-GR" noProof="0" smtClean="0"/>
              <a:t>12/11/2025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Κατακόρυφος τίτλος και κεί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Κατακόρυφος τίτλος 1"/>
          <p:cNvSpPr>
            <a:spLocks noGrp="1"/>
          </p:cNvSpPr>
          <p:nvPr>
            <p:ph type="title" orient="vert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κατακόρυφου κειμένου 2"/>
          <p:cNvSpPr>
            <a:spLocks noGrp="1"/>
          </p:cNvSpPr>
          <p:nvPr>
            <p:ph type="body" orient="vert" idx="1"/>
          </p:nvPr>
        </p:nvSpPr>
        <p:spPr>
          <a:xfrm>
            <a:off x="990601" y="762000"/>
            <a:ext cx="7581900" cy="5410200"/>
          </a:xfrm>
        </p:spPr>
        <p:txBody>
          <a:bodyPr vert="eaVert"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4EA33EDB-81C3-4DAA-87EA-DA21D6A7FC6C}" type="datetime1">
              <a:rPr lang="el-GR" noProof="0" smtClean="0"/>
              <a:t>12/11/2025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  <p:cxnSp>
        <p:nvCxnSpPr>
          <p:cNvPr id="7" name="Ευθεία γραμμή σύνδεσης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slow">
    <p:push dir="u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τίτλου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el-GR" noProof="0" dirty="0"/>
              <a:t>Κάντε κλικ για να επεξεργαστείτε το Στυλ κύριου τίτλου</a:t>
            </a:r>
          </a:p>
        </p:txBody>
      </p:sp>
      <p:sp>
        <p:nvSpPr>
          <p:cNvPr id="3" name="Θέση κειμένου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 rtl="0"/>
            <a:r>
              <a:rPr lang="el-GR" noProof="0" dirty="0"/>
              <a:t>Κάντε κλικ για επεξεργασία των στυλ κειμένου του υποδείγματος</a:t>
            </a:r>
          </a:p>
          <a:p>
            <a:pPr lvl="1" rtl="0"/>
            <a:r>
              <a:rPr lang="el-GR" noProof="0" dirty="0"/>
              <a:t>Δεύτερου επιπέδου</a:t>
            </a:r>
          </a:p>
          <a:p>
            <a:pPr lvl="2" rtl="0"/>
            <a:r>
              <a:rPr lang="el-GR" noProof="0" dirty="0"/>
              <a:t>Τρίτου επιπέδου</a:t>
            </a:r>
          </a:p>
          <a:p>
            <a:pPr lvl="3" rtl="0"/>
            <a:r>
              <a:rPr lang="el-GR" noProof="0" dirty="0"/>
              <a:t>Τέταρτου επιπέδου</a:t>
            </a:r>
          </a:p>
          <a:p>
            <a:pPr lvl="4" rtl="0"/>
            <a:r>
              <a:rPr lang="el-GR" noProof="0" dirty="0"/>
              <a:t>Πέμπτου επιπέδου</a:t>
            </a:r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fld id="{F98FDC76-A1F5-4EE8-BDE3-5EFC56AAE7AD}" type="datetime1">
              <a:rPr lang="el-GR" noProof="0" smtClean="0"/>
              <a:t>12/11/2025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fld id="{4FAB73BC-B049-4115-A692-8D63A059BFB8}" type="slidenum">
              <a:rPr lang="el-GR" noProof="0" smtClean="0"/>
              <a:pPr/>
              <a:t>‹#›</a:t>
            </a:fld>
            <a:endParaRPr lang="el-GR" noProof="0" dirty="0"/>
          </a:p>
        </p:txBody>
      </p:sp>
      <p:cxnSp>
        <p:nvCxnSpPr>
          <p:cNvPr id="7" name="Ευθεία γραμμή σύνδεσης 6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0" r:id="rId9"/>
    <p:sldLayoutId id="2147483658" r:id="rId10"/>
    <p:sldLayoutId id="2147483659" r:id="rId11"/>
  </p:sldLayoutIdLst>
  <p:transition spd="slow">
    <p:push dir="u"/>
  </p:transition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Calibri" panose="020F0502020204030204" pitchFamily="34" charset="0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hyperlink" Target="https://ns3-code.com/how-to-begin-implement-network-failover-in-ns3/" TargetMode="External"/><Relationship Id="rId3" Type="http://schemas.openxmlformats.org/officeDocument/2006/relationships/hyperlink" Target="https://www.nsnam.org/docs/contributing/html/coding-style.html#header-file-includes" TargetMode="External"/><Relationship Id="rId7" Type="http://schemas.openxmlformats.org/officeDocument/2006/relationships/hyperlink" Target="https://www.nsnam.org/docs/tutorial/html/building-topologies.html" TargetMode="External"/><Relationship Id="rId2" Type="http://schemas.openxmlformats.org/officeDocument/2006/relationships/hyperlink" Target="https://www.nsnam.org/documentation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youtube.com/watch?v=2W5mdzQrwXI" TargetMode="External"/><Relationship Id="rId5" Type="http://schemas.openxmlformats.org/officeDocument/2006/relationships/hyperlink" Target="https://www.youtube.com/watch?v=Jv_swgcykjQ" TargetMode="External"/><Relationship Id="rId10" Type="http://schemas.openxmlformats.org/officeDocument/2006/relationships/hyperlink" Target="https://networksimulationtools.com/how-to-run-netanim-in-ns3/" TargetMode="External"/><Relationship Id="rId4" Type="http://schemas.openxmlformats.org/officeDocument/2006/relationships/hyperlink" Target="https://www.nsnam.org/docs/tutorial/html/" TargetMode="External"/><Relationship Id="rId9" Type="http://schemas.openxmlformats.org/officeDocument/2006/relationships/hyperlink" Target="https://ns3-code.com/how-to-begin-implement-dynamic-routing-in-ns3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Ορθογώνιο 18">
            <a:extLst>
              <a:ext uri="{FF2B5EF4-FFF2-40B4-BE49-F238E27FC236}">
                <a16:creationId xmlns:a16="http://schemas.microsoft.com/office/drawing/2014/main" id="{2FDF0794-1B86-42B2-B8C7-F60123E638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74" y="0"/>
            <a:ext cx="12188726" cy="68589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l-GR" dirty="0">
              <a:latin typeface="Calibri" panose="020F0502020204030204" pitchFamily="34" charset="0"/>
            </a:endParaRPr>
          </a:p>
        </p:txBody>
      </p:sp>
      <p:pic>
        <p:nvPicPr>
          <p:cNvPr id="5" name="Εικόνα 4">
            <a:extLst>
              <a:ext uri="{FF2B5EF4-FFF2-40B4-BE49-F238E27FC236}">
                <a16:creationId xmlns:a16="http://schemas.microsoft.com/office/drawing/2014/main" id="{230BD1B1-AA22-48F1-B3ED-579CD28460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2444" b="-1"/>
          <a:stretch/>
        </p:blipFill>
        <p:spPr>
          <a:xfrm>
            <a:off x="20" y="975"/>
            <a:ext cx="12191980" cy="6858000"/>
          </a:xfrm>
          <a:prstGeom prst="rect">
            <a:avLst/>
          </a:prstGeom>
        </p:spPr>
      </p:pic>
      <p:sp>
        <p:nvSpPr>
          <p:cNvPr id="21" name="Ορθογώνιο 20">
            <a:extLst>
              <a:ext uri="{FF2B5EF4-FFF2-40B4-BE49-F238E27FC236}">
                <a16:creationId xmlns:a16="http://schemas.microsoft.com/office/drawing/2014/main" id="{EAA48FC5-3C83-4F1B-BC33-DF0B588F83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96786" y="3064931"/>
            <a:ext cx="8295215" cy="2488568"/>
          </a:xfrm>
          <a:prstGeom prst="rect">
            <a:avLst/>
          </a:prstGeom>
          <a:solidFill>
            <a:srgbClr val="000001">
              <a:alpha val="7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l-GR" dirty="0">
              <a:latin typeface="Calibri" panose="020F0502020204030204" pitchFamily="34" charset="0"/>
            </a:endParaRPr>
          </a:p>
        </p:txBody>
      </p:sp>
      <p:sp>
        <p:nvSpPr>
          <p:cNvPr id="2" name="Τίτλος 1">
            <a:extLst>
              <a:ext uri="{FF2B5EF4-FFF2-40B4-BE49-F238E27FC236}">
                <a16:creationId xmlns:a16="http://schemas.microsoft.com/office/drawing/2014/main" id="{DE3D84FB-5D02-47D2-98FD-4F01A02E2A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09349" y="3429000"/>
            <a:ext cx="7501651" cy="1090938"/>
          </a:xfrm>
        </p:spPr>
        <p:txBody>
          <a:bodyPr rtlCol="0" anchor="b">
            <a:normAutofit fontScale="90000"/>
          </a:bodyPr>
          <a:lstStyle/>
          <a:p>
            <a:pPr algn="l"/>
            <a:r>
              <a:rPr lang="el-GR" b="1" dirty="0">
                <a:solidFill>
                  <a:srgbClr val="FFFFFF"/>
                </a:solidFill>
              </a:rPr>
              <a:t>ΠΡΟΣΟΜΟΙΩΣΗ ΔΙΚΤΥΟΥ ΜΕ</a:t>
            </a:r>
            <a:r>
              <a:rPr lang="en-US" b="1" dirty="0">
                <a:solidFill>
                  <a:srgbClr val="FFFFFF"/>
                </a:solidFill>
              </a:rPr>
              <a:t> NS-3</a:t>
            </a:r>
            <a:endParaRPr lang="el-GR" b="1" dirty="0">
              <a:solidFill>
                <a:srgbClr val="FFFFFF"/>
              </a:solidFill>
            </a:endParaRPr>
          </a:p>
        </p:txBody>
      </p:sp>
      <p:sp>
        <p:nvSpPr>
          <p:cNvPr id="3" name="Υπότιτλος 2">
            <a:extLst>
              <a:ext uri="{FF2B5EF4-FFF2-40B4-BE49-F238E27FC236}">
                <a16:creationId xmlns:a16="http://schemas.microsoft.com/office/drawing/2014/main" id="{E9F6641D-ADF3-40BD-9BA3-E740E77C88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09349" y="4779313"/>
            <a:ext cx="7165476" cy="474006"/>
          </a:xfrm>
        </p:spPr>
        <p:txBody>
          <a:bodyPr rtlCol="0" anchor="t">
            <a:normAutofit fontScale="77500" lnSpcReduction="20000"/>
          </a:bodyPr>
          <a:lstStyle/>
          <a:p>
            <a:r>
              <a:rPr lang="el-GR" dirty="0">
                <a:solidFill>
                  <a:srgbClr val="FFFFFF"/>
                </a:solidFill>
              </a:rPr>
              <a:t>Κωσταντίνος Γκύλλης, ΑΜ:1100526</a:t>
            </a:r>
          </a:p>
          <a:p>
            <a:r>
              <a:rPr lang="el-GR" dirty="0">
                <a:solidFill>
                  <a:srgbClr val="FFFFFF"/>
                </a:solidFill>
              </a:rPr>
              <a:t>Γεωργία Μυλωνά, ΑΜ: 1104783</a:t>
            </a:r>
          </a:p>
        </p:txBody>
      </p:sp>
      <p:cxnSp>
        <p:nvCxnSpPr>
          <p:cNvPr id="23" name="Ευθεία γραμμή σύνδεσης 22">
            <a:extLst>
              <a:ext uri="{FF2B5EF4-FFF2-40B4-BE49-F238E27FC236}">
                <a16:creationId xmlns:a16="http://schemas.microsoft.com/office/drawing/2014/main" id="{62F01714-1A39-4194-BD47-8A9960C599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309349" y="4666480"/>
            <a:ext cx="6832499" cy="0"/>
          </a:xfrm>
          <a:prstGeom prst="line">
            <a:avLst/>
          </a:prstGeom>
          <a:ln w="22225">
            <a:solidFill>
              <a:srgbClr val="4AC4E3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6257027"/>
      </p:ext>
    </p:extLst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7A4919D0-F177-4BBA-9A0B-DBA69E2ED7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8" y="510568"/>
            <a:ext cx="9720072" cy="1499616"/>
          </a:xfrm>
        </p:spPr>
        <p:txBody>
          <a:bodyPr rtlCol="0">
            <a:normAutofit/>
          </a:bodyPr>
          <a:lstStyle/>
          <a:p>
            <a:r>
              <a:rPr lang="el-GR" sz="4800" b="1" dirty="0"/>
              <a:t>Το </a:t>
            </a:r>
            <a:r>
              <a:rPr lang="el-GR" sz="4800" b="1" dirty="0" err="1"/>
              <a:t>Κυριο</a:t>
            </a:r>
            <a:r>
              <a:rPr lang="el-GR" sz="4800" b="1" dirty="0"/>
              <a:t> θεμα της </a:t>
            </a:r>
            <a:r>
              <a:rPr lang="el-GR" sz="4800" b="1" dirty="0" err="1"/>
              <a:t>εργασιασ</a:t>
            </a:r>
            <a:endParaRPr lang="el-GR" sz="4800" b="1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77415F4C-54AA-443E-9712-CE38897617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102" y="2286000"/>
            <a:ext cx="10758196" cy="4023360"/>
          </a:xfrm>
        </p:spPr>
        <p:txBody>
          <a:bodyPr>
            <a:normAutofit/>
          </a:bodyPr>
          <a:lstStyle/>
          <a:p>
            <a:pPr marL="173736" lvl="1" indent="0" algn="just">
              <a:buNone/>
            </a:pPr>
            <a:r>
              <a:rPr lang="el-GR" dirty="0">
                <a:solidFill>
                  <a:schemeClr val="accent1">
                    <a:lumMod val="75000"/>
                  </a:schemeClr>
                </a:solidFill>
                <a:sym typeface="Wingdings" panose="05000000000000000000" pitchFamily="2" charset="2"/>
              </a:rPr>
              <a:t></a:t>
            </a:r>
            <a:r>
              <a:rPr lang="el-GR" dirty="0">
                <a:solidFill>
                  <a:schemeClr val="accent1">
                    <a:lumMod val="75000"/>
                  </a:schemeClr>
                </a:solidFill>
              </a:rPr>
              <a:t>Προσομοίωση δικτύου με την χρήση του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simulator NS-3.</a:t>
            </a:r>
            <a:endParaRPr lang="el-GR" dirty="0">
              <a:solidFill>
                <a:schemeClr val="accent1">
                  <a:lumMod val="75000"/>
                </a:schemeClr>
              </a:solidFill>
            </a:endParaRPr>
          </a:p>
          <a:p>
            <a:pPr marL="173736" lvl="1" indent="0" algn="just">
              <a:buNone/>
            </a:pPr>
            <a:endParaRPr lang="el-GR" dirty="0">
              <a:solidFill>
                <a:schemeClr val="accent1">
                  <a:lumMod val="75000"/>
                </a:schemeClr>
              </a:solidFill>
            </a:endParaRPr>
          </a:p>
          <a:p>
            <a:pPr marL="173736" lvl="1" indent="0" algn="just">
              <a:buNone/>
            </a:pPr>
            <a:r>
              <a:rPr lang="el-GR" dirty="0">
                <a:solidFill>
                  <a:schemeClr val="accent1">
                    <a:lumMod val="75000"/>
                  </a:schemeClr>
                </a:solidFill>
              </a:rPr>
              <a:t>Κύριοι στόχοι της εργασίας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:</a:t>
            </a:r>
            <a:endParaRPr lang="el-GR" dirty="0">
              <a:solidFill>
                <a:schemeClr val="accent1">
                  <a:lumMod val="75000"/>
                </a:schemeClr>
              </a:solidFill>
            </a:endParaRPr>
          </a:p>
          <a:p>
            <a:pPr marL="173736" lvl="1" indent="0" algn="just">
              <a:buNone/>
            </a:pP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1)</a:t>
            </a:r>
            <a:r>
              <a:rPr lang="en-US" dirty="0"/>
              <a:t> </a:t>
            </a:r>
            <a:r>
              <a:rPr lang="el-GR" dirty="0"/>
              <a:t>Προσομοίωση μιας απλής σύνδεσης σημείου-προς-σημείο μεταξύ δύο κόμβων,  με προϋπόθεση η  μετάδοση να γίνει με την τεχνική του </a:t>
            </a:r>
            <a:r>
              <a:rPr lang="en-US" dirty="0"/>
              <a:t>UDP-echo (</a:t>
            </a:r>
            <a:r>
              <a:rPr lang="el-GR" dirty="0"/>
              <a:t>«</a:t>
            </a:r>
            <a:r>
              <a:rPr lang="en-GB" dirty="0"/>
              <a:t>a process for testing network connectivity and measuring response time by sending a UDP packet to a destination and waiting for the destination to send it back</a:t>
            </a:r>
            <a:r>
              <a:rPr lang="el-GR" dirty="0"/>
              <a:t>» ).</a:t>
            </a:r>
          </a:p>
          <a:p>
            <a:pPr marL="173736" lvl="1" indent="0" algn="just">
              <a:buNone/>
            </a:pPr>
            <a:r>
              <a:rPr lang="el-GR" dirty="0">
                <a:solidFill>
                  <a:schemeClr val="accent1">
                    <a:lumMod val="75000"/>
                  </a:schemeClr>
                </a:solidFill>
              </a:rPr>
              <a:t>2) </a:t>
            </a:r>
            <a:r>
              <a:rPr lang="el-GR" dirty="0"/>
              <a:t>Προσομοίωση ενός πιο πολύπλοκου δικτύου με δυναμική δρομολόγηση, δημιουργία ροών πακέτων, εισαγωγή αποτυχίας συνδέσεων και ανάλυση απώλειας πακέτων.</a:t>
            </a:r>
          </a:p>
          <a:p>
            <a:pPr marL="173736" lvl="1" indent="0" algn="just">
              <a:buNone/>
            </a:pPr>
            <a:endParaRPr lang="el-GR" dirty="0"/>
          </a:p>
          <a:p>
            <a:pPr marL="173736" lvl="1" indent="0" algn="just">
              <a:buNone/>
            </a:pPr>
            <a:r>
              <a:rPr lang="el-GR" dirty="0"/>
              <a:t>Ως γλώσσα προγραμματισμού επιλέχθηκε η </a:t>
            </a:r>
            <a:r>
              <a:rPr lang="en-US" dirty="0"/>
              <a:t>C++.</a:t>
            </a:r>
          </a:p>
          <a:p>
            <a:pPr marL="0" indent="0" algn="just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1741552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983BE075-A1BA-4528-A907-BE8925441D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7516" y="547893"/>
            <a:ext cx="11167872" cy="1499616"/>
          </a:xfrm>
        </p:spPr>
        <p:txBody>
          <a:bodyPr>
            <a:normAutofit/>
          </a:bodyPr>
          <a:lstStyle/>
          <a:p>
            <a:r>
              <a:rPr lang="el-GR" sz="4800" b="1" dirty="0"/>
              <a:t>ΒΗΜΑΤΑ ΥΛΟΠΟΙΗΣΗΣ ΤΗΣ ΕΡΓΑΣΙΑΣ</a:t>
            </a:r>
            <a:r>
              <a:rPr lang="en-US" sz="4800" b="1" dirty="0"/>
              <a:t> (1)</a:t>
            </a:r>
            <a:endParaRPr lang="el-GR" sz="4800" b="1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B846792E-DE04-4CE2-B5D8-B785F3F8C8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7516" y="1900996"/>
            <a:ext cx="10051148" cy="254488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l-GR" sz="2000" dirty="0"/>
              <a:t>Χρησιμοποιήσαμε τα εξής εργαλεία για την υλοποίηση της άσκησης :</a:t>
            </a:r>
            <a:br>
              <a:rPr lang="el-GR" sz="2000" dirty="0"/>
            </a:br>
            <a:endParaRPr lang="el-GR" sz="20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VMware Workstation Pro</a:t>
            </a:r>
            <a:r>
              <a:rPr lang="el-GR" sz="2000" dirty="0"/>
              <a:t> για το </a:t>
            </a:r>
            <a:r>
              <a:rPr lang="en-US" sz="2000" dirty="0"/>
              <a:t>Linux VM.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Ubuntu Linux distribution.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Discord </a:t>
            </a:r>
            <a:r>
              <a:rPr lang="el-GR" sz="2000" dirty="0"/>
              <a:t>και </a:t>
            </a:r>
            <a:r>
              <a:rPr lang="en-US" sz="2000" dirty="0" err="1"/>
              <a:t>github</a:t>
            </a:r>
            <a:r>
              <a:rPr lang="en-US" sz="2000" dirty="0"/>
              <a:t> </a:t>
            </a:r>
            <a:r>
              <a:rPr lang="el-GR" sz="2000" dirty="0"/>
              <a:t>για την επικοινωνία και τον συγχρονισμό των μελών της ομάδας.</a:t>
            </a:r>
            <a:endParaRPr lang="en-US" sz="20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 err="1"/>
              <a:t>Drawi.o</a:t>
            </a:r>
            <a:r>
              <a:rPr lang="en-US" sz="2000" dirty="0"/>
              <a:t> </a:t>
            </a:r>
            <a:r>
              <a:rPr lang="el-GR" sz="2000" dirty="0"/>
              <a:t>για την υλοποίηση σχεδιαγραμμάτων/τοπολογίας</a:t>
            </a:r>
            <a:r>
              <a:rPr lang="el-GR" dirty="0"/>
              <a:t>.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CFFC7C8-3E1A-1BC4-1438-EB7E3E40A5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2828" y="4559485"/>
            <a:ext cx="2010569" cy="2010569"/>
          </a:xfrm>
          <a:prstGeom prst="rect">
            <a:avLst/>
          </a:prstGeom>
        </p:spPr>
      </p:pic>
      <p:pic>
        <p:nvPicPr>
          <p:cNvPr id="7" name="Picture 6" descr="A blue and orange square logo&#10;&#10;AI-generated content may be incorrect.">
            <a:extLst>
              <a:ext uri="{FF2B5EF4-FFF2-40B4-BE49-F238E27FC236}">
                <a16:creationId xmlns:a16="http://schemas.microsoft.com/office/drawing/2014/main" id="{C9DE2D26-6AFA-0109-C2F1-F425F3EA2B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379448"/>
            <a:ext cx="2119364" cy="2119364"/>
          </a:xfrm>
          <a:prstGeom prst="rect">
            <a:avLst/>
          </a:prstGeom>
        </p:spPr>
      </p:pic>
      <p:pic>
        <p:nvPicPr>
          <p:cNvPr id="9" name="Picture 8" descr="A logo with a circle and a circle with a circle and a circle with a circle with a circle with a circle with a circle with a circle with a circle with a circle with a circle with&#10;&#10;AI-generated content may be incorrect.">
            <a:extLst>
              <a:ext uri="{FF2B5EF4-FFF2-40B4-BE49-F238E27FC236}">
                <a16:creationId xmlns:a16="http://schemas.microsoft.com/office/drawing/2014/main" id="{A059D40E-1E60-0DBC-1A62-414710D2ED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34994" y="4857097"/>
            <a:ext cx="2319248" cy="1641715"/>
          </a:xfrm>
          <a:prstGeom prst="rect">
            <a:avLst/>
          </a:prstGeom>
        </p:spPr>
      </p:pic>
      <p:pic>
        <p:nvPicPr>
          <p:cNvPr id="6" name="Picture 5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46213963-0CDF-A7D0-0F23-FA0301AA65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4932" y="4857097"/>
            <a:ext cx="2347674" cy="1320567"/>
          </a:xfrm>
          <a:prstGeom prst="rect">
            <a:avLst/>
          </a:prstGeom>
        </p:spPr>
      </p:pic>
      <p:pic>
        <p:nvPicPr>
          <p:cNvPr id="4" name="Εικόνα 3">
            <a:extLst>
              <a:ext uri="{FF2B5EF4-FFF2-40B4-BE49-F238E27FC236}">
                <a16:creationId xmlns:a16="http://schemas.microsoft.com/office/drawing/2014/main" id="{2A35B6A1-721A-4FBA-8F36-F670825F982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11722" y="4330949"/>
            <a:ext cx="2347674" cy="2284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0903119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54682E-C30A-EC5F-F169-76ED3D8D9D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BA65C177-78EC-E045-063E-270C7A4FE2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1492" y="678522"/>
            <a:ext cx="10835080" cy="1278615"/>
          </a:xfrm>
        </p:spPr>
        <p:txBody>
          <a:bodyPr>
            <a:normAutofit/>
          </a:bodyPr>
          <a:lstStyle/>
          <a:p>
            <a:r>
              <a:rPr lang="el-GR" sz="4800" b="1" dirty="0"/>
              <a:t>ΒΗΜΑΤΑ ΥΛΟΠΟΙΗΣΗΣ ΤΗΣ ΕΡΓΑΣΙΑΣ</a:t>
            </a:r>
            <a:r>
              <a:rPr lang="en-US" sz="4800" b="1" dirty="0"/>
              <a:t> (</a:t>
            </a:r>
            <a:r>
              <a:rPr lang="el-GR" sz="4800" b="1" dirty="0"/>
              <a:t>2</a:t>
            </a:r>
            <a:r>
              <a:rPr lang="en-US" sz="4800" b="1" dirty="0"/>
              <a:t>)</a:t>
            </a:r>
            <a:endParaRPr lang="el-GR" sz="4800" b="1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C1F1056E-B878-8B1C-3420-F817646D1A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142" y="2512468"/>
            <a:ext cx="6567466" cy="2765385"/>
          </a:xfrm>
        </p:spPr>
        <p:txBody>
          <a:bodyPr>
            <a:noAutofit/>
          </a:bodyPr>
          <a:lstStyle/>
          <a:p>
            <a:pPr algn="just">
              <a:buFont typeface="Arial" panose="020B0604020202020204" pitchFamily="34" charset="0"/>
              <a:buChar char="•"/>
            </a:pPr>
            <a:r>
              <a:rPr lang="en-US" dirty="0"/>
              <a:t> </a:t>
            </a:r>
            <a:r>
              <a:rPr lang="el-GR" dirty="0"/>
              <a:t>Δημιουργία ενός repository στο </a:t>
            </a:r>
            <a:r>
              <a:rPr lang="en-US" dirty="0"/>
              <a:t>GitHub</a:t>
            </a:r>
            <a:r>
              <a:rPr lang="el-GR" dirty="0"/>
              <a:t>.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l-GR" dirty="0"/>
              <a:t>Μελέτη  της βιβλιογραφίας του </a:t>
            </a:r>
            <a:r>
              <a:rPr lang="en-US" dirty="0"/>
              <a:t>NS-3</a:t>
            </a:r>
            <a:r>
              <a:rPr lang="el-GR" dirty="0"/>
              <a:t> και πιο συγκεκριμένα του </a:t>
            </a:r>
            <a:r>
              <a:rPr lang="en-US" dirty="0"/>
              <a:t>“ns-3 tutorial” </a:t>
            </a:r>
            <a:r>
              <a:rPr lang="el-GR" dirty="0"/>
              <a:t>για απλά παραδείγματα χρήσης του νέου αυτού εργαλείου.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l-GR" dirty="0"/>
              <a:t>Αναζήτηση στο </a:t>
            </a:r>
            <a:r>
              <a:rPr lang="en-US" dirty="0"/>
              <a:t>“ns-3 Model Library” </a:t>
            </a:r>
            <a:r>
              <a:rPr lang="el-GR" dirty="0"/>
              <a:t>για διασαφήνιση   σχετικών  εννοιών  (</a:t>
            </a:r>
            <a:r>
              <a:rPr lang="en-US" dirty="0"/>
              <a:t>flow monitoring, internet models, etc</a:t>
            </a:r>
            <a:r>
              <a:rPr lang="el-GR" dirty="0"/>
              <a:t>.</a:t>
            </a:r>
            <a:r>
              <a:rPr lang="en-US" dirty="0"/>
              <a:t>)</a:t>
            </a:r>
            <a:r>
              <a:rPr lang="el-GR" dirty="0"/>
              <a:t> που αναφέρονταν στην εργασία.</a:t>
            </a:r>
          </a:p>
          <a:p>
            <a:pPr marL="0" indent="0" algn="just">
              <a:buNone/>
            </a:pPr>
            <a:endParaRPr lang="el-GR" dirty="0"/>
          </a:p>
          <a:p>
            <a:pPr marL="0" indent="0">
              <a:buNone/>
            </a:pPr>
            <a:br>
              <a:rPr lang="en-US" dirty="0"/>
            </a:br>
            <a:endParaRPr lang="el-G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8BFED06-2B00-5AAC-F37F-EE97C2DA76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9007" y="2454009"/>
            <a:ext cx="3797565" cy="34328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479383505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Τίτλος 1">
            <a:extLst>
              <a:ext uri="{FF2B5EF4-FFF2-40B4-BE49-F238E27FC236}">
                <a16:creationId xmlns:a16="http://schemas.microsoft.com/office/drawing/2014/main" id="{D774839F-51E4-E46D-4EE5-1DF8B9BC8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8" y="839755"/>
            <a:ext cx="9720072" cy="899830"/>
          </a:xfrm>
        </p:spPr>
        <p:txBody>
          <a:bodyPr rtlCol="0">
            <a:normAutofit/>
          </a:bodyPr>
          <a:lstStyle/>
          <a:p>
            <a:r>
              <a:rPr lang="el-GR" sz="4800" b="1" dirty="0" err="1"/>
              <a:t>Δεδομενα</a:t>
            </a:r>
            <a:r>
              <a:rPr lang="el-GR" sz="4800" b="1" dirty="0"/>
              <a:t> του </a:t>
            </a:r>
            <a:r>
              <a:rPr lang="el-GR" sz="4800" b="1" dirty="0" err="1"/>
              <a:t>ΕΡΩΤΗΜΑτοσ</a:t>
            </a:r>
            <a:r>
              <a:rPr lang="el-GR" sz="4800" b="1" dirty="0"/>
              <a:t> 1</a:t>
            </a:r>
          </a:p>
        </p:txBody>
      </p:sp>
      <p:sp>
        <p:nvSpPr>
          <p:cNvPr id="5" name="Θέση περιεχομένου 2">
            <a:extLst>
              <a:ext uri="{FF2B5EF4-FFF2-40B4-BE49-F238E27FC236}">
                <a16:creationId xmlns:a16="http://schemas.microsoft.com/office/drawing/2014/main" id="{784F8DDC-B6BC-8339-BE2C-10A96FCD85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0033" y="2317531"/>
            <a:ext cx="11105199" cy="347942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l-GR" dirty="0"/>
              <a:t>Πιο συγκεκριμένα για το πρώτο ερώτημα της εργασίας</a:t>
            </a:r>
            <a:r>
              <a:rPr lang="en-US" dirty="0"/>
              <a:t>:</a:t>
            </a:r>
          </a:p>
          <a:p>
            <a:pPr marL="0" indent="0">
              <a:buNone/>
            </a:pPr>
            <a:r>
              <a:rPr lang="en-US" sz="2000" dirty="0"/>
              <a:t>1.</a:t>
            </a:r>
            <a:r>
              <a:rPr lang="el-GR" sz="2000" dirty="0"/>
              <a:t>Ορίζονται τα χαρακτηριστικά της σύνδεσης και αντιστοιχίζονται διευθύνσεις τύπου ipv4 στις διεπαφές των κόμβων.</a:t>
            </a:r>
            <a:br>
              <a:rPr lang="el-GR" sz="2000" dirty="0"/>
            </a:br>
            <a:endParaRPr lang="en-US" sz="2000" dirty="0"/>
          </a:p>
          <a:p>
            <a:pPr marL="0" indent="0">
              <a:buNone/>
            </a:pPr>
            <a:r>
              <a:rPr lang="en-US" sz="2000" dirty="0"/>
              <a:t>2.</a:t>
            </a:r>
            <a:r>
              <a:rPr lang="el-GR" sz="2000" dirty="0"/>
              <a:t> </a:t>
            </a:r>
            <a:r>
              <a:rPr lang="en-US" sz="2000" dirty="0"/>
              <a:t>Y</a:t>
            </a:r>
            <a:r>
              <a:rPr lang="el-GR" sz="2000" dirty="0" err="1"/>
              <a:t>λοποιήθηκαν</a:t>
            </a:r>
            <a:r>
              <a:rPr lang="el-GR" sz="2000" dirty="0"/>
              <a:t> δύο servers UDP echo στον κόμβο 1 σε διαφορετικές θύρες με δημιουργία δύο πελατών  UDP echo στον κόμβο 0. </a:t>
            </a:r>
            <a:br>
              <a:rPr lang="el-GR" sz="2000" dirty="0"/>
            </a:br>
            <a:endParaRPr lang="en-US" sz="2000" dirty="0"/>
          </a:p>
          <a:p>
            <a:pPr marL="0" indent="0">
              <a:buNone/>
            </a:pPr>
            <a:r>
              <a:rPr lang="en-US" sz="2000" dirty="0"/>
              <a:t>3.T</a:t>
            </a:r>
            <a:r>
              <a:rPr lang="el-GR" sz="2000" dirty="0"/>
              <a:t>έλος, εκτελέστηκε η προσομοίωση και καταγράφτηκαν τα δεδομένα ροής με χρήση του </a:t>
            </a:r>
            <a:r>
              <a:rPr lang="en-US" sz="2000" dirty="0"/>
              <a:t>module Flow-Monitoring</a:t>
            </a:r>
            <a:r>
              <a:rPr lang="el-GR" sz="2000" dirty="0"/>
              <a:t> (πακέτα, καθυστέρηση, εύρος ζώνης).</a:t>
            </a:r>
          </a:p>
        </p:txBody>
      </p:sp>
    </p:spTree>
    <p:extLst>
      <p:ext uri="{BB962C8B-B14F-4D97-AF65-F5344CB8AC3E}">
        <p14:creationId xmlns:p14="http://schemas.microsoft.com/office/powerpoint/2010/main" val="3077155193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Τίτλος 1">
            <a:extLst>
              <a:ext uri="{FF2B5EF4-FFF2-40B4-BE49-F238E27FC236}">
                <a16:creationId xmlns:a16="http://schemas.microsoft.com/office/drawing/2014/main" id="{FB84AE28-5848-E665-6D72-8FA26E4F4EA0}"/>
              </a:ext>
            </a:extLst>
          </p:cNvPr>
          <p:cNvSpPr txBox="1">
            <a:spLocks/>
          </p:cNvSpPr>
          <p:nvPr/>
        </p:nvSpPr>
        <p:spPr>
          <a:xfrm>
            <a:off x="1045029" y="627529"/>
            <a:ext cx="9453318" cy="112363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5000" kern="1200" cap="all" spc="100" baseline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r>
              <a:rPr lang="el-GR" sz="4800" b="1" dirty="0" err="1"/>
              <a:t>Υλοποιηση</a:t>
            </a:r>
            <a:r>
              <a:rPr lang="el-GR" sz="4800" b="1" dirty="0"/>
              <a:t> του </a:t>
            </a:r>
            <a:r>
              <a:rPr lang="el-GR" sz="4800" b="1" dirty="0" err="1"/>
              <a:t>ερωτηματοσ</a:t>
            </a:r>
            <a:r>
              <a:rPr lang="el-GR" sz="4800" b="1" dirty="0"/>
              <a:t> 1</a:t>
            </a:r>
            <a:br>
              <a:rPr lang="el-GR" sz="4800" dirty="0"/>
            </a:br>
            <a:endParaRPr lang="el-GR" sz="4800" dirty="0"/>
          </a:p>
        </p:txBody>
      </p:sp>
      <p:sp>
        <p:nvSpPr>
          <p:cNvPr id="6" name="Θέση περιεχομένου 2">
            <a:extLst>
              <a:ext uri="{FF2B5EF4-FFF2-40B4-BE49-F238E27FC236}">
                <a16:creationId xmlns:a16="http://schemas.microsoft.com/office/drawing/2014/main" id="{1BD6B2D5-E19E-AB53-1C03-C2A591F05B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5029" y="2155371"/>
            <a:ext cx="10888824" cy="4198776"/>
          </a:xfrm>
        </p:spPr>
        <p:txBody>
          <a:bodyPr>
            <a:normAutofit/>
          </a:bodyPr>
          <a:lstStyle/>
          <a:p>
            <a:pPr algn="just">
              <a:buFont typeface="Arial" panose="020B0604020202020204" pitchFamily="34" charset="0"/>
              <a:buChar char="•"/>
            </a:pPr>
            <a:r>
              <a:rPr lang="en-US" dirty="0"/>
              <a:t> </a:t>
            </a:r>
            <a:r>
              <a:rPr lang="el-GR" dirty="0"/>
              <a:t>Μέσα στον φάκελο</a:t>
            </a:r>
            <a:r>
              <a:rPr lang="en-US" dirty="0"/>
              <a:t> scratch </a:t>
            </a:r>
            <a:r>
              <a:rPr lang="el-GR" dirty="0"/>
              <a:t>του </a:t>
            </a:r>
            <a:r>
              <a:rPr lang="en-US" dirty="0"/>
              <a:t>NS3 </a:t>
            </a:r>
            <a:r>
              <a:rPr lang="el-GR" dirty="0"/>
              <a:t>υλοποιήθηκε η λύση του 1</a:t>
            </a:r>
            <a:r>
              <a:rPr lang="el-GR" baseline="30000" dirty="0"/>
              <a:t>ου</a:t>
            </a:r>
            <a:r>
              <a:rPr lang="el-GR" dirty="0"/>
              <a:t> ερωτήματος στο αρχείο </a:t>
            </a:r>
            <a:r>
              <a:rPr lang="en-US" dirty="0"/>
              <a:t>mypoint.cc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l-GR" dirty="0"/>
              <a:t>Έγινε χρήση των </a:t>
            </a:r>
            <a:r>
              <a:rPr lang="en-US" dirty="0"/>
              <a:t>module:</a:t>
            </a:r>
            <a:r>
              <a:rPr lang="el-GR" dirty="0"/>
              <a:t> </a:t>
            </a:r>
            <a:r>
              <a:rPr lang="en-US" dirty="0"/>
              <a:t>flow- monitoring -</a:t>
            </a:r>
            <a:r>
              <a:rPr lang="en-US" dirty="0" err="1"/>
              <a:t>module.h</a:t>
            </a:r>
            <a:r>
              <a:rPr lang="en-US" dirty="0"/>
              <a:t> , point-to-point-</a:t>
            </a:r>
            <a:r>
              <a:rPr lang="en-US" dirty="0" err="1"/>
              <a:t>module.h</a:t>
            </a:r>
            <a:endParaRPr lang="en-US" dirty="0"/>
          </a:p>
          <a:p>
            <a:pPr algn="just">
              <a:buFont typeface="Arial" panose="020B0604020202020204" pitchFamily="34" charset="0"/>
              <a:buChar char="•"/>
            </a:pPr>
            <a:r>
              <a:rPr lang="el-GR" dirty="0"/>
              <a:t> Έγινε παραμετροποίηση με τις παραδοχές </a:t>
            </a:r>
            <a:r>
              <a:rPr lang="en-US" dirty="0"/>
              <a:t>:</a:t>
            </a:r>
            <a:endParaRPr lang="el-GR" dirty="0"/>
          </a:p>
          <a:p>
            <a:pPr marL="173736" lvl="1" indent="0" algn="just">
              <a:buNone/>
            </a:pPr>
            <a:r>
              <a:rPr lang="en-US" dirty="0"/>
              <a:t>  Data Rate = 5Mbps</a:t>
            </a:r>
          </a:p>
          <a:p>
            <a:pPr marL="173736" lvl="1" indent="0" algn="just">
              <a:buNone/>
            </a:pPr>
            <a:r>
              <a:rPr lang="en-US" dirty="0"/>
              <a:t>  Delay = 6ms</a:t>
            </a:r>
          </a:p>
          <a:p>
            <a:pPr marL="173736" lvl="1" indent="0" algn="just">
              <a:buNone/>
            </a:pPr>
            <a:r>
              <a:rPr lang="en-US" dirty="0"/>
              <a:t>  Packet Size = 1024</a:t>
            </a:r>
          </a:p>
          <a:p>
            <a:pPr marL="173736" lvl="1" indent="0" algn="just">
              <a:buNone/>
            </a:pPr>
            <a:r>
              <a:rPr lang="en-US" dirty="0"/>
              <a:t>  Max Packets = 6</a:t>
            </a:r>
          </a:p>
          <a:p>
            <a:pPr marL="173736" lvl="1" indent="0" algn="just">
              <a:buNone/>
            </a:pPr>
            <a:r>
              <a:rPr lang="en-US" dirty="0"/>
              <a:t>  Simulation Time = 11.0s</a:t>
            </a:r>
          </a:p>
          <a:p>
            <a:pPr algn="just">
              <a:buFont typeface="Arial" panose="020B0604020202020204" pitchFamily="34" charset="0"/>
              <a:buChar char="•"/>
            </a:pPr>
            <a:endParaRPr lang="el-GR" dirty="0"/>
          </a:p>
        </p:txBody>
      </p:sp>
      <p:pic>
        <p:nvPicPr>
          <p:cNvPr id="2" name="Εικόνα 1">
            <a:extLst>
              <a:ext uri="{FF2B5EF4-FFF2-40B4-BE49-F238E27FC236}">
                <a16:creationId xmlns:a16="http://schemas.microsoft.com/office/drawing/2014/main" id="{72465A12-DE92-430F-83D8-A8CA456E29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6884" y="4396609"/>
            <a:ext cx="4705350" cy="1485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3954065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3356E8B7-F79F-49D2-A78C-DB57940338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7" y="979714"/>
            <a:ext cx="10415203" cy="1105118"/>
          </a:xfrm>
        </p:spPr>
        <p:txBody>
          <a:bodyPr anchor="ctr">
            <a:noAutofit/>
          </a:bodyPr>
          <a:lstStyle/>
          <a:p>
            <a:r>
              <a:rPr lang="el-GR" sz="4800" b="1" dirty="0"/>
              <a:t>αποτελεσματα του ερωτηματοσ 1</a:t>
            </a:r>
            <a:br>
              <a:rPr lang="el-GR" sz="4800" dirty="0"/>
            </a:br>
            <a:endParaRPr lang="el-GR" sz="4800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64EFDE80-4506-46C6-AB1D-895B457828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24127" y="2579914"/>
            <a:ext cx="4754880" cy="3489810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l-GR" dirty="0"/>
              <a:t>Εκτελώντας την προσομοίωση </a:t>
            </a:r>
            <a:r>
              <a:rPr lang="en-US" dirty="0"/>
              <a:t>point to point </a:t>
            </a:r>
            <a:r>
              <a:rPr lang="el-GR" dirty="0"/>
              <a:t>σύνδεσης στο </a:t>
            </a:r>
            <a:r>
              <a:rPr lang="en-US" dirty="0"/>
              <a:t>Ubuntu</a:t>
            </a:r>
            <a:r>
              <a:rPr lang="el-GR" dirty="0"/>
              <a:t> σύστημα μας, προέκυψαν τα εξής δεδομένα :</a:t>
            </a:r>
          </a:p>
          <a:p>
            <a:pPr>
              <a:buFont typeface="Arial" panose="020B0604020202020204" pitchFamily="34" charset="0"/>
              <a:buChar char="•"/>
            </a:pPr>
            <a:endParaRPr lang="el-GR" u="sng" dirty="0"/>
          </a:p>
          <a:p>
            <a:pPr>
              <a:buFont typeface="Arial" panose="020B0604020202020204" pitchFamily="34" charset="0"/>
              <a:buChar char="•"/>
            </a:pPr>
            <a:endParaRPr lang="el-GR" u="sng" dirty="0"/>
          </a:p>
          <a:p>
            <a:pPr marL="0" indent="0">
              <a:buNone/>
            </a:pPr>
            <a:r>
              <a:rPr lang="el-GR" dirty="0"/>
              <a:t>+ </a:t>
            </a:r>
            <a:r>
              <a:rPr lang="el-GR" dirty="0" err="1"/>
              <a:t>καποιο</a:t>
            </a:r>
            <a:r>
              <a:rPr lang="el-GR" dirty="0"/>
              <a:t> </a:t>
            </a:r>
            <a:r>
              <a:rPr lang="el-GR" dirty="0" err="1"/>
              <a:t>διαγραμμα</a:t>
            </a:r>
            <a:r>
              <a:rPr lang="el-GR" dirty="0"/>
              <a:t>?</a:t>
            </a:r>
          </a:p>
        </p:txBody>
      </p:sp>
      <p:pic>
        <p:nvPicPr>
          <p:cNvPr id="5" name="Picture 4" descr="A computer screen shot of a program&#10;&#10;AI-generated content may be incorrect.">
            <a:extLst>
              <a:ext uri="{FF2B5EF4-FFF2-40B4-BE49-F238E27FC236}">
                <a16:creationId xmlns:a16="http://schemas.microsoft.com/office/drawing/2014/main" id="{4D4C9CBC-682B-AA87-BB61-FF43513711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4694" y="2184449"/>
            <a:ext cx="3979506" cy="4124911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045251129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1C8A6D00-8650-44C1-ADBF-B2BBD78265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3093" y="870452"/>
            <a:ext cx="9720072" cy="653003"/>
          </a:xfrm>
        </p:spPr>
        <p:txBody>
          <a:bodyPr>
            <a:normAutofit fontScale="90000"/>
          </a:bodyPr>
          <a:lstStyle/>
          <a:p>
            <a:r>
              <a:rPr lang="el-GR" b="1" dirty="0"/>
              <a:t>ΔΕΔΟΜΕΝΑ </a:t>
            </a:r>
            <a:r>
              <a:rPr lang="el-GR" b="1" dirty="0" err="1"/>
              <a:t>ΤΟυ</a:t>
            </a:r>
            <a:r>
              <a:rPr lang="el-GR" b="1" dirty="0"/>
              <a:t> </a:t>
            </a:r>
            <a:r>
              <a:rPr lang="el-GR" b="1" dirty="0" err="1"/>
              <a:t>ΕΡΩΤΗΜΑτοσ</a:t>
            </a:r>
            <a:r>
              <a:rPr lang="el-GR" b="1" dirty="0"/>
              <a:t> 2</a:t>
            </a:r>
            <a:endParaRPr lang="el-GR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D348DBDB-F5BE-4294-BA1E-2FB5A71F5C2C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921651" y="-372706"/>
            <a:ext cx="9298113" cy="31393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l-GR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kumimoji="0" lang="en-US" altLang="el-G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lang="el-GR" altLang="el-GR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l-GR" altLang="el-G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l-G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l-GR" sz="18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endParaRPr lang="en-US" altLang="el-GR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l-GR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l-G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l-GR" altLang="el-G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l-GR" altLang="el-G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FC2FF6A6-1223-4495-B894-6E350D7BC4D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23038" y="1694850"/>
            <a:ext cx="9298113" cy="39703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Tw Cen MT" panose="020B0602020104020603" pitchFamily="34" charset="0"/>
              <a:buChar char=" "/>
              <a:defRPr sz="22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26517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2pPr>
            <a:lvl3pPr marL="44805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3pPr>
            <a:lvl4pPr marL="59436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4pPr>
            <a:lvl5pPr marL="77724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5pPr>
            <a:lvl6pPr marL="91440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60704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216152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36245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Tw Cen MT" panose="020B0602020104020603" pitchFamily="34" charset="0"/>
              <a:buNone/>
            </a:pPr>
            <a:endParaRPr lang="en-US" altLang="el-GR" sz="1800" b="1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Tw Cen MT" panose="020B0602020104020603" pitchFamily="34" charset="0"/>
              <a:buNone/>
            </a:pPr>
            <a:endParaRPr lang="en-US" altLang="el-GR" sz="1800" dirty="0"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l-GR" altLang="el-GR" sz="1800" dirty="0">
                <a:latin typeface="Arial" panose="020B0604020202020204" pitchFamily="34" charset="0"/>
              </a:rPr>
              <a:t>Επιλέξαμε την δυναμική δρομολόγηση OLSR (</a:t>
            </a:r>
            <a:r>
              <a:rPr lang="el-GR" altLang="el-GR" sz="1800" dirty="0" err="1">
                <a:latin typeface="Arial" panose="020B0604020202020204" pitchFamily="34" charset="0"/>
              </a:rPr>
              <a:t>Optimized</a:t>
            </a:r>
            <a:r>
              <a:rPr lang="el-GR" altLang="el-GR" sz="1800" dirty="0">
                <a:latin typeface="Arial" panose="020B0604020202020204" pitchFamily="34" charset="0"/>
              </a:rPr>
              <a:t> </a:t>
            </a:r>
            <a:r>
              <a:rPr lang="el-GR" altLang="el-GR" sz="1800" dirty="0" err="1">
                <a:latin typeface="Arial" panose="020B0604020202020204" pitchFamily="34" charset="0"/>
              </a:rPr>
              <a:t>Link</a:t>
            </a:r>
            <a:r>
              <a:rPr lang="el-GR" altLang="el-GR" sz="1800" dirty="0">
                <a:latin typeface="Arial" panose="020B0604020202020204" pitchFamily="34" charset="0"/>
              </a:rPr>
              <a:t> </a:t>
            </a:r>
            <a:r>
              <a:rPr lang="el-GR" altLang="el-GR" sz="1800" dirty="0" err="1">
                <a:latin typeface="Arial" panose="020B0604020202020204" pitchFamily="34" charset="0"/>
              </a:rPr>
              <a:t>State</a:t>
            </a:r>
            <a:r>
              <a:rPr lang="el-GR" altLang="el-GR" sz="1800" dirty="0">
                <a:latin typeface="Arial" panose="020B0604020202020204" pitchFamily="34" charset="0"/>
              </a:rPr>
              <a:t> </a:t>
            </a:r>
            <a:r>
              <a:rPr lang="el-GR" altLang="el-GR" sz="1800" dirty="0" err="1">
                <a:latin typeface="Arial" panose="020B0604020202020204" pitchFamily="34" charset="0"/>
              </a:rPr>
              <a:t>Routing</a:t>
            </a:r>
            <a:r>
              <a:rPr lang="el-GR" altLang="el-GR" sz="1800" dirty="0">
                <a:latin typeface="Arial" panose="020B0604020202020204" pitchFamily="34" charset="0"/>
              </a:rPr>
              <a:t>).</a:t>
            </a:r>
            <a:endParaRPr lang="en-US" altLang="el-GR" sz="1800" dirty="0"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endParaRPr lang="en-US" altLang="el-GR" sz="1800" dirty="0"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l-GR" altLang="el-GR" sz="1800" dirty="0">
                <a:latin typeface="Arial" panose="020B0604020202020204" pitchFamily="34" charset="0"/>
              </a:rPr>
              <a:t>Επιπλέον,</a:t>
            </a:r>
            <a:r>
              <a:rPr lang="en-US" altLang="el-GR" sz="1800" dirty="0">
                <a:latin typeface="Arial" panose="020B0604020202020204" pitchFamily="34" charset="0"/>
              </a:rPr>
              <a:t> </a:t>
            </a:r>
            <a:r>
              <a:rPr lang="el-GR" altLang="el-GR" sz="1800" dirty="0">
                <a:latin typeface="Arial" panose="020B0604020202020204" pitchFamily="34" charset="0"/>
              </a:rPr>
              <a:t>συμπεριλάβαμε τα </a:t>
            </a:r>
            <a:r>
              <a:rPr lang="en-US" altLang="el-GR" sz="1800" dirty="0">
                <a:latin typeface="Arial" panose="020B0604020202020204" pitchFamily="34" charset="0"/>
              </a:rPr>
              <a:t>module </a:t>
            </a:r>
            <a:r>
              <a:rPr lang="en-US" altLang="el-GR" sz="1800" dirty="0" err="1">
                <a:latin typeface="Arial" panose="020B0604020202020204" pitchFamily="34" charset="0"/>
              </a:rPr>
              <a:t>olsr-helper.h</a:t>
            </a:r>
            <a:r>
              <a:rPr lang="en-US" altLang="el-GR" sz="1800" dirty="0">
                <a:latin typeface="Arial" panose="020B0604020202020204" pitchFamily="34" charset="0"/>
              </a:rPr>
              <a:t>, ns3/applications-</a:t>
            </a:r>
            <a:r>
              <a:rPr lang="en-US" altLang="el-GR" sz="1800" dirty="0" err="1">
                <a:latin typeface="Arial" panose="020B0604020202020204" pitchFamily="34" charset="0"/>
              </a:rPr>
              <a:t>module.h</a:t>
            </a:r>
            <a:r>
              <a:rPr lang="en-US" altLang="el-GR" sz="1800" dirty="0">
                <a:latin typeface="Arial" panose="020B0604020202020204" pitchFamily="34" charset="0"/>
              </a:rPr>
              <a:t>, internet-</a:t>
            </a:r>
            <a:r>
              <a:rPr lang="en-US" altLang="el-GR" sz="1800" dirty="0" err="1">
                <a:latin typeface="Arial" panose="020B0604020202020204" pitchFamily="34" charset="0"/>
              </a:rPr>
              <a:t>module.h</a:t>
            </a:r>
            <a:r>
              <a:rPr lang="en-US" altLang="el-GR" sz="1800" dirty="0">
                <a:latin typeface="Arial" panose="020B0604020202020204" pitchFamily="34" charset="0"/>
              </a:rPr>
              <a:t>.</a:t>
            </a:r>
            <a:endParaRPr lang="el-GR" altLang="el-GR" sz="1800" dirty="0"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endParaRPr lang="el-GR" altLang="el-GR" sz="1800" dirty="0"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altLang="el-GR" sz="1800" dirty="0">
                <a:latin typeface="Arial" panose="020B0604020202020204" pitchFamily="34" charset="0"/>
              </a:rPr>
              <a:t>Internet stack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altLang="el-GR" sz="1800" dirty="0">
                <a:latin typeface="Arial" panose="020B0604020202020204" pitchFamily="34" charset="0"/>
              </a:rPr>
              <a:t>Packet sink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l-GR" altLang="el-GR" sz="1800" dirty="0" err="1">
                <a:latin typeface="Arial" panose="020B0604020202020204" pitchFamily="34" charset="0"/>
              </a:rPr>
              <a:t>Γρηγορη</a:t>
            </a:r>
            <a:r>
              <a:rPr lang="el-GR" altLang="el-GR" sz="1800" dirty="0">
                <a:latin typeface="Arial" panose="020B0604020202020204" pitchFamily="34" charset="0"/>
              </a:rPr>
              <a:t> δρομολόγηση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Tw Cen MT" panose="020B0602020104020603" pitchFamily="34" charset="0"/>
              <a:buNone/>
            </a:pPr>
            <a:endParaRPr lang="el-GR" altLang="el-GR" sz="18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lang="en-US" altLang="el-GR" sz="18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Tw Cen MT" panose="020B0602020104020603" pitchFamily="34" charset="0"/>
              <a:buNone/>
            </a:pPr>
            <a:endParaRPr lang="el-GR" altLang="el-GR" sz="18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lang="el-GR" altLang="el-GR" sz="1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07584059"/>
      </p:ext>
    </p:extLst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740B5DCF-D7F8-4FA1-B6A2-C54F072B9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b="1" dirty="0"/>
              <a:t>ΥΛΟΠΟΙΗΣΗ ΤΟΥ ΕΡΩΤΗΜΑΤΟΣ 2</a:t>
            </a:r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B826EC1D-ADB3-40C8-9BDF-B44BD50ABE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2466" y="2249294"/>
            <a:ext cx="9720073" cy="4023360"/>
          </a:xfrm>
        </p:spPr>
        <p:txBody>
          <a:bodyPr/>
          <a:lstStyle/>
          <a:p>
            <a:pPr marL="0" indent="0">
              <a:buNone/>
            </a:pPr>
            <a:r>
              <a:rPr lang="el-GR" dirty="0"/>
              <a:t>Όσον αφορά το δεύτερο ερώτημα της εργασίας, η τοπολογία που δημιουργήθηκε είναι η εξής </a:t>
            </a:r>
            <a:r>
              <a:rPr lang="en-US" dirty="0"/>
              <a:t>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l-GR" dirty="0"/>
          </a:p>
        </p:txBody>
      </p:sp>
      <p:sp>
        <p:nvSpPr>
          <p:cNvPr id="5" name="AutoShape 4" descr="image.png">
            <a:extLst>
              <a:ext uri="{FF2B5EF4-FFF2-40B4-BE49-F238E27FC236}">
                <a16:creationId xmlns:a16="http://schemas.microsoft.com/office/drawing/2014/main" id="{9EC8DA17-04F4-4836-B00D-8C2179B2E7C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l-GR"/>
          </a:p>
        </p:txBody>
      </p:sp>
      <p:pic>
        <p:nvPicPr>
          <p:cNvPr id="6" name="Εικόνα 5">
            <a:extLst>
              <a:ext uri="{FF2B5EF4-FFF2-40B4-BE49-F238E27FC236}">
                <a16:creationId xmlns:a16="http://schemas.microsoft.com/office/drawing/2014/main" id="{9107478B-F89B-47FA-B8F9-EAC2BCD55F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466" y="3003954"/>
            <a:ext cx="3476927" cy="3247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7458805"/>
      </p:ext>
    </p:extLst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E5365960-9D8F-4319-A962-7839A7D1F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904" y="585216"/>
            <a:ext cx="11248556" cy="1398085"/>
          </a:xfrm>
        </p:spPr>
        <p:txBody>
          <a:bodyPr/>
          <a:lstStyle/>
          <a:p>
            <a:r>
              <a:rPr lang="el-GR" b="1" dirty="0"/>
              <a:t>ΑΠΟΤΕΛΕΣΜΑΤΑ ΤΟΥ ΕΡΩΤΗΜΑΤΟΣ 2(1)</a:t>
            </a:r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1D1334D3-3BC5-4A44-90E5-26EDD7F3FC5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24126" y="2286000"/>
            <a:ext cx="9199811" cy="740979"/>
          </a:xfrm>
        </p:spPr>
        <p:txBody>
          <a:bodyPr/>
          <a:lstStyle/>
          <a:p>
            <a:pPr marL="0" indent="0">
              <a:buNone/>
            </a:pPr>
            <a:r>
              <a:rPr lang="el-GR" dirty="0"/>
              <a:t>Με</a:t>
            </a:r>
            <a:r>
              <a:rPr lang="en-US" dirty="0"/>
              <a:t> delay=5ms </a:t>
            </a:r>
            <a:r>
              <a:rPr lang="el-GR" dirty="0"/>
              <a:t>στα </a:t>
            </a:r>
            <a:r>
              <a:rPr lang="en-US" dirty="0"/>
              <a:t> node devices 0-1 </a:t>
            </a:r>
            <a:r>
              <a:rPr lang="el-GR" dirty="0"/>
              <a:t>και </a:t>
            </a:r>
            <a:r>
              <a:rPr lang="fr-FR" dirty="0"/>
              <a:t>double </a:t>
            </a:r>
            <a:r>
              <a:rPr lang="fr-FR" b="1" dirty="0" err="1"/>
              <a:t>failDownAt</a:t>
            </a:r>
            <a:r>
              <a:rPr lang="fr-FR" b="1" dirty="0"/>
              <a:t> = 2.0</a:t>
            </a:r>
            <a:r>
              <a:rPr lang="fr-FR" dirty="0"/>
              <a:t>;</a:t>
            </a:r>
            <a:r>
              <a:rPr lang="el-GR" dirty="0"/>
              <a:t> </a:t>
            </a:r>
            <a:r>
              <a:rPr lang="fr-FR" b="1" dirty="0"/>
              <a:t>double </a:t>
            </a:r>
            <a:r>
              <a:rPr lang="fr-FR" b="1" dirty="0" err="1"/>
              <a:t>failUpAt</a:t>
            </a:r>
            <a:r>
              <a:rPr lang="fr-FR" b="1" dirty="0"/>
              <a:t>   = 3.0</a:t>
            </a:r>
            <a:r>
              <a:rPr lang="fr-FR" dirty="0"/>
              <a:t>;</a:t>
            </a:r>
            <a:r>
              <a:rPr lang="el-GR" dirty="0"/>
              <a:t> έχουμε </a:t>
            </a:r>
            <a:r>
              <a:rPr lang="en-US" dirty="0"/>
              <a:t>:</a:t>
            </a:r>
          </a:p>
          <a:p>
            <a:endParaRPr lang="el-GR" dirty="0"/>
          </a:p>
        </p:txBody>
      </p:sp>
      <p:pic>
        <p:nvPicPr>
          <p:cNvPr id="5" name="Εικόνα 4">
            <a:extLst>
              <a:ext uri="{FF2B5EF4-FFF2-40B4-BE49-F238E27FC236}">
                <a16:creationId xmlns:a16="http://schemas.microsoft.com/office/drawing/2014/main" id="{DDA09587-AC8A-42DB-BB6F-871EFA1086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7" y="3329678"/>
            <a:ext cx="6169599" cy="3184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4707825"/>
      </p:ext>
    </p:extLst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54AC1203-DE96-4B6F-8CA4-2F60F7F5C9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940" y="585741"/>
            <a:ext cx="11167872" cy="1499616"/>
          </a:xfrm>
        </p:spPr>
        <p:txBody>
          <a:bodyPr/>
          <a:lstStyle/>
          <a:p>
            <a:r>
              <a:rPr lang="el-GR" b="1" dirty="0"/>
              <a:t>ΑΠΟΤΕΛΕΣΜΑΤΑ ΤΟΥ ΕΡΩΤΗΜΑΤΟΣ 2(2)</a:t>
            </a:r>
            <a:endParaRPr lang="el-GR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5ACBCB00-2F20-4477-BDCC-021A102AB6C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24126" y="2286000"/>
            <a:ext cx="9050039" cy="961697"/>
          </a:xfrm>
        </p:spPr>
        <p:txBody>
          <a:bodyPr>
            <a:normAutofit/>
          </a:bodyPr>
          <a:lstStyle/>
          <a:p>
            <a:r>
              <a:rPr lang="el-GR" dirty="0"/>
              <a:t>Με </a:t>
            </a:r>
            <a:r>
              <a:rPr lang="en-US" dirty="0"/>
              <a:t>delay=</a:t>
            </a:r>
            <a:r>
              <a:rPr lang="el-GR" dirty="0"/>
              <a:t>2</a:t>
            </a:r>
            <a:r>
              <a:rPr lang="en-US" dirty="0" err="1"/>
              <a:t>ms</a:t>
            </a:r>
            <a:r>
              <a:rPr lang="en-US" dirty="0"/>
              <a:t> </a:t>
            </a:r>
            <a:r>
              <a:rPr lang="el-GR" dirty="0"/>
              <a:t>στα  </a:t>
            </a:r>
            <a:r>
              <a:rPr lang="en-US" dirty="0"/>
              <a:t>node devices 0-1 </a:t>
            </a:r>
            <a:r>
              <a:rPr lang="el-GR" dirty="0"/>
              <a:t>και </a:t>
            </a:r>
            <a:r>
              <a:rPr lang="en-US" b="1" dirty="0"/>
              <a:t>double </a:t>
            </a:r>
            <a:r>
              <a:rPr lang="en-US" b="1" dirty="0" err="1"/>
              <a:t>failDownAt</a:t>
            </a:r>
            <a:r>
              <a:rPr lang="en-US" b="1" dirty="0"/>
              <a:t> = </a:t>
            </a:r>
            <a:r>
              <a:rPr lang="el-GR" b="1" dirty="0"/>
              <a:t>8</a:t>
            </a:r>
            <a:r>
              <a:rPr lang="en-US" b="1" dirty="0"/>
              <a:t>.0; </a:t>
            </a:r>
            <a:r>
              <a:rPr lang="en-US" dirty="0"/>
              <a:t>double </a:t>
            </a:r>
            <a:r>
              <a:rPr lang="en-US" b="1" dirty="0" err="1"/>
              <a:t>failUpAt</a:t>
            </a:r>
            <a:r>
              <a:rPr lang="en-US" b="1" dirty="0"/>
              <a:t>   = </a:t>
            </a:r>
            <a:r>
              <a:rPr lang="el-GR" b="1" dirty="0"/>
              <a:t>6</a:t>
            </a:r>
            <a:r>
              <a:rPr lang="en-US" b="1" dirty="0"/>
              <a:t>.0; </a:t>
            </a:r>
            <a:r>
              <a:rPr lang="el-GR" dirty="0"/>
              <a:t>έχουμε :</a:t>
            </a:r>
          </a:p>
          <a:p>
            <a:endParaRPr lang="en-US" dirty="0"/>
          </a:p>
        </p:txBody>
      </p:sp>
      <p:pic>
        <p:nvPicPr>
          <p:cNvPr id="5" name="Θέση περιεχομένου 4">
            <a:extLst>
              <a:ext uri="{FF2B5EF4-FFF2-40B4-BE49-F238E27FC236}">
                <a16:creationId xmlns:a16="http://schemas.microsoft.com/office/drawing/2014/main" id="{ACDCA8BA-760A-4DEE-AA1B-0DC480EDDCAC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1024126" y="3429000"/>
            <a:ext cx="5849639" cy="2843259"/>
          </a:xfrm>
          <a:prstGeom prst="rect">
            <a:avLst/>
          </a:prstGeom>
        </p:spPr>
      </p:pic>
      <p:sp>
        <p:nvSpPr>
          <p:cNvPr id="6" name="Ορθογώνιο 5">
            <a:extLst>
              <a:ext uri="{FF2B5EF4-FFF2-40B4-BE49-F238E27FC236}">
                <a16:creationId xmlns:a16="http://schemas.microsoft.com/office/drawing/2014/main" id="{5368E1DB-74DB-4CCE-94F2-53719AEDB8D7}"/>
              </a:ext>
            </a:extLst>
          </p:cNvPr>
          <p:cNvSpPr/>
          <p:nvPr/>
        </p:nvSpPr>
        <p:spPr>
          <a:xfrm>
            <a:off x="7099738" y="3849839"/>
            <a:ext cx="4259317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l-GR" dirty="0"/>
              <a:t>Παρατηρούμε επίσης πως το PDR </a:t>
            </a:r>
            <a:r>
              <a:rPr lang="en-US" dirty="0"/>
              <a:t>=</a:t>
            </a:r>
            <a:r>
              <a:rPr lang="el-GR" dirty="0"/>
              <a:t>50% επειδή κάποια πακέτα χάνονται ενώ άλλα έχουν ήδη αρχίσει να δρομολογούνται μέσω της νέας διαδρομής.</a:t>
            </a:r>
          </a:p>
        </p:txBody>
      </p:sp>
    </p:spTree>
    <p:extLst>
      <p:ext uri="{BB962C8B-B14F-4D97-AF65-F5344CB8AC3E}">
        <p14:creationId xmlns:p14="http://schemas.microsoft.com/office/powerpoint/2010/main" val="3980910133"/>
      </p:ext>
    </p:extLst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8C00DAD0-3F5C-4917-A7D5-A3D10C3144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/>
              <a:t>Github</a:t>
            </a:r>
            <a:r>
              <a:rPr lang="el-GR" b="1" dirty="0"/>
              <a:t> </a:t>
            </a:r>
            <a:r>
              <a:rPr lang="en-US" b="1" dirty="0"/>
              <a:t>link</a:t>
            </a:r>
            <a:endParaRPr lang="el-GR" b="1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A6FF4638-58AE-4F9F-BEB5-E0E22CA065D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24126" y="2286000"/>
            <a:ext cx="9861963" cy="4023360"/>
          </a:xfrm>
        </p:spPr>
        <p:txBody>
          <a:bodyPr/>
          <a:lstStyle/>
          <a:p>
            <a:r>
              <a:rPr lang="el-GR" dirty="0"/>
              <a:t>Τα αρχεία του κώδικα καθώς και η</a:t>
            </a:r>
            <a:r>
              <a:rPr lang="en-US" dirty="0"/>
              <a:t> </a:t>
            </a:r>
            <a:r>
              <a:rPr lang="el-GR" dirty="0"/>
              <a:t>παρουσίαση βρίσκονται στο εξής </a:t>
            </a:r>
            <a:r>
              <a:rPr lang="en-US" dirty="0"/>
              <a:t>link:</a:t>
            </a:r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1058767610"/>
      </p:ext>
    </p:extLst>
  </p:cSld>
  <p:clrMapOvr>
    <a:masterClrMapping/>
  </p:clrMapOvr>
  <p:transition spd="slow"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D3B5979B-DAA2-4179-A467-7A963AB07E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b="1" dirty="0"/>
              <a:t>Πηγες</a:t>
            </a:r>
            <a:r>
              <a:rPr lang="en-US" b="1" dirty="0"/>
              <a:t> kai </a:t>
            </a:r>
            <a:r>
              <a:rPr lang="el-GR" b="1" dirty="0"/>
              <a:t>Βιβλιογραφια</a:t>
            </a:r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2C15E7EE-1AAC-44FA-9CBE-14186AB94B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4128" y="2435291"/>
            <a:ext cx="9720073" cy="3547055"/>
          </a:xfrm>
        </p:spPr>
        <p:txBody>
          <a:bodyPr>
            <a:normAutofit fontScale="25000" lnSpcReduction="20000"/>
          </a:bodyPr>
          <a:lstStyle/>
          <a:p>
            <a:r>
              <a:rPr lang="el-GR" sz="4800" b="1" dirty="0"/>
              <a:t>Για το </a:t>
            </a:r>
            <a:r>
              <a:rPr lang="en-US" sz="4800" b="1" dirty="0"/>
              <a:t>setup </a:t>
            </a:r>
            <a:r>
              <a:rPr lang="el-GR" sz="4800" b="1" dirty="0"/>
              <a:t>της εργασίας και το ερώτημα 1</a:t>
            </a:r>
            <a:r>
              <a:rPr lang="en-US" sz="4800" b="1" dirty="0"/>
              <a:t>:</a:t>
            </a:r>
            <a:br>
              <a:rPr lang="en-US" sz="4800" dirty="0"/>
            </a:br>
            <a:br>
              <a:rPr lang="en-US" sz="4800" dirty="0"/>
            </a:br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https://www.nsnam.org/documentation/</a:t>
            </a:r>
            <a:endParaRPr lang="el-GR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https://www.nsnam.org/docs/contributing/html/coding-style.html#header-file-includes</a:t>
            </a:r>
            <a:endParaRPr lang="el-GR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https://www.nsnam.org/docs/tutorial/html/</a:t>
            </a:r>
            <a:endParaRPr lang="en-US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https://www.youtube.com/watch?v=Jv_swgcykjQ</a:t>
            </a:r>
            <a:endParaRPr lang="en-US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https://www.youtube.com/watch?v=2W5mdzQrwXI</a:t>
            </a:r>
            <a:endParaRPr lang="en-US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https://www.nsnam.org/docs/tutorial/html/building-topologies.html</a:t>
            </a:r>
            <a:endParaRPr lang="el-GR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l-GR" sz="48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Για το ερώτημα 2</a:t>
            </a:r>
            <a:r>
              <a:rPr lang="en-US" sz="48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:</a:t>
            </a:r>
            <a:endParaRPr lang="el-GR" sz="480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r>
              <a:rPr lang="en-US" sz="4800" dirty="0">
                <a:hlinkClick r:id="rId8" tooltip="https://ns3-code.com/how-to-begin-implement-network-failover-in-ns3/"/>
              </a:rPr>
              <a:t>https://ns3-code.com/how-to-begin-implement-network-failover-in-ns3/</a:t>
            </a:r>
            <a:endParaRPr lang="en-US" sz="4800" dirty="0"/>
          </a:p>
          <a:p>
            <a:r>
              <a:rPr lang="en-US" sz="4800" dirty="0">
                <a:hlinkClick r:id="rId9"/>
              </a:rPr>
              <a:t>https://ns3-code.com/how-to-begin-implement-dynamic-routing-in-ns3/</a:t>
            </a:r>
            <a:endParaRPr lang="en-US" sz="4800" dirty="0"/>
          </a:p>
          <a:p>
            <a:r>
              <a:rPr lang="el-GR" sz="4800" dirty="0">
                <a:hlinkClick r:id="rId10" tooltip="https://networksimulationtools.com/how-to-run-netanim-in-ns3/"/>
              </a:rPr>
              <a:t>[</a:t>
            </a:r>
            <a:r>
              <a:rPr lang="en-US" sz="4800" dirty="0">
                <a:hlinkClick r:id="rId10" tooltip="https://networksimulationtools.com/how-to-run-netanim-in-ns3/"/>
              </a:rPr>
              <a:t>https://networksimulationtools.com/how-to-run-netanim-in-ns3/</a:t>
            </a:r>
            <a:r>
              <a:rPr lang="el-GR" sz="4800" dirty="0"/>
              <a:t>]</a:t>
            </a:r>
            <a:endParaRPr lang="en-US" sz="4800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endParaRPr lang="el-GR" sz="2600" dirty="0">
              <a:solidFill>
                <a:schemeClr val="accent1">
                  <a:lumMod val="75000"/>
                </a:schemeClr>
              </a:solidFill>
            </a:endParaRPr>
          </a:p>
          <a:p>
            <a:endParaRPr lang="en-US" sz="2600" dirty="0">
              <a:solidFill>
                <a:schemeClr val="accent1">
                  <a:lumMod val="75000"/>
                </a:schemeClr>
              </a:solidFill>
            </a:endParaRPr>
          </a:p>
          <a:p>
            <a:br>
              <a:rPr lang="en-US" dirty="0"/>
            </a:br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1234120531"/>
      </p:ext>
    </p:extLst>
  </p:cSld>
  <p:clrMapOvr>
    <a:masterClrMapping/>
  </p:clrMapOvr>
  <p:transition spd="slow">
    <p:push dir="u"/>
  </p:transition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Ολοκλήρωμα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36805159_TF22378848.potx" id="{51E92035-72BC-4B07-89CE-59A925E51368}" vid="{AC9007D9-22C0-4E44-B232-42ADFD1A740A}"/>
    </a:ext>
  </a:extLst>
</a:theme>
</file>

<file path=ppt/theme/theme2.xml><?xml version="1.0" encoding="utf-8"?>
<a:theme xmlns:a="http://schemas.openxmlformats.org/drawingml/2006/main" name="Θέμα του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Θέμα του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1" ma:contentTypeDescription="Create a new document." ma:contentTypeScope="" ma:versionID="9677210f24a1be23c92c90fd886aa0aa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60e05723c5c1908df1a1a4ebf11d344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88A2F88-55C5-4ED1-9541-807C65424763}">
  <ds:schemaRefs>
    <ds:schemaRef ds:uri="http://www.w3.org/XML/1998/namespace"/>
    <ds:schemaRef ds:uri="http://schemas.microsoft.com/office/2006/metadata/properties"/>
    <ds:schemaRef ds:uri="http://schemas.microsoft.com/office/2006/documentManagement/types"/>
    <ds:schemaRef ds:uri="http://schemas.microsoft.com/office/infopath/2007/PartnerControls"/>
    <ds:schemaRef ds:uri="http://purl.org/dc/terms/"/>
    <ds:schemaRef ds:uri="71af3243-3dd4-4a8d-8c0d-dd76da1f02a5"/>
    <ds:schemaRef ds:uri="16c05727-aa75-4e4a-9b5f-8a80a1165891"/>
    <ds:schemaRef ds:uri="http://schemas.openxmlformats.org/package/2006/metadata/core-properties"/>
    <ds:schemaRef ds:uri="http://purl.org/dc/dcmitype/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4F44C90D-2A62-4985-9618-3460247437B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61EAB5F-88FC-4FAE-AE3C-037A3C365EB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Ολοκληρωμένος σχεδιασμός</Template>
  <TotalTime>451</TotalTime>
  <Words>704</Words>
  <Application>Microsoft Office PowerPoint</Application>
  <PresentationFormat>Ευρεία οθόνη</PresentationFormat>
  <Paragraphs>89</Paragraphs>
  <Slides>13</Slides>
  <Notes>2</Notes>
  <HiddenSlides>0</HiddenSlides>
  <MMClips>0</MMClips>
  <ScaleCrop>false</ScaleCrop>
  <HeadingPairs>
    <vt:vector size="6" baseType="variant">
      <vt:variant>
        <vt:lpstr>Γραμματοσειρές που χρησιμοποιούνται</vt:lpstr>
      </vt:variant>
      <vt:variant>
        <vt:i4>5</vt:i4>
      </vt:variant>
      <vt:variant>
        <vt:lpstr>Θέμα</vt:lpstr>
      </vt:variant>
      <vt:variant>
        <vt:i4>1</vt:i4>
      </vt:variant>
      <vt:variant>
        <vt:lpstr>Τίτλοι διαφανειών</vt:lpstr>
      </vt:variant>
      <vt:variant>
        <vt:i4>13</vt:i4>
      </vt:variant>
    </vt:vector>
  </HeadingPairs>
  <TitlesOfParts>
    <vt:vector size="19" baseType="lpstr">
      <vt:lpstr>Arial</vt:lpstr>
      <vt:lpstr>Calibri</vt:lpstr>
      <vt:lpstr>Tw Cen MT</vt:lpstr>
      <vt:lpstr>Wingdings</vt:lpstr>
      <vt:lpstr>Wingdings 3</vt:lpstr>
      <vt:lpstr>Ολοκλήρωμα</vt:lpstr>
      <vt:lpstr>ΠΡΟΣΟΜΟΙΩΣΗ ΔΙΚΤΥΟΥ ΜΕ NS-3</vt:lpstr>
      <vt:lpstr>Το Κυριο θεμα της εργασιασ</vt:lpstr>
      <vt:lpstr>ΒΗΜΑΤΑ ΥΛΟΠΟΙΗΣΗΣ ΤΗΣ ΕΡΓΑΣΙΑΣ (1)</vt:lpstr>
      <vt:lpstr>ΒΗΜΑΤΑ ΥΛΟΠΟΙΗΣΗΣ ΤΗΣ ΕΡΓΑΣΙΑΣ (2)</vt:lpstr>
      <vt:lpstr>Δεδομενα του ΕΡΩΤΗΜΑτοσ 1</vt:lpstr>
      <vt:lpstr>Παρουσίαση του PowerPoint</vt:lpstr>
      <vt:lpstr>αποτελεσματα του ερωτηματοσ 1 </vt:lpstr>
      <vt:lpstr>ΔΕΔΟΜΕΝΑ ΤΟυ ΕΡΩΤΗΜΑτοσ 2</vt:lpstr>
      <vt:lpstr>ΥΛΟΠΟΙΗΣΗ ΤΟΥ ΕΡΩΤΗΜΑΤΟΣ 2</vt:lpstr>
      <vt:lpstr>ΑΠΟΤΕΛΕΣΜΑΤΑ ΤΟΥ ΕΡΩΤΗΜΑΤΟΣ 2(1)</vt:lpstr>
      <vt:lpstr>ΑΠΟΤΕΛΕΣΜΑΤΑ ΤΟΥ ΕΡΩΤΗΜΑΤΟΣ 2(2)</vt:lpstr>
      <vt:lpstr>Github link</vt:lpstr>
      <vt:lpstr>Πηγες kai Βιβλιογραφια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ΠΡΟΣΟΜΟΙΩΣΗ ΔΙΚΤΥΟΥ ΜΕ NS-3</dc:title>
  <dc:creator>Socrates Gillis</dc:creator>
  <cp:lastModifiedBy>Georgia</cp:lastModifiedBy>
  <cp:revision>140</cp:revision>
  <dcterms:created xsi:type="dcterms:W3CDTF">2025-10-19T19:42:56Z</dcterms:created>
  <dcterms:modified xsi:type="dcterms:W3CDTF">2025-11-12T11:27:11Z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