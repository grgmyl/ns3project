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77" r:id="rId6"/>
    <p:sldId id="279" r:id="rId7"/>
    <p:sldId id="282" r:id="rId8"/>
    <p:sldId id="284" r:id="rId9"/>
    <p:sldId id="283" r:id="rId10"/>
    <p:sldId id="278" r:id="rId11"/>
    <p:sldId id="290" r:id="rId12"/>
    <p:sldId id="287" r:id="rId13"/>
    <p:sldId id="286" r:id="rId14"/>
    <p:sldId id="293" r:id="rId15"/>
    <p:sldId id="294" r:id="rId16"/>
    <p:sldId id="295" r:id="rId17"/>
    <p:sldId id="288" r:id="rId18"/>
    <p:sldId id="281" r:id="rId19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6395" autoAdjust="0"/>
  </p:normalViewPr>
  <p:slideViewPr>
    <p:cSldViewPr snapToGrid="0">
      <p:cViewPr varScale="1">
        <p:scale>
          <a:sx n="113" d="100"/>
          <a:sy n="113" d="100"/>
        </p:scale>
        <p:origin x="4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18/11/2025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 dirty="0"/>
              <a:t>Κάντε κλικ για να επεξεργαστείτε τον υπότιτλο του υποδείγματος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-60366" y="0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Το Κυριο θεμα της εργασιασ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Προσομοίωση δικτύου με την χρήση του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simulator NS-3.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Κύριοι στόχοι της εργασίας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destination</a:t>
            </a:r>
            <a:r>
              <a:rPr lang="en-GB" dirty="0"/>
              <a:t>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</a:p>
          <a:p>
            <a:pPr marL="173736" lvl="1" indent="0" algn="just">
              <a:buNone/>
            </a:pPr>
            <a:endParaRPr lang="el-GR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(1)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254488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l-GR" sz="2000" dirty="0"/>
              <a:t>Χρησιμοποιήσαμε τα εξής εργαλεία για την υλοποίηση της άσκησης :</a:t>
            </a:r>
            <a:endParaRPr lang="en-US" sz="2000" dirty="0"/>
          </a:p>
          <a:p>
            <a:pPr marL="0" indent="0">
              <a:buNone/>
            </a:pPr>
            <a:br>
              <a:rPr lang="el-GR" sz="2000" dirty="0"/>
            </a:br>
            <a:endParaRPr lang="el-GR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VMware Workstation Pro</a:t>
            </a:r>
            <a:r>
              <a:rPr lang="el-GR" sz="2000" dirty="0"/>
              <a:t> για το </a:t>
            </a:r>
            <a:r>
              <a:rPr lang="en-US" sz="2000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Discord </a:t>
            </a:r>
            <a:r>
              <a:rPr lang="el-GR" sz="2000" dirty="0"/>
              <a:t>και </a:t>
            </a:r>
            <a:r>
              <a:rPr lang="en-US" sz="2000" dirty="0"/>
              <a:t>GitHub </a:t>
            </a:r>
            <a:r>
              <a:rPr lang="el-GR" sz="2000" dirty="0"/>
              <a:t>για την επικοινωνία και τον συγχρονισμό των μελών της ομάδας.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Draw.io </a:t>
            </a:r>
            <a:r>
              <a:rPr lang="el-GR" sz="2000" dirty="0"/>
              <a:t>για την υλοποίηση σχεδιαγραμμάτων/τοπολογίας</a:t>
            </a:r>
            <a:r>
              <a:rPr lang="el-G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828" y="4559485"/>
            <a:ext cx="2010569" cy="2010569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9448"/>
            <a:ext cx="2119364" cy="2119364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994" y="4857097"/>
            <a:ext cx="2319248" cy="164171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932" y="4857097"/>
            <a:ext cx="2347674" cy="1320567"/>
          </a:xfrm>
          <a:prstGeom prst="rect">
            <a:avLst/>
          </a:prstGeom>
        </p:spPr>
      </p:pic>
      <p:pic>
        <p:nvPicPr>
          <p:cNvPr id="4" name="Εικόνα 3">
            <a:extLst>
              <a:ext uri="{FF2B5EF4-FFF2-40B4-BE49-F238E27FC236}">
                <a16:creationId xmlns:a16="http://schemas.microsoft.com/office/drawing/2014/main" id="{2A35B6A1-721A-4FBA-8F36-F670825F9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722" y="4330949"/>
            <a:ext cx="2347674" cy="228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0835080" cy="1278615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</a:t>
            </a:r>
            <a:r>
              <a:rPr lang="el-GR" sz="4800" b="1" dirty="0"/>
              <a:t>2</a:t>
            </a:r>
            <a:r>
              <a:rPr lang="en-US" sz="4800" b="1" dirty="0"/>
              <a:t>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512468"/>
            <a:ext cx="6567466" cy="3771791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Ως γλώσσα προγραμματισμού επιλέχθηκε η </a:t>
            </a:r>
            <a:r>
              <a:rPr lang="en-US" dirty="0"/>
              <a:t>C++.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  <a:p>
            <a:pPr marL="0" indent="0" algn="just">
              <a:buNone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Δεδομενα του ΕΡΩΤΗΜΑτοσ 1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033" y="2317531"/>
            <a:ext cx="11105199" cy="34794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2000" dirty="0"/>
              <a:t>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2</a:t>
            </a:r>
            <a:r>
              <a:rPr lang="en-US" sz="2000" dirty="0"/>
              <a:t>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/>
              <a:t>λοποιήθηκαν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3.</a:t>
            </a:r>
            <a:r>
              <a:rPr lang="en-US" sz="2000" dirty="0"/>
              <a:t>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627529"/>
            <a:ext cx="9453318" cy="11236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Υλοποιηση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Έγινε χρήση των </a:t>
            </a:r>
            <a:r>
              <a:rPr lang="en-US" dirty="0"/>
              <a:t>module: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11.0s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 marL="0" indent="0">
              <a:buNone/>
            </a:pPr>
            <a:endParaRPr lang="el-GR" u="sng" dirty="0"/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093" y="870452"/>
            <a:ext cx="9720072" cy="653003"/>
          </a:xfrm>
        </p:spPr>
        <p:txBody>
          <a:bodyPr>
            <a:normAutofit fontScale="90000"/>
          </a:bodyPr>
          <a:lstStyle/>
          <a:p>
            <a:r>
              <a:rPr lang="el-GR" b="1" dirty="0"/>
              <a:t>ΔΕΔΟΜΕΝΑ ΤΟυ ΕΡΩΤΗΜΑτοσ 2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94425-F47D-8652-2A48-D2A9D02F106D}"/>
              </a:ext>
            </a:extLst>
          </p:cNvPr>
          <p:cNvSpPr txBox="1"/>
          <p:nvPr/>
        </p:nvSpPr>
        <p:spPr>
          <a:xfrm>
            <a:off x="723201" y="1867351"/>
            <a:ext cx="11097088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Επιλέξαμε την δυναμική δρομολόγηση OLSR (Optimized Link State </a:t>
            </a:r>
            <a:r>
              <a:rPr lang="el-GR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Routing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). Το OLSR ανταποκρίνεται γρήγορα σε αλλαγές της τοπολογίας και υποστηρίζεται πλήρως στο περιβάλλον του ns-3.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Επιπλέον,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συμπεριλάβαμε τις εξής βιβλιοθήκες: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module 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olsr-helper.h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ns3/applications-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module.h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b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internet-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module.h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l-GR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 stack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αποστολή, λήψη και επεξεργασία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packet sink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που λαμβάνει εισερχόμενα πακέτα και χρησιμοποιείται για τη μέτρηση της δικτυακής κίνησης και της επιτυχούς παράδοσης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warm up phase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είναι μια χρονική περίοδος κατά την οποία οι μετρήσεις αγνοούνται σκόπιμα, ώστε να δοθεί χρόνος στο σύστημα να σταθεροποιήσει τους πίνακες δρομολόγησης, τις ουρές και τα πρότυπα κίνησης πριν ξεκινήσει η συλλογή ακριβών δεδομένων απόδοσης.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ΥΛΟΠΟΙΗΣΗ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24975"/>
            <a:ext cx="3669102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5365960-9D8F-4319-A962-7839A7D1F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904" y="585216"/>
            <a:ext cx="11248556" cy="1398085"/>
          </a:xfrm>
        </p:spPr>
        <p:txBody>
          <a:bodyPr/>
          <a:lstStyle/>
          <a:p>
            <a:r>
              <a:rPr lang="el-GR" b="1" dirty="0"/>
              <a:t>ΑΠΟΤΕΛΕΣΜΑΤΑ ΤΟΥ ΕΡΩΤΗΜΑΤΟΣ 2(1)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D1334D3-3BC5-4A44-90E5-26EDD7F3FC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199811" cy="740979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Με</a:t>
            </a:r>
            <a:r>
              <a:rPr lang="en-US" dirty="0"/>
              <a:t> delay=5ms </a:t>
            </a:r>
            <a:r>
              <a:rPr lang="el-GR" dirty="0"/>
              <a:t>στα </a:t>
            </a:r>
            <a:r>
              <a:rPr lang="en-US" dirty="0"/>
              <a:t> node devices 0-1 </a:t>
            </a:r>
            <a:r>
              <a:rPr lang="el-GR" dirty="0"/>
              <a:t>και </a:t>
            </a:r>
            <a:br>
              <a:rPr lang="el-GR" dirty="0"/>
            </a:br>
            <a:r>
              <a:rPr lang="fr-FR" b="1" dirty="0"/>
              <a:t>double</a:t>
            </a:r>
            <a:r>
              <a:rPr lang="fr-FR" dirty="0"/>
              <a:t> </a:t>
            </a:r>
            <a:r>
              <a:rPr lang="fr-FR" b="1" dirty="0"/>
              <a:t>failDownAt = 2.0</a:t>
            </a:r>
            <a:r>
              <a:rPr lang="fr-FR" dirty="0"/>
              <a:t>;</a:t>
            </a:r>
            <a:r>
              <a:rPr lang="el-GR" dirty="0"/>
              <a:t> </a:t>
            </a:r>
            <a:r>
              <a:rPr lang="fr-FR" b="1" dirty="0"/>
              <a:t>double failUpAt   = 3.0</a:t>
            </a:r>
            <a:r>
              <a:rPr lang="fr-FR" dirty="0"/>
              <a:t>;</a:t>
            </a:r>
            <a:r>
              <a:rPr lang="el-GR" dirty="0"/>
              <a:t> έχουμε </a:t>
            </a:r>
            <a:r>
              <a:rPr lang="en-US" dirty="0"/>
              <a:t>:</a:t>
            </a:r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DDA09587-AC8A-42DB-BB6F-871EFA108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7" y="3329678"/>
            <a:ext cx="6169599" cy="31846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FE7DF0-34E2-C0A5-1E9E-80484AC29557}"/>
              </a:ext>
            </a:extLst>
          </p:cNvPr>
          <p:cNvSpPr txBox="1"/>
          <p:nvPr/>
        </p:nvSpPr>
        <p:spPr>
          <a:xfrm>
            <a:off x="8146937" y="4480513"/>
            <a:ext cx="341811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b="1" dirty="0">
                <a:solidFill>
                  <a:srgbClr val="FF0000"/>
                </a:solidFill>
              </a:rPr>
              <a:t>Λέω για εδώ να βρούμε </a:t>
            </a:r>
            <a:br>
              <a:rPr lang="el-GR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ένα καλύτερο παράδειγμα να </a:t>
            </a:r>
            <a:br>
              <a:rPr lang="el-GR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μην χάνονται πακέτα και να </a:t>
            </a:r>
            <a:br>
              <a:rPr lang="el-GR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τσεκάρουμε ότι όλα λειτουργούν 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n-US" b="1" dirty="0">
                <a:solidFill>
                  <a:srgbClr val="FF0000"/>
                </a:solidFill>
              </a:rPr>
              <a:t>like they should be!</a:t>
            </a:r>
          </a:p>
        </p:txBody>
      </p:sp>
    </p:spTree>
    <p:extLst>
      <p:ext uri="{BB962C8B-B14F-4D97-AF65-F5344CB8AC3E}">
        <p14:creationId xmlns:p14="http://schemas.microsoft.com/office/powerpoint/2010/main" val="303470782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62AF1-DEAC-ACCB-2EB0-FFEC8680A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7D6E0E0-263A-1B94-E1DA-4278AC92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2(2)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7D1A746-4021-C534-26B8-E34D2DC5F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Με </a:t>
            </a:r>
            <a:r>
              <a:rPr lang="en-US" dirty="0"/>
              <a:t>delay=</a:t>
            </a:r>
            <a:r>
              <a:rPr lang="el-GR" dirty="0"/>
              <a:t>2</a:t>
            </a:r>
            <a:r>
              <a:rPr lang="en-US" dirty="0"/>
              <a:t>ms </a:t>
            </a:r>
            <a:r>
              <a:rPr lang="el-GR" dirty="0"/>
              <a:t>στα  </a:t>
            </a:r>
            <a:r>
              <a:rPr lang="en-US" dirty="0"/>
              <a:t>node devices 0-1 </a:t>
            </a:r>
            <a:r>
              <a:rPr lang="el-GR" dirty="0"/>
              <a:t>και </a:t>
            </a:r>
            <a:br>
              <a:rPr lang="el-GR" dirty="0"/>
            </a:br>
            <a:r>
              <a:rPr lang="en-US" b="1" dirty="0"/>
              <a:t>double failDownAt = </a:t>
            </a:r>
            <a:r>
              <a:rPr lang="el-GR" b="1" dirty="0"/>
              <a:t>8</a:t>
            </a:r>
            <a:r>
              <a:rPr lang="en-US" b="1" dirty="0"/>
              <a:t>.0; double</a:t>
            </a:r>
            <a:r>
              <a:rPr lang="en-US" dirty="0"/>
              <a:t> </a:t>
            </a:r>
            <a:r>
              <a:rPr lang="en-US" b="1" dirty="0"/>
              <a:t>failUpAt</a:t>
            </a:r>
            <a:r>
              <a:rPr lang="el-GR" b="1" dirty="0"/>
              <a:t> </a:t>
            </a:r>
            <a:r>
              <a:rPr lang="en-US" b="1" dirty="0"/>
              <a:t>= </a:t>
            </a:r>
            <a:r>
              <a:rPr lang="el-GR" b="1" dirty="0"/>
              <a:t>6</a:t>
            </a:r>
            <a:r>
              <a:rPr lang="en-US" b="1" dirty="0"/>
              <a:t>.0; </a:t>
            </a:r>
            <a:r>
              <a:rPr lang="el-GR" dirty="0"/>
              <a:t>έχουμε :</a:t>
            </a:r>
          </a:p>
          <a:p>
            <a:endParaRPr lang="en-US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D11F0DD8-4464-A6B8-A74D-0875BF51EA6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24126" y="3429000"/>
            <a:ext cx="5849639" cy="2843259"/>
          </a:xfrm>
          <a:prstGeom prst="rect">
            <a:avLst/>
          </a:prstGeom>
        </p:spPr>
      </p:pic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DF5E7B91-521C-840F-200F-34F250DCA13C}"/>
              </a:ext>
            </a:extLst>
          </p:cNvPr>
          <p:cNvSpPr/>
          <p:nvPr/>
        </p:nvSpPr>
        <p:spPr>
          <a:xfrm>
            <a:off x="7099738" y="3849839"/>
            <a:ext cx="4259317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l-GR" dirty="0"/>
              <a:t>Παρατηρούμε επίσης πως το PDR </a:t>
            </a:r>
            <a:r>
              <a:rPr lang="en-US" dirty="0"/>
              <a:t>=</a:t>
            </a:r>
            <a:r>
              <a:rPr lang="el-GR" dirty="0"/>
              <a:t>50% επειδή κάποια πακέτα χάνονται ενώ άλλα έχουν ήδη αρχίσει να δρομολογούνται μέσω της νέας διαδρομής</a:t>
            </a:r>
            <a:r>
              <a:rPr lang="en-US" dirty="0"/>
              <a:t> </a:t>
            </a:r>
            <a:r>
              <a:rPr lang="el-GR" dirty="0"/>
              <a:t>.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l-GR" b="1" dirty="0">
                <a:solidFill>
                  <a:srgbClr val="FF0000"/>
                </a:solidFill>
              </a:rPr>
              <a:t>Αυτό ισχύει και για το 2 </a:t>
            </a:r>
            <a:r>
              <a:rPr lang="en-US" b="1" dirty="0">
                <a:solidFill>
                  <a:srgbClr val="FF0000"/>
                </a:solidFill>
              </a:rPr>
              <a:t>screenshot! we’ll talk!)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να σταθούμε πιο πολύ στην σημασία της αλλαγής του </a:t>
            </a:r>
            <a:r>
              <a:rPr lang="en-US" b="1" dirty="0">
                <a:solidFill>
                  <a:srgbClr val="FF0000"/>
                </a:solidFill>
              </a:rPr>
              <a:t>delay </a:t>
            </a:r>
            <a:r>
              <a:rPr lang="el-GR" b="1" dirty="0">
                <a:solidFill>
                  <a:srgbClr val="FF0000"/>
                </a:solidFill>
              </a:rPr>
              <a:t>λέω εγώ.</a:t>
            </a:r>
            <a:endParaRPr lang="el-G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3760690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23E0F-817A-A7CC-B5F5-03219ED59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7C5853-3793-1138-66EF-657A081F2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3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F60EA03-548E-9D94-5308-C8578BD8D5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Χρήση του </a:t>
            </a:r>
            <a:r>
              <a:rPr lang="en-US" dirty="0"/>
              <a:t>warm-up phase!</a:t>
            </a:r>
            <a:endParaRPr lang="el-GR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8366C-622C-7125-D484-05F4642D4D20}"/>
              </a:ext>
            </a:extLst>
          </p:cNvPr>
          <p:cNvSpPr txBox="1"/>
          <p:nvPr/>
        </p:nvSpPr>
        <p:spPr>
          <a:xfrm>
            <a:off x="3288494" y="4244195"/>
            <a:ext cx="56150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Screen shot for showing what we have done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63986776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65791-9F55-09CB-C866-3B1699FE2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FC7F9E96-BEAE-B353-9BEE-88962939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4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08114C50-3F0F-9504-F66D-9FAB2B7084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Χρήση του </a:t>
            </a:r>
            <a:r>
              <a:rPr lang="en-US" dirty="0"/>
              <a:t>warm-up phase! </a:t>
            </a:r>
            <a:r>
              <a:rPr lang="el-GR" dirty="0"/>
              <a:t>Σε κάποιο άλλο </a:t>
            </a:r>
            <a:r>
              <a:rPr lang="en-US" dirty="0"/>
              <a:t>Instance!</a:t>
            </a:r>
            <a:endParaRPr lang="el-GR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718D-C5F6-1E2D-1546-669E78D251C3}"/>
              </a:ext>
            </a:extLst>
          </p:cNvPr>
          <p:cNvSpPr txBox="1"/>
          <p:nvPr/>
        </p:nvSpPr>
        <p:spPr>
          <a:xfrm>
            <a:off x="3288494" y="4244195"/>
            <a:ext cx="56150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Screen shot for showing what we have done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464990915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anchor="ctr">
            <a:normAutofit/>
          </a:bodyPr>
          <a:lstStyle/>
          <a:p>
            <a:r>
              <a:rPr lang="en-US" b="1" dirty="0"/>
              <a:t>GitHub</a:t>
            </a:r>
            <a:r>
              <a:rPr lang="el-GR" b="1" dirty="0"/>
              <a:t> </a:t>
            </a:r>
            <a:r>
              <a:rPr lang="en-US" b="1" dirty="0"/>
              <a:t>link</a:t>
            </a:r>
            <a:endParaRPr lang="el-GR" b="1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6E9FFE-28CA-03E3-8840-E040B5431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272" y="2964119"/>
            <a:ext cx="5678424" cy="3421249"/>
          </a:xfrm>
          <a:prstGeom prst="rect">
            <a:avLst/>
          </a:prstGeom>
          <a:noFill/>
        </p:spPr>
      </p:pic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>
            <a:normAutofit/>
          </a:bodyPr>
          <a:lstStyle/>
          <a:p>
            <a:r>
              <a:rPr lang="el-GR" dirty="0"/>
              <a:t>Τα αρχεία του κώδικα καθώς και η</a:t>
            </a:r>
            <a:r>
              <a:rPr lang="en-US" dirty="0"/>
              <a:t> </a:t>
            </a:r>
            <a:r>
              <a:rPr lang="el-GR" dirty="0"/>
              <a:t>παρουσίαση βρίσκονται στο εξής </a:t>
            </a:r>
            <a:r>
              <a:rPr lang="en-US" dirty="0"/>
              <a:t>link: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l-GR" dirty="0"/>
            </a:br>
            <a:r>
              <a:rPr lang="en-US" b="1" dirty="0">
                <a:solidFill>
                  <a:srgbClr val="FF0000"/>
                </a:solidFill>
              </a:rPr>
              <a:t>Na </a:t>
            </a:r>
            <a:r>
              <a:rPr lang="en-US" b="1" dirty="0" err="1">
                <a:solidFill>
                  <a:srgbClr val="FF0000"/>
                </a:solidFill>
              </a:rPr>
              <a:t>valoume</a:t>
            </a:r>
            <a:r>
              <a:rPr lang="en-US" b="1" dirty="0">
                <a:solidFill>
                  <a:srgbClr val="FF0000"/>
                </a:solidFill>
              </a:rPr>
              <a:t> se ola DONE </a:t>
            </a:r>
            <a:r>
              <a:rPr lang="en-US" b="1" dirty="0" err="1">
                <a:solidFill>
                  <a:srgbClr val="FF0000"/>
                </a:solidFill>
              </a:rPr>
              <a:t>lew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egw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ahhahah</a:t>
            </a:r>
            <a:r>
              <a:rPr lang="en-US" b="1" dirty="0">
                <a:solidFill>
                  <a:srgbClr val="FF0000"/>
                </a:solidFill>
              </a:rPr>
              <a:t>! =&gt;</a:t>
            </a:r>
            <a:endParaRPr lang="el-G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8" tooltip="https://ns3-code.com/how-to-begin-implement-network-failover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https://ns3-code.com/how-to-begin-implement-network-failover-in-ns3/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https://ns3-code.com/how-to-begin-implement-dynamic-routing-in-ns3/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</a:t>
            </a: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https://networksimulationtools.com/how-to-run-netanim-in-ns3/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88A2F88-55C5-4ED1-9541-807C65424763}">
  <ds:schemaRefs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71af3243-3dd4-4a8d-8c0d-dd76da1f02a5"/>
    <ds:schemaRef ds:uri="16c05727-aa75-4e4a-9b5f-8a80a1165891"/>
    <ds:schemaRef ds:uri="http://schemas.microsoft.com/office/2006/metadata/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522</TotalTime>
  <Words>926</Words>
  <Application>Microsoft Office PowerPoint</Application>
  <PresentationFormat>Ευρεία οθόνη</PresentationFormat>
  <Paragraphs>83</Paragraphs>
  <Slides>15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15</vt:i4>
      </vt:variant>
    </vt:vector>
  </HeadingPairs>
  <TitlesOfParts>
    <vt:vector size="21" baseType="lpstr">
      <vt:lpstr>Arial</vt:lpstr>
      <vt:lpstr>Calibri</vt:lpstr>
      <vt:lpstr>Tw Cen MT</vt:lpstr>
      <vt:lpstr>Wingdings</vt:lpstr>
      <vt:lpstr>Wingdings 3</vt:lpstr>
      <vt:lpstr>Ολοκλήρωμα</vt:lpstr>
      <vt:lpstr>ΠΡΟΣΟΜΟΙΩΣΗ ΔΙΚΤΥΟΥ ΜΕ NS-3</vt:lpstr>
      <vt:lpstr>Το Κυριο θεμα της εργασιασ</vt:lpstr>
      <vt:lpstr>ΒΗΜΑΤΑ ΥΛΟΠΟΙΗΣΗΣ ΤΗΣ ΕΡΓΑΣΙΑΣ (1)</vt:lpstr>
      <vt:lpstr>ΒΗΜΑΤΑ ΥΛΟΠΟΙΗΣΗΣ ΤΗΣ ΕΡΓΑΣΙΑΣ (2)</vt:lpstr>
      <vt:lpstr>Δεδομενα του ΕΡΩΤΗΜΑτοσ 1</vt:lpstr>
      <vt:lpstr>Παρουσίαση του PowerPoint</vt:lpstr>
      <vt:lpstr>αποτελεσματα του ερωτηματοσ 1 </vt:lpstr>
      <vt:lpstr>ΔΕΔΟΜΕΝΑ ΤΟυ ΕΡΩΤΗΜΑτοσ 2</vt:lpstr>
      <vt:lpstr>ΥΛΟΠΟΙΗΣΗ ΤΟΥ ΕΡΩΤΗΜΑΤΟΣ 2</vt:lpstr>
      <vt:lpstr>ΑΠΟΤΕΛΕΣΜΑΤΑ ΤΟΥ ΕΡΩΤΗΜΑΤΟΣ 2(1)</vt:lpstr>
      <vt:lpstr>ΑΠΟΤΕΛΕΣΜΑΤΑ ΤΟΥ ΕΡΩΤΗΜΑΤΟΣ 2(2)</vt:lpstr>
      <vt:lpstr>ΑΠΟΤΕΛΕΣΜΑΤΑ ΤΟΥ ΕΡΩΤΗΜΑΤΟΣ 2(3)</vt:lpstr>
      <vt:lpstr>ΑΠΟΤΕΛΕΣΜΑΤΑ ΤΟΥ ΕΡΩΤΗΜΑΤΟΣ 2(4)</vt:lpstr>
      <vt:lpstr>GitHub link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Georgia</cp:lastModifiedBy>
  <cp:revision>176</cp:revision>
  <dcterms:created xsi:type="dcterms:W3CDTF">2025-10-19T19:42:56Z</dcterms:created>
  <dcterms:modified xsi:type="dcterms:W3CDTF">2025-11-18T15:12:10Z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