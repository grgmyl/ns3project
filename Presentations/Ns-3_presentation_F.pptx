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93" r:id="rId14"/>
    <p:sldId id="298" r:id="rId15"/>
    <p:sldId id="299" r:id="rId16"/>
    <p:sldId id="294" r:id="rId17"/>
    <p:sldId id="296" r:id="rId18"/>
    <p:sldId id="297" r:id="rId19"/>
    <p:sldId id="295" r:id="rId20"/>
    <p:sldId id="288" r:id="rId21"/>
    <p:sldId id="281" r:id="rId22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85" d="100"/>
          <a:sy n="85" d="100"/>
        </p:scale>
        <p:origin x="59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20/11/2025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 dirty="0"/>
              <a:t>Κάντε κλικ στο εικονίδιο για να προσθέσετε εικόνα</a:t>
            </a:r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2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είδη δυναμικής δρομολόγησης, το OLSR (Optimized Link State Routing) και 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AODVN(Ad hoc 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On-Demand Distance Vector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 Το OLSR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AODV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υποστηρίζονται πλήρως από 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ns3/applications-module.h,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internet-module.h.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τα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routing tables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  <a:r>
              <a:rPr lang="en-US" b="1" dirty="0"/>
              <a:t>(1)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9882" y="2232599"/>
            <a:ext cx="5477436" cy="3728930"/>
          </a:xfrm>
        </p:spPr>
        <p:txBody>
          <a:bodyPr>
            <a:normAutofit/>
          </a:bodyPr>
          <a:lstStyle/>
          <a:p>
            <a:pPr algn="just"/>
            <a:r>
              <a:rPr lang="el-GR" sz="2100" dirty="0"/>
              <a:t>Με </a:t>
            </a:r>
            <a:r>
              <a:rPr lang="en-US" sz="2100" dirty="0"/>
              <a:t>delay = 5 </a:t>
            </a:r>
            <a:r>
              <a:rPr lang="en-US" sz="2100" dirty="0" err="1"/>
              <a:t>ms</a:t>
            </a:r>
            <a:r>
              <a:rPr lang="en-US" sz="2100" dirty="0"/>
              <a:t> </a:t>
            </a:r>
            <a:r>
              <a:rPr lang="el-GR" sz="2100" dirty="0"/>
              <a:t>στα </a:t>
            </a:r>
            <a:r>
              <a:rPr lang="en-US" sz="2100" dirty="0"/>
              <a:t>node devices 0–1 </a:t>
            </a:r>
            <a:r>
              <a:rPr lang="el-GR" sz="2100" dirty="0"/>
              <a:t>και </a:t>
            </a:r>
            <a:r>
              <a:rPr lang="en-US" sz="2100" dirty="0"/>
              <a:t>double </a:t>
            </a:r>
            <a:r>
              <a:rPr lang="en-US" sz="2100" b="1" dirty="0" err="1"/>
              <a:t>failDownAt</a:t>
            </a:r>
            <a:r>
              <a:rPr lang="en-US" sz="2100" b="1" dirty="0"/>
              <a:t> = </a:t>
            </a:r>
            <a:r>
              <a:rPr lang="el-GR" sz="2100" b="1" dirty="0"/>
              <a:t>6</a:t>
            </a:r>
            <a:r>
              <a:rPr lang="en-US" sz="2100" b="1" dirty="0"/>
              <a:t>.0 s</a:t>
            </a:r>
            <a:r>
              <a:rPr lang="en-US" sz="2100" dirty="0"/>
              <a:t>, </a:t>
            </a:r>
            <a:r>
              <a:rPr lang="en-US" sz="2100" b="1" dirty="0"/>
              <a:t>double </a:t>
            </a:r>
            <a:r>
              <a:rPr lang="en-US" sz="2100" b="1" dirty="0" err="1"/>
              <a:t>failUpAt</a:t>
            </a:r>
            <a:r>
              <a:rPr lang="en-US" sz="2100" b="1" dirty="0"/>
              <a:t> = 3.0 s</a:t>
            </a:r>
            <a:r>
              <a:rPr lang="en-US" sz="2100" dirty="0"/>
              <a:t>,</a:t>
            </a:r>
            <a:r>
              <a:rPr lang="el-GR" sz="2100" dirty="0"/>
              <a:t>έχουμε:</a:t>
            </a:r>
          </a:p>
          <a:p>
            <a:pPr algn="just"/>
            <a:r>
              <a:rPr lang="en-US" sz="2100" dirty="0"/>
              <a:t>4.800s → pre-failure: </a:t>
            </a:r>
            <a:r>
              <a:rPr lang="el-GR" sz="2100" dirty="0"/>
              <a:t>πριν το </a:t>
            </a:r>
            <a:r>
              <a:rPr lang="en-US" sz="2100" dirty="0"/>
              <a:t>link 0–1 </a:t>
            </a:r>
            <a:r>
              <a:rPr lang="el-GR" sz="2100" dirty="0"/>
              <a:t>κατεβεί.</a:t>
            </a:r>
          </a:p>
          <a:p>
            <a:pPr algn="just"/>
            <a:r>
              <a:rPr lang="el-GR" sz="2100" dirty="0"/>
              <a:t>5.400</a:t>
            </a:r>
            <a:r>
              <a:rPr lang="en-US" sz="2100" dirty="0"/>
              <a:t>s → during-failure: </a:t>
            </a:r>
            <a:r>
              <a:rPr lang="el-GR" sz="2100" dirty="0"/>
              <a:t>το </a:t>
            </a:r>
            <a:r>
              <a:rPr lang="en-US" sz="2100" dirty="0"/>
              <a:t>link 0–1 </a:t>
            </a:r>
            <a:r>
              <a:rPr lang="el-GR" sz="2100" dirty="0"/>
              <a:t>είναι κάτω.</a:t>
            </a:r>
          </a:p>
          <a:p>
            <a:pPr algn="just"/>
            <a:r>
              <a:rPr lang="el-GR" sz="2100" dirty="0"/>
              <a:t>9.400</a:t>
            </a:r>
            <a:r>
              <a:rPr lang="en-US" sz="2100" dirty="0"/>
              <a:t>s → post-recovery: </a:t>
            </a:r>
            <a:r>
              <a:rPr lang="el-GR" sz="2100" dirty="0"/>
              <a:t>το </a:t>
            </a:r>
            <a:r>
              <a:rPr lang="en-US" sz="2100" dirty="0"/>
              <a:t>link </a:t>
            </a:r>
            <a:r>
              <a:rPr lang="el-GR" sz="2100" dirty="0"/>
              <a:t>έχει επανέλθει.</a:t>
            </a:r>
          </a:p>
          <a:p>
            <a:pPr algn="just"/>
            <a:r>
              <a:rPr lang="el-GR" sz="2100" dirty="0"/>
              <a:t>12.000</a:t>
            </a:r>
            <a:r>
              <a:rPr lang="en-US" sz="2100" dirty="0"/>
              <a:t>s → final: </a:t>
            </a:r>
            <a:r>
              <a:rPr lang="el-GR" sz="2100" dirty="0"/>
              <a:t>συνολική επίδοση όλης της προσομοίωσης.</a:t>
            </a:r>
            <a:endParaRPr lang="en-US" sz="2100" dirty="0"/>
          </a:p>
        </p:txBody>
      </p:sp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l-GR" dirty="0">
              <a:solidFill>
                <a:srgbClr val="FF0000"/>
              </a:solidFill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3CBD2085-F5C7-4A66-A0A1-1D99C6A1F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5" y="2232599"/>
            <a:ext cx="3595122" cy="348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BF3A30D-BA31-418E-8B1E-60852AF86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186" y="585216"/>
            <a:ext cx="11374061" cy="1431843"/>
          </a:xfrm>
        </p:spPr>
        <p:txBody>
          <a:bodyPr/>
          <a:lstStyle/>
          <a:p>
            <a:r>
              <a:rPr lang="el-GR" b="1" dirty="0" err="1"/>
              <a:t>Αποτελεσματα</a:t>
            </a:r>
            <a:r>
              <a:rPr lang="el-GR" b="1" dirty="0"/>
              <a:t> του </a:t>
            </a:r>
            <a:r>
              <a:rPr lang="el-GR" b="1" dirty="0" err="1"/>
              <a:t>ερωτηματοσ</a:t>
            </a:r>
            <a:r>
              <a:rPr lang="el-GR" b="1" dirty="0"/>
              <a:t> 2 (2)</a:t>
            </a:r>
          </a:p>
        </p:txBody>
      </p:sp>
      <p:pic>
        <p:nvPicPr>
          <p:cNvPr id="9" name="Εικόνα 8">
            <a:extLst>
              <a:ext uri="{FF2B5EF4-FFF2-40B4-BE49-F238E27FC236}">
                <a16:creationId xmlns:a16="http://schemas.microsoft.com/office/drawing/2014/main" id="{56955F64-A640-436E-8E49-3DD4FF9F7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490" y="2462783"/>
            <a:ext cx="3609975" cy="3648075"/>
          </a:xfrm>
          <a:prstGeom prst="rect">
            <a:avLst/>
          </a:prstGeom>
        </p:spPr>
      </p:pic>
      <p:pic>
        <p:nvPicPr>
          <p:cNvPr id="19" name="Εικόνα 18">
            <a:extLst>
              <a:ext uri="{FF2B5EF4-FFF2-40B4-BE49-F238E27FC236}">
                <a16:creationId xmlns:a16="http://schemas.microsoft.com/office/drawing/2014/main" id="{0C987E78-6A08-4E13-AB4B-A94D33490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466" y="2300857"/>
            <a:ext cx="3124200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5029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2318D31-C5C0-4F14-9237-95D3730D9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585216"/>
            <a:ext cx="10979613" cy="1499616"/>
          </a:xfrm>
        </p:spPr>
        <p:txBody>
          <a:bodyPr/>
          <a:lstStyle/>
          <a:p>
            <a:r>
              <a:rPr lang="el-GR" b="1" dirty="0" err="1"/>
              <a:t>Αποτελεσματα</a:t>
            </a:r>
            <a:r>
              <a:rPr lang="el-GR" b="1" dirty="0"/>
              <a:t> του </a:t>
            </a:r>
            <a:r>
              <a:rPr lang="el-GR" b="1" dirty="0" err="1"/>
              <a:t>ερωτηματοσ</a:t>
            </a:r>
            <a:r>
              <a:rPr lang="el-GR" b="1" dirty="0"/>
              <a:t> 2 (3)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A5AD40C-A21D-43EF-BD16-71B83576B2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688697" cy="4023360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Παρατηρήσαμε πως η απόδοση του δικτύου εξαρτάται από τον ρυθμό αποστολής και το μέγεθος της ουράς. Όταν το </a:t>
            </a:r>
            <a:r>
              <a:rPr lang="el-GR" dirty="0" err="1"/>
              <a:t>interval</a:t>
            </a:r>
            <a:r>
              <a:rPr lang="el-GR" dirty="0"/>
              <a:t> είναι μικρό, το δίκτυο υπερφορτώνεται με αυξημένες απώλειες και καθυστέρηση, ενώ με μεγαλύτερο </a:t>
            </a:r>
            <a:r>
              <a:rPr lang="el-GR" dirty="0" err="1"/>
              <a:t>interval</a:t>
            </a:r>
            <a:r>
              <a:rPr lang="el-GR" dirty="0"/>
              <a:t> επιτυγχάνεται σταθερή ροή, υψηλό PDR και χαμηλό </a:t>
            </a:r>
            <a:r>
              <a:rPr lang="el-GR" dirty="0" err="1"/>
              <a:t>delay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Η μεγάλη ουρά μειώνει τις απώλειες αλλά αυξάνει το </a:t>
            </a:r>
            <a:r>
              <a:rPr lang="el-GR" dirty="0" err="1"/>
              <a:t>delay</a:t>
            </a:r>
            <a:r>
              <a:rPr lang="el-GR" dirty="0"/>
              <a:t> ενώ η  μικρή ουρά (π.χ. 5 πακέτα) μειώνει το </a:t>
            </a:r>
            <a:r>
              <a:rPr lang="el-GR" dirty="0" err="1"/>
              <a:t>delay</a:t>
            </a:r>
            <a:r>
              <a:rPr lang="el-GR" dirty="0"/>
              <a:t>, αλλά οδηγεί σε περισσότερες απώλειες σε συνθήκες συμφόρησης.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Συνολικά, το OLSR αποδεικνύεται ένα αξιόπιστο πρωτόκολλο </a:t>
            </a:r>
            <a:r>
              <a:rPr lang="el-GR" dirty="0" err="1"/>
              <a:t>δρομολόγησης,το</a:t>
            </a:r>
            <a:r>
              <a:rPr lang="el-GR" dirty="0"/>
              <a:t> οποίο επαναφέρει γρήγορα τη συνδεσιμότητα, αποδεικνύοντας την αξιοπιστία του.</a:t>
            </a:r>
          </a:p>
        </p:txBody>
      </p:sp>
    </p:spTree>
    <p:extLst>
      <p:ext uri="{BB962C8B-B14F-4D97-AF65-F5344CB8AC3E}">
        <p14:creationId xmlns:p14="http://schemas.microsoft.com/office/powerpoint/2010/main" val="263715417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2(4)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911352" cy="2416629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Χρησιμοποιήσαμε  </a:t>
            </a:r>
            <a:r>
              <a:rPr lang="en-US" dirty="0"/>
              <a:t>2 </a:t>
            </a:r>
            <a:r>
              <a:rPr lang="el-GR" dirty="0"/>
              <a:t>ειδών </a:t>
            </a:r>
            <a:r>
              <a:rPr lang="en-GB" dirty="0"/>
              <a:t>dynamic routing</a:t>
            </a:r>
            <a:r>
              <a:rPr lang="el-GR" dirty="0"/>
              <a:t> καθώς το </a:t>
            </a:r>
            <a:r>
              <a:rPr lang="en-GB" dirty="0"/>
              <a:t>protocol OLSR </a:t>
            </a:r>
            <a:r>
              <a:rPr lang="el-GR" dirty="0"/>
              <a:t>είναι αρκετά προβλεπτικό κάτι που σημαίνει ότι διατηρεί σε όλες τις χρονικές στιγμές τα </a:t>
            </a:r>
            <a:r>
              <a:rPr lang="en-GB" dirty="0"/>
              <a:t>routing tables</a:t>
            </a:r>
            <a:r>
              <a:rPr lang="el-GR" dirty="0"/>
              <a:t>. Επομένως, δεν υπήρχε κάποια ορατή διαφορά στα αποτελέσματα της χρήσης με την μη-χρήση του </a:t>
            </a:r>
            <a:r>
              <a:rPr lang="en-US" dirty="0"/>
              <a:t>warm-up phase.</a:t>
            </a:r>
            <a:endParaRPr lang="el-GR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Βέβαια, με την χρήση του </a:t>
            </a:r>
            <a:r>
              <a:rPr lang="en-US" altLang="el-GR" dirty="0"/>
              <a:t>AODVN </a:t>
            </a:r>
            <a:r>
              <a:rPr lang="el-GR" altLang="el-GR" dirty="0"/>
              <a:t>τα αποτελέσματα αλλάζουν δραματικά και φαίνεται πράγματι το </a:t>
            </a:r>
            <a:r>
              <a:rPr lang="en-US" altLang="el-GR" dirty="0"/>
              <a:t>warm-up phase </a:t>
            </a:r>
            <a:r>
              <a:rPr lang="el-GR" altLang="el-GR" dirty="0"/>
              <a:t>σε δράση.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D5640-9372-6295-0129-934188953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50BF758-34A8-6D30-B8A4-7E1FA6281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8F07E5-1358-7F75-A65F-7BBD09729022}"/>
              </a:ext>
            </a:extLst>
          </p:cNvPr>
          <p:cNvSpPr txBox="1"/>
          <p:nvPr/>
        </p:nvSpPr>
        <p:spPr>
          <a:xfrm>
            <a:off x="9092009" y="2828835"/>
            <a:ext cx="300222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OLSR </a:t>
            </a:r>
            <a:r>
              <a:rPr lang="el-GR" dirty="0"/>
              <a:t>πρωτοκόλλου </a:t>
            </a:r>
            <a:r>
              <a:rPr lang="en-US" dirty="0"/>
              <a:t>Warm-up phase VS </a:t>
            </a:r>
            <a:r>
              <a:rPr lang="el-GR" dirty="0"/>
              <a:t>Μη-χρήση </a:t>
            </a:r>
            <a:r>
              <a:rPr lang="en-US" dirty="0"/>
              <a:t>Warm-up phase.</a:t>
            </a:r>
            <a:br>
              <a:rPr lang="el-GR" dirty="0"/>
            </a:br>
            <a:endParaRPr lang="en-GB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89FDD-4629-A9A9-4EC3-158B14382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16" y="2240958"/>
            <a:ext cx="4193399" cy="4519100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64F6319-ACE9-D792-D47C-DBE5678E4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862" y="2235869"/>
            <a:ext cx="4193399" cy="45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47219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6CF11-1CC3-9F42-7E4F-1B249347E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EECF2A2-9FE0-35EA-582E-D48A0B1CC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10C20F-846E-940F-1476-0DC231C29BC4}"/>
              </a:ext>
            </a:extLst>
          </p:cNvPr>
          <p:cNvSpPr txBox="1"/>
          <p:nvPr/>
        </p:nvSpPr>
        <p:spPr>
          <a:xfrm>
            <a:off x="9092009" y="2828835"/>
            <a:ext cx="30999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Χρήση του </a:t>
            </a:r>
            <a:r>
              <a:rPr lang="en-US" altLang="el-GR" dirty="0"/>
              <a:t>AODVN </a:t>
            </a:r>
            <a:r>
              <a:rPr lang="el-GR" dirty="0"/>
              <a:t>πρωτοκόλλου</a:t>
            </a:r>
            <a:r>
              <a:rPr lang="en-US" dirty="0"/>
              <a:t> Warm-up phase VS </a:t>
            </a:r>
            <a:r>
              <a:rPr lang="el-GR" dirty="0"/>
              <a:t>Μη-χρήση </a:t>
            </a:r>
            <a:r>
              <a:rPr lang="en-US" dirty="0"/>
              <a:t>Warm-up phase.</a:t>
            </a:r>
            <a:br>
              <a:rPr lang="el-GR" dirty="0"/>
            </a:b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53565-1D0F-6815-AC59-260B29A53F9A}"/>
              </a:ext>
            </a:extLst>
          </p:cNvPr>
          <p:cNvSpPr txBox="1"/>
          <p:nvPr/>
        </p:nvSpPr>
        <p:spPr>
          <a:xfrm>
            <a:off x="2179608" y="2700068"/>
            <a:ext cx="489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 </a:t>
            </a:r>
            <a:r>
              <a:rPr lang="en-US" b="1" dirty="0" err="1"/>
              <a:t>periptwseis</a:t>
            </a:r>
            <a:r>
              <a:rPr lang="en-US" b="1" dirty="0"/>
              <a:t> </a:t>
            </a:r>
            <a:r>
              <a:rPr lang="en-US" b="1" dirty="0" err="1"/>
              <a:t>xrhshs</a:t>
            </a:r>
            <a:r>
              <a:rPr lang="en-US" b="1" dirty="0"/>
              <a:t> </a:t>
            </a:r>
            <a:r>
              <a:rPr lang="en-US" b="1" dirty="0" err="1"/>
              <a:t>gia</a:t>
            </a:r>
            <a:r>
              <a:rPr lang="en-US" b="1" dirty="0"/>
              <a:t> to </a:t>
            </a:r>
            <a:r>
              <a:rPr lang="en-US" altLang="el-GR" b="1" dirty="0"/>
              <a:t>AODVN!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6184915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7213A-454A-54C2-C324-820384A49FE3}"/>
              </a:ext>
            </a:extLst>
          </p:cNvPr>
          <p:cNvSpPr txBox="1"/>
          <p:nvPr/>
        </p:nvSpPr>
        <p:spPr>
          <a:xfrm>
            <a:off x="9204609" y="2015312"/>
            <a:ext cx="34157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Περίπτωση όπου:</a:t>
            </a:r>
            <a:br>
              <a:rPr lang="el-GR" dirty="0"/>
            </a:br>
            <a:endParaRPr lang="en-GB" dirty="0"/>
          </a:p>
          <a:p>
            <a:r>
              <a:rPr lang="el-GR" dirty="0"/>
              <a:t>Χειρισμός αποτυχίας σύνδεσης. </a:t>
            </a:r>
            <a:br>
              <a:rPr lang="el-GR" dirty="0"/>
            </a:br>
            <a:r>
              <a:rPr lang="el-GR" dirty="0"/>
              <a:t> Δηλαδή, </a:t>
            </a:r>
            <a:br>
              <a:rPr lang="en-US" dirty="0"/>
            </a:br>
            <a:r>
              <a:rPr lang="en-GB" dirty="0"/>
              <a:t>How a network reacts </a:t>
            </a:r>
            <a:br>
              <a:rPr lang="en-GB" dirty="0"/>
            </a:br>
            <a:r>
              <a:rPr lang="en-GB" dirty="0"/>
              <a:t>to link failures</a:t>
            </a:r>
          </a:p>
          <a:p>
            <a:r>
              <a:rPr lang="en-GB" dirty="0"/>
              <a:t>How routing reconverges</a:t>
            </a:r>
          </a:p>
          <a:p>
            <a:r>
              <a:rPr lang="en-GB" dirty="0"/>
              <a:t>How throughput collapses and </a:t>
            </a:r>
            <a:br>
              <a:rPr lang="en-GB" dirty="0"/>
            </a:br>
            <a:r>
              <a:rPr lang="en-GB" dirty="0"/>
              <a:t>then recovers</a:t>
            </a:r>
          </a:p>
          <a:p>
            <a:br>
              <a:rPr lang="el-GR" dirty="0"/>
            </a:br>
            <a:endParaRPr lang="en-GB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EFDCF45-9009-91B9-F004-1CE34F237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3" y="2085357"/>
            <a:ext cx="4506191" cy="472321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FB2B53-CE98-3CFB-7A00-4D520A26A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839" y="2085357"/>
            <a:ext cx="4555770" cy="472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059" y="2079813"/>
            <a:ext cx="6539402" cy="3939988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014037" cy="3762294"/>
          </a:xfrm>
        </p:spPr>
        <p:txBody>
          <a:bodyPr>
            <a:normAutofit/>
          </a:bodyPr>
          <a:lstStyle/>
          <a:p>
            <a:r>
              <a:rPr lang="el-GR" sz="1800" dirty="0"/>
              <a:t>Τα αρχεία του κώδικα καθώς και η</a:t>
            </a:r>
            <a:r>
              <a:rPr lang="en-US" sz="1800" dirty="0"/>
              <a:t> </a:t>
            </a:r>
            <a:r>
              <a:rPr lang="el-GR" sz="1800" dirty="0"/>
              <a:t>παρουσίαση βρίσκονται στο εξής </a:t>
            </a:r>
            <a:r>
              <a:rPr lang="en-US" sz="1800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www.w3.org/XML/1998/namespace"/>
    <ds:schemaRef ds:uri="71af3243-3dd4-4a8d-8c0d-dd76da1f02a5"/>
    <ds:schemaRef ds:uri="16c05727-aa75-4e4a-9b5f-8a80a1165891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864</TotalTime>
  <Words>1085</Words>
  <Application>Microsoft Office PowerPoint</Application>
  <PresentationFormat>Ευρεία οθόνη</PresentationFormat>
  <Paragraphs>96</Paragraphs>
  <Slides>18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18</vt:i4>
      </vt:variant>
    </vt:vector>
  </HeadingPairs>
  <TitlesOfParts>
    <vt:vector size="24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ερωτηματοσ 2 (2)</vt:lpstr>
      <vt:lpstr>Αποτελεσματα του ερωτηματοσ 2 (3)</vt:lpstr>
      <vt:lpstr>ΑΠΟΤΕΛΕΣΜΑΤΑ ΤΟΥ ΕΡΩΤΗΜΑΤΟΣ 2(4)</vt:lpstr>
      <vt:lpstr>ΑΠΟΤΕΛΕΣΜΑΤΑ ΤΟΥ ΕΡΩΤΗΜΑΤΟΣ 2(3)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221</cp:revision>
  <dcterms:created xsi:type="dcterms:W3CDTF">2025-10-19T19:42:56Z</dcterms:created>
  <dcterms:modified xsi:type="dcterms:W3CDTF">2025-11-20T20:01:12Z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