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86" r:id="rId14"/>
    <p:sldId id="293" r:id="rId15"/>
    <p:sldId id="294" r:id="rId16"/>
    <p:sldId id="295" r:id="rId17"/>
    <p:sldId id="288" r:id="rId18"/>
    <p:sldId id="281" r:id="rId19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113" d="100"/>
          <a:sy n="113" d="100"/>
        </p:scale>
        <p:origin x="4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18/11/2025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 bytes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</a:t>
            </a:r>
            <a:r>
              <a:rPr lang="en-US"/>
              <a:t>= 11.0s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723201" y="1867351"/>
            <a:ext cx="11097088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Επιλέξαμε την δυναμική δρομολόγηση OLSR (Optimized Link State </a:t>
            </a:r>
            <a:r>
              <a:rPr lang="el-GR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Routing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). Το OLSR ανταποκρίνεται γρήγορα σε αλλαγές της τοπολογίας και υποστηρίζεται πλήρως στο περιβάλλον του ns-3.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Επιπλέον,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συμπεριλάβαμε τις εξής βιβλιοθήκες: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module 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olsr-helper.h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ns3/applications-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module.h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b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internet-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module.h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 stack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αποστολή, λήψη και επεξεργασία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packet sink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που λαμβάνει εισερχόμενα πακέτα και χρησιμοποιείται για τη μέτρηση της δικτυακής κίνησης και της επιτυχούς παράδοσης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warm up phase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είναι μια χρονική περίοδος κατά την οποία οι μετρήσεις αγνοούνται σκόπιμα, ώστε να δοθεί χρόνος στο σύστημα να σταθεροποιήσει τους πίνακες δρομολόγησης, τις ουρές και τα πρότυπα κίνησης πριν ξεκινήσει η συλλογή ακριβών δεδομένων απόδοσης.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904" y="585216"/>
            <a:ext cx="11248556" cy="1398085"/>
          </a:xfrm>
        </p:spPr>
        <p:txBody>
          <a:bodyPr/>
          <a:lstStyle/>
          <a:p>
            <a:r>
              <a:rPr lang="el-GR" b="1" dirty="0"/>
              <a:t>ΑΠΟΤΕΛΕΣΜΑΤΑ ΤΟΥ ΕΡΩΤΗΜΑΤΟΣ 2(1)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br>
              <a:rPr lang="el-GR" dirty="0"/>
            </a:br>
            <a:r>
              <a:rPr lang="fr-FR" b="1" dirty="0"/>
              <a:t>double</a:t>
            </a:r>
            <a:r>
              <a:rPr lang="fr-FR" dirty="0"/>
              <a:t> </a:t>
            </a:r>
            <a:r>
              <a:rPr lang="fr-FR" b="1" dirty="0"/>
              <a:t>failDownAt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failUpAt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E7DF0-34E2-C0A5-1E9E-80484AC29557}"/>
              </a:ext>
            </a:extLst>
          </p:cNvPr>
          <p:cNvSpPr txBox="1"/>
          <p:nvPr/>
        </p:nvSpPr>
        <p:spPr>
          <a:xfrm>
            <a:off x="8146937" y="4480513"/>
            <a:ext cx="34181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b="1" dirty="0">
                <a:solidFill>
                  <a:srgbClr val="FF0000"/>
                </a:solidFill>
              </a:rPr>
              <a:t>Λέω για εδώ να βρούμε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ένα καλύτερο παράδειγμα να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μην χάνονται πακέτα και να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τσεκάρουμε ότι όλα λειτουργούν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like they should be!</a:t>
            </a:r>
          </a:p>
        </p:txBody>
      </p:sp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/>
              <a:t>ms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br>
              <a:rPr lang="el-GR" dirty="0"/>
            </a:br>
            <a:r>
              <a:rPr lang="en-US" b="1" dirty="0"/>
              <a:t>double failDownAt = </a:t>
            </a:r>
            <a:r>
              <a:rPr lang="el-GR" b="1" dirty="0"/>
              <a:t>8</a:t>
            </a:r>
            <a:r>
              <a:rPr lang="en-US" b="1" dirty="0"/>
              <a:t>.0; double</a:t>
            </a:r>
            <a:r>
              <a:rPr lang="en-US" dirty="0"/>
              <a:t> </a:t>
            </a:r>
            <a:r>
              <a:rPr lang="en-US" b="1" dirty="0"/>
              <a:t>failUpAt</a:t>
            </a:r>
            <a:r>
              <a:rPr lang="el-GR" b="1" dirty="0"/>
              <a:t> </a:t>
            </a:r>
            <a:r>
              <a:rPr lang="en-US" b="1" dirty="0"/>
              <a:t>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D11F0DD8-4464-A6B8-A74D-0875BF51EA6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</a:t>
            </a:r>
            <a:r>
              <a:rPr lang="en-US" dirty="0"/>
              <a:t> </a:t>
            </a:r>
            <a:r>
              <a:rPr lang="el-GR" dirty="0"/>
              <a:t>.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l-GR" b="1" dirty="0">
                <a:solidFill>
                  <a:srgbClr val="FF0000"/>
                </a:solidFill>
              </a:rPr>
              <a:t>Αυτό ισχύει και για το 2 </a:t>
            </a:r>
            <a:r>
              <a:rPr lang="en-US" b="1" dirty="0">
                <a:solidFill>
                  <a:srgbClr val="FF0000"/>
                </a:solidFill>
              </a:rPr>
              <a:t>screenshot! we’ll talk!)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να σταθούμε πιο πολύ στην σημασία της αλλαγής του </a:t>
            </a:r>
            <a:r>
              <a:rPr lang="en-US" b="1" dirty="0">
                <a:solidFill>
                  <a:srgbClr val="FF0000"/>
                </a:solidFill>
              </a:rPr>
              <a:t>delay </a:t>
            </a:r>
            <a:r>
              <a:rPr lang="el-GR" b="1" dirty="0">
                <a:solidFill>
                  <a:srgbClr val="FF0000"/>
                </a:solidFill>
              </a:rPr>
              <a:t>λέω εγώ.</a:t>
            </a:r>
            <a:endParaRPr lang="el-G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3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8366C-622C-7125-D484-05F4642D4D20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4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08114C50-3F0F-9504-F66D-9FAB2B7084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 </a:t>
            </a:r>
            <a:r>
              <a:rPr lang="el-GR" dirty="0"/>
              <a:t>Σε κάποιο άλλο </a:t>
            </a:r>
            <a:r>
              <a:rPr lang="en-US" dirty="0"/>
              <a:t>Instance!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718D-C5F6-1E2D-1546-669E78D251C3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272" y="2964119"/>
            <a:ext cx="5678424" cy="3421249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>
            <a:normAutofit/>
          </a:bodyPr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r>
              <a:rPr lang="en-US" b="1" dirty="0">
                <a:solidFill>
                  <a:srgbClr val="FF0000"/>
                </a:solidFill>
              </a:rPr>
              <a:t>Na </a:t>
            </a:r>
            <a:r>
              <a:rPr lang="en-US" b="1" dirty="0" err="1">
                <a:solidFill>
                  <a:srgbClr val="FF0000"/>
                </a:solidFill>
              </a:rPr>
              <a:t>valoume</a:t>
            </a:r>
            <a:r>
              <a:rPr lang="en-US" b="1" dirty="0">
                <a:solidFill>
                  <a:srgbClr val="FF0000"/>
                </a:solidFill>
              </a:rPr>
              <a:t> se ola DONE </a:t>
            </a:r>
            <a:r>
              <a:rPr lang="en-US" b="1" dirty="0" err="1">
                <a:solidFill>
                  <a:srgbClr val="FF0000"/>
                </a:solidFill>
              </a:rPr>
              <a:t>lew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egw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ahhahah</a:t>
            </a:r>
            <a:r>
              <a:rPr lang="en-US" b="1" dirty="0">
                <a:solidFill>
                  <a:srgbClr val="FF0000"/>
                </a:solidFill>
              </a:rPr>
              <a:t>! =&gt;</a:t>
            </a: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71af3243-3dd4-4a8d-8c0d-dd76da1f02a5"/>
    <ds:schemaRef ds:uri="http://purl.org/dc/dcmitype/"/>
    <ds:schemaRef ds:uri="16c05727-aa75-4e4a-9b5f-8a80a1165891"/>
    <ds:schemaRef ds:uri="http://www.w3.org/XML/1998/namespace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524</TotalTime>
  <Words>927</Words>
  <Application>Microsoft Office PowerPoint</Application>
  <PresentationFormat>Ευρεία οθόνη</PresentationFormat>
  <Paragraphs>83</Paragraphs>
  <Slides>15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15</vt:i4>
      </vt:variant>
    </vt:vector>
  </HeadingPairs>
  <TitlesOfParts>
    <vt:vector size="21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Παρουσίαση του PowerPoint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ΑΠΟΤΕΛΕΣΜΑΤΑ ΤΟΥ ΕΡΩΤΗΜΑΤΟΣ 2(3)</vt:lpstr>
      <vt:lpstr>ΑΠΟΤΕΛΕΣΜΑΤΑ ΤΟΥ ΕΡΩΤΗΜΑΤΟΣ 2(4)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177</cp:revision>
  <dcterms:created xsi:type="dcterms:W3CDTF">2025-10-19T19:42:56Z</dcterms:created>
  <dcterms:modified xsi:type="dcterms:W3CDTF">2025-11-18T15:14:22Z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