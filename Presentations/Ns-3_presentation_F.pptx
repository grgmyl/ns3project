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56" r:id="rId5"/>
    <p:sldId id="277" r:id="rId6"/>
    <p:sldId id="279" r:id="rId7"/>
    <p:sldId id="282" r:id="rId8"/>
    <p:sldId id="284" r:id="rId9"/>
    <p:sldId id="283" r:id="rId10"/>
    <p:sldId id="278" r:id="rId11"/>
    <p:sldId id="290" r:id="rId12"/>
    <p:sldId id="287" r:id="rId13"/>
    <p:sldId id="293" r:id="rId14"/>
    <p:sldId id="298" r:id="rId15"/>
    <p:sldId id="294" r:id="rId16"/>
    <p:sldId id="296" r:id="rId17"/>
    <p:sldId id="297" r:id="rId18"/>
    <p:sldId id="295" r:id="rId19"/>
    <p:sldId id="288" r:id="rId20"/>
    <p:sldId id="281" r:id="rId21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113" d="100"/>
          <a:sy n="113" d="100"/>
        </p:scale>
        <p:origin x="51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20/11/2025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 dirty="0"/>
              <a:t>Κάντε κλικ για να επεξεργαστείτε τον υπότιτλο του υποδείγματος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 dirty="0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 dirty="0"/>
              <a:t>Κάντε κλικ στο εικονίδιο για να προσθέσετε εικόνα</a:t>
            </a:r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20/11/2025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10" Type="http://schemas.openxmlformats.org/officeDocument/2006/relationships/hyperlink" Target="https://networksimulationtools.com/how-to-run-netanim-in-ns3/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s3-code.com/how-to-begin-implement-dynamic-routing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-60366" y="0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Το Κυριο θεμα της εργασιασ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</a:t>
            </a: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Προσομοίωση δικτύου με την χρήση του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simulator NS-3.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Κύριοι στόχοι της εργασίας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:</a:t>
            </a:r>
            <a:endParaRPr lang="el-GR" dirty="0">
              <a:solidFill>
                <a:schemeClr val="accent1">
                  <a:lumMod val="75000"/>
                </a:schemeClr>
              </a:solidFill>
            </a:endParaRPr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</a:t>
            </a:r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destination</a:t>
            </a:r>
            <a:r>
              <a:rPr lang="en-GB" dirty="0"/>
              <a:t>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</a:p>
          <a:p>
            <a:pPr marL="173736" lvl="1" indent="0" algn="just">
              <a:buNone/>
            </a:pPr>
            <a:endParaRPr lang="el-GR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(1)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25448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l-GR" sz="2000" dirty="0"/>
              <a:t>Χρησιμοποιήσαμε τα εξής εργαλεία για την υλοποίηση της άσκησης :</a:t>
            </a:r>
            <a:endParaRPr lang="en-US" sz="2000" dirty="0"/>
          </a:p>
          <a:p>
            <a:pPr marL="0" indent="0">
              <a:buNone/>
            </a:pPr>
            <a:br>
              <a:rPr lang="el-GR" sz="2000" dirty="0"/>
            </a:br>
            <a:endParaRPr lang="el-GR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VMware Workstation Pro</a:t>
            </a:r>
            <a:r>
              <a:rPr lang="el-GR" sz="2000" dirty="0"/>
              <a:t> για το </a:t>
            </a:r>
            <a:r>
              <a:rPr lang="en-US" sz="2000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Discord </a:t>
            </a:r>
            <a:r>
              <a:rPr lang="el-GR" sz="2000" dirty="0"/>
              <a:t>και </a:t>
            </a:r>
            <a:r>
              <a:rPr lang="en-US" sz="2000" dirty="0"/>
              <a:t>GitHub </a:t>
            </a:r>
            <a:r>
              <a:rPr lang="el-GR" sz="2000" dirty="0"/>
              <a:t>για την επικοινωνία και τον συγχρονισμό των μελών της ομάδας.</a:t>
            </a: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Draw.io </a:t>
            </a:r>
            <a:r>
              <a:rPr lang="el-GR" sz="2000" dirty="0"/>
              <a:t>για την υλοποίηση σχεδιαγραμμάτων/τοπολογίας</a:t>
            </a:r>
            <a:r>
              <a:rPr lang="el-GR" dirty="0"/>
              <a:t>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828" y="4559485"/>
            <a:ext cx="2010569" cy="2010569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79448"/>
            <a:ext cx="2119364" cy="2119364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4994" y="4857097"/>
            <a:ext cx="2319248" cy="164171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4932" y="4857097"/>
            <a:ext cx="2347674" cy="1320567"/>
          </a:xfrm>
          <a:prstGeom prst="rect">
            <a:avLst/>
          </a:prstGeom>
        </p:spPr>
      </p:pic>
      <p:pic>
        <p:nvPicPr>
          <p:cNvPr id="4" name="Εικόνα 3">
            <a:extLst>
              <a:ext uri="{FF2B5EF4-FFF2-40B4-BE49-F238E27FC236}">
                <a16:creationId xmlns:a16="http://schemas.microsoft.com/office/drawing/2014/main" id="{2A35B6A1-721A-4FBA-8F36-F670825F9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722" y="4330949"/>
            <a:ext cx="2347674" cy="228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0835080" cy="1278615"/>
          </a:xfrm>
        </p:spPr>
        <p:txBody>
          <a:bodyPr>
            <a:normAutofit/>
          </a:bodyPr>
          <a:lstStyle/>
          <a:p>
            <a:r>
              <a:rPr lang="el-GR" sz="4800" b="1" dirty="0"/>
              <a:t>ΒΗΜΑΤΑ ΥΛΟΠΟΙΗΣΗΣ ΤΗΣ ΕΡΓΑΣΙΑΣ</a:t>
            </a:r>
            <a:r>
              <a:rPr lang="en-US" sz="4800" b="1" dirty="0"/>
              <a:t> (</a:t>
            </a:r>
            <a:r>
              <a:rPr lang="el-GR" sz="4800" b="1" dirty="0"/>
              <a:t>2</a:t>
            </a:r>
            <a:r>
              <a:rPr lang="en-US" sz="4800" b="1" dirty="0"/>
              <a:t>)</a:t>
            </a:r>
            <a:endParaRPr lang="el-GR" sz="4800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512468"/>
            <a:ext cx="6567466" cy="3771791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Ως γλώσσα προγραμματισμού επιλέχθηκε η </a:t>
            </a:r>
            <a:r>
              <a:rPr lang="en-US" dirty="0"/>
              <a:t>C++.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 marL="0" indent="0" algn="just">
              <a:buNone/>
            </a:pPr>
            <a:endParaRPr lang="el-GR" dirty="0"/>
          </a:p>
          <a:p>
            <a:pPr marL="0" indent="0">
              <a:buNone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Δεδομενα του ΕΡΩΤΗΜΑτοσ 1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033" y="2317531"/>
            <a:ext cx="11105199" cy="34794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2000" dirty="0"/>
              <a:t>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2000" dirty="0"/>
              <a:t>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/>
              <a:t>λοποιήθηκαν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3.</a:t>
            </a:r>
            <a:r>
              <a:rPr lang="en-US" sz="2000" dirty="0"/>
              <a:t>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627529"/>
            <a:ext cx="9453318" cy="11236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Υλοποιηση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Έγινε χρήση των </a:t>
            </a:r>
            <a:r>
              <a:rPr lang="en-US" dirty="0"/>
              <a:t>module: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11.0s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 marL="0" indent="0">
              <a:buNone/>
            </a:pPr>
            <a:endParaRPr lang="el-GR" u="sng" dirty="0"/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3093" y="870452"/>
            <a:ext cx="9720072" cy="653003"/>
          </a:xfrm>
        </p:spPr>
        <p:txBody>
          <a:bodyPr>
            <a:normAutofit fontScale="90000"/>
          </a:bodyPr>
          <a:lstStyle/>
          <a:p>
            <a:r>
              <a:rPr lang="el-GR" b="1" dirty="0"/>
              <a:t>ΔΕΔΟΜΕΝΑ ΤΟυ ΕΡΩΤΗΜΑτοσ 2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94425-F47D-8652-2A48-D2A9D02F106D}"/>
              </a:ext>
            </a:extLst>
          </p:cNvPr>
          <p:cNvSpPr txBox="1"/>
          <p:nvPr/>
        </p:nvSpPr>
        <p:spPr>
          <a:xfrm>
            <a:off x="723201" y="1867351"/>
            <a:ext cx="11097088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Επιλέξαμε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2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είδη δυναμικής δρομολόγησης, το OLSR (Optimized Link State Routing) και 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AODVN(Ad hoc </a:t>
            </a:r>
            <a:r>
              <a:rPr lang="en-US" sz="1700" dirty="0">
                <a:latin typeface="Arial" panose="020B0604020202020204" pitchFamily="34" charset="0"/>
                <a:cs typeface="Arial" panose="020B0604020202020204" pitchFamily="34" charset="0"/>
              </a:rPr>
              <a:t>On-Demand Distance Vector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. Το OLSR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AODV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υποστηρίζονται πλήρως από το περιβάλλον του ns-3.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Επιπλέον,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συμπεριλάβαμε τις εξής βιβλιοθήκες: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module </a:t>
            </a:r>
            <a:r>
              <a:rPr lang="en-US" altLang="el-GR" sz="1700" dirty="0" err="1">
                <a:latin typeface="Arial" panose="020B0604020202020204" pitchFamily="34" charset="0"/>
                <a:cs typeface="Arial" panose="020B0604020202020204" pitchFamily="34" charset="0"/>
              </a:rPr>
              <a:t>olsr-helper.h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, ns3/applications-module.h, </a:t>
            </a:r>
            <a:b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internet-module.h.</a:t>
            </a: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l-GR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internet stack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παρέχει τα βασικά επίπεδα πρωτοκόλλων δικτύου που επιτρέπουν την επικοινωνία μεταξύ των κόμβων και λειτουργεί ως σύστημα λογισμικού που υποστηρίζει την αποστολή, λήψη και επεξεργασία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packet sink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που λαμβάνει εισερχόμενα πακέτα και χρησιμοποιείται για τη μέτρηση της δικτυακής κίνησης και της επιτυχούς παράδοσης πακέτων.</a:t>
            </a: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lang="en-US" altLang="el-GR" sz="17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l-GR" altLang="el-GR" sz="17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Το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warm up phase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είναι μια χρονική περίοδος κατά την οποία οι μετρήσεις αγνοούνται σκόπιμα, ώστε να δοθεί χρόνος στο σύστημα να σταθεροποιήσει τα </a:t>
            </a:r>
            <a:r>
              <a:rPr lang="en-US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routing tables </a:t>
            </a:r>
            <a:r>
              <a:rPr lang="el-GR" altLang="el-GR" sz="1700" dirty="0">
                <a:latin typeface="Arial" panose="020B0604020202020204" pitchFamily="34" charset="0"/>
                <a:cs typeface="Arial" panose="020B0604020202020204" pitchFamily="34" charset="0"/>
              </a:rPr>
              <a:t>και τα πρότυπα κίνησης πριν ξεκινήσει η συλλογή ακριβών δεδομένων απόδοσης.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ΥΛΟΠΟΙΗΣΗ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εργασίας, η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024975"/>
            <a:ext cx="3669102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62AF1-DEAC-ACCB-2EB0-FFEC8680A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7D6E0E0-263A-1B94-E1DA-4278AC92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  <a:r>
              <a:rPr lang="en-US" b="1" dirty="0"/>
              <a:t>(1)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7D1A746-4021-C534-26B8-E34D2DC5FB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09882" y="2232599"/>
            <a:ext cx="5477436" cy="4039660"/>
          </a:xfrm>
        </p:spPr>
        <p:txBody>
          <a:bodyPr>
            <a:normAutofit/>
          </a:bodyPr>
          <a:lstStyle/>
          <a:p>
            <a:pPr algn="just"/>
            <a:r>
              <a:rPr lang="el-GR" dirty="0"/>
              <a:t>Με </a:t>
            </a:r>
            <a:r>
              <a:rPr lang="en-US" dirty="0"/>
              <a:t>delay = 5 </a:t>
            </a:r>
            <a:r>
              <a:rPr lang="en-US" dirty="0" err="1"/>
              <a:t>ms</a:t>
            </a:r>
            <a:r>
              <a:rPr lang="en-US" dirty="0"/>
              <a:t> </a:t>
            </a:r>
            <a:r>
              <a:rPr lang="el-GR" dirty="0"/>
              <a:t>στα </a:t>
            </a:r>
            <a:r>
              <a:rPr lang="en-US" dirty="0"/>
              <a:t>node devices 0–1 </a:t>
            </a:r>
            <a:r>
              <a:rPr lang="el-GR" dirty="0"/>
              <a:t>και </a:t>
            </a:r>
            <a:r>
              <a:rPr lang="en-US" dirty="0"/>
              <a:t>double </a:t>
            </a:r>
            <a:r>
              <a:rPr lang="en-US" b="1" dirty="0" err="1"/>
              <a:t>failDownAt</a:t>
            </a:r>
            <a:r>
              <a:rPr lang="en-US" b="1" dirty="0"/>
              <a:t> = </a:t>
            </a:r>
            <a:r>
              <a:rPr lang="el-GR" b="1" dirty="0"/>
              <a:t>6</a:t>
            </a:r>
            <a:r>
              <a:rPr lang="en-US" b="1" dirty="0"/>
              <a:t>.0 s</a:t>
            </a:r>
            <a:r>
              <a:rPr lang="en-US" dirty="0"/>
              <a:t>, </a:t>
            </a:r>
            <a:r>
              <a:rPr lang="en-US" b="1" dirty="0"/>
              <a:t>double </a:t>
            </a:r>
            <a:r>
              <a:rPr lang="en-US" b="1" dirty="0" err="1"/>
              <a:t>failUpAt</a:t>
            </a:r>
            <a:r>
              <a:rPr lang="en-US" b="1" dirty="0"/>
              <a:t> = 3.0 s</a:t>
            </a:r>
            <a:r>
              <a:rPr lang="en-US" dirty="0"/>
              <a:t>,</a:t>
            </a:r>
            <a:r>
              <a:rPr lang="el-GR" dirty="0"/>
              <a:t>έχουμε:</a:t>
            </a:r>
          </a:p>
          <a:p>
            <a:pPr algn="just"/>
            <a:r>
              <a:rPr lang="en-US" dirty="0"/>
              <a:t>4.800s → pre-failure: </a:t>
            </a:r>
            <a:r>
              <a:rPr lang="el-GR" dirty="0"/>
              <a:t>πριν το </a:t>
            </a:r>
            <a:r>
              <a:rPr lang="en-US" dirty="0"/>
              <a:t>link 0–1 </a:t>
            </a:r>
            <a:r>
              <a:rPr lang="el-GR" dirty="0"/>
              <a:t>κατεβεί.</a:t>
            </a:r>
          </a:p>
          <a:p>
            <a:pPr algn="just"/>
            <a:r>
              <a:rPr lang="el-GR" dirty="0"/>
              <a:t>5.400</a:t>
            </a:r>
            <a:r>
              <a:rPr lang="en-US" dirty="0"/>
              <a:t>s → during-failure: </a:t>
            </a:r>
            <a:r>
              <a:rPr lang="el-GR" dirty="0"/>
              <a:t>το </a:t>
            </a:r>
            <a:r>
              <a:rPr lang="en-US" dirty="0"/>
              <a:t>link 0–1 </a:t>
            </a:r>
            <a:r>
              <a:rPr lang="el-GR" dirty="0"/>
              <a:t>είναι κάτω.</a:t>
            </a:r>
          </a:p>
          <a:p>
            <a:pPr algn="just"/>
            <a:r>
              <a:rPr lang="el-GR" dirty="0"/>
              <a:t>9.400</a:t>
            </a:r>
            <a:r>
              <a:rPr lang="en-US" dirty="0"/>
              <a:t>s → post-recovery: </a:t>
            </a:r>
            <a:r>
              <a:rPr lang="el-GR" dirty="0"/>
              <a:t>το </a:t>
            </a:r>
            <a:r>
              <a:rPr lang="en-US" dirty="0"/>
              <a:t>link </a:t>
            </a:r>
            <a:r>
              <a:rPr lang="el-GR" dirty="0"/>
              <a:t>έχει επανέλθει.</a:t>
            </a:r>
          </a:p>
          <a:p>
            <a:pPr algn="just"/>
            <a:r>
              <a:rPr lang="el-GR" dirty="0"/>
              <a:t>12.000</a:t>
            </a:r>
            <a:r>
              <a:rPr lang="en-US" dirty="0"/>
              <a:t>s → final: </a:t>
            </a:r>
            <a:r>
              <a:rPr lang="el-GR" dirty="0"/>
              <a:t>συνολική επίδοση όλης της προσομοίωσης.</a:t>
            </a:r>
            <a:endParaRPr lang="en-US" dirty="0"/>
          </a:p>
        </p:txBody>
      </p:sp>
      <p:sp>
        <p:nvSpPr>
          <p:cNvPr id="6" name="Ορθογώνιο 5">
            <a:extLst>
              <a:ext uri="{FF2B5EF4-FFF2-40B4-BE49-F238E27FC236}">
                <a16:creationId xmlns:a16="http://schemas.microsoft.com/office/drawing/2014/main" id="{DF5E7B91-521C-840F-200F-34F250DCA13C}"/>
              </a:ext>
            </a:extLst>
          </p:cNvPr>
          <p:cNvSpPr/>
          <p:nvPr/>
        </p:nvSpPr>
        <p:spPr>
          <a:xfrm>
            <a:off x="7099738" y="3849839"/>
            <a:ext cx="42593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l-GR" dirty="0">
              <a:solidFill>
                <a:srgbClr val="FF0000"/>
              </a:solidFill>
            </a:endParaRPr>
          </a:p>
        </p:txBody>
      </p:sp>
      <p:pic>
        <p:nvPicPr>
          <p:cNvPr id="4" name="Εικόνα 3">
            <a:extLst>
              <a:ext uri="{FF2B5EF4-FFF2-40B4-BE49-F238E27FC236}">
                <a16:creationId xmlns:a16="http://schemas.microsoft.com/office/drawing/2014/main" id="{3CBD2085-F5C7-4A66-A0A1-1D99C6A1FF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5" y="2232599"/>
            <a:ext cx="3595122" cy="348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760690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4BF3A30D-BA31-418E-8B1E-60852AF86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8" name="Θέση περιεχομένου 7">
            <a:extLst>
              <a:ext uri="{FF2B5EF4-FFF2-40B4-BE49-F238E27FC236}">
                <a16:creationId xmlns:a16="http://schemas.microsoft.com/office/drawing/2014/main" id="{7A9FE8B1-27E8-49F3-BE54-553C8CA7CE8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l-GR" dirty="0"/>
          </a:p>
        </p:txBody>
      </p:sp>
      <p:pic>
        <p:nvPicPr>
          <p:cNvPr id="9" name="Εικόνα 8">
            <a:extLst>
              <a:ext uri="{FF2B5EF4-FFF2-40B4-BE49-F238E27FC236}">
                <a16:creationId xmlns:a16="http://schemas.microsoft.com/office/drawing/2014/main" id="{56955F64-A640-436E-8E49-3DD4FF9F7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3079" y="2624709"/>
            <a:ext cx="3609975" cy="3648075"/>
          </a:xfrm>
          <a:prstGeom prst="rect">
            <a:avLst/>
          </a:prstGeom>
        </p:spPr>
      </p:pic>
      <p:pic>
        <p:nvPicPr>
          <p:cNvPr id="19" name="Εικόνα 18">
            <a:extLst>
              <a:ext uri="{FF2B5EF4-FFF2-40B4-BE49-F238E27FC236}">
                <a16:creationId xmlns:a16="http://schemas.microsoft.com/office/drawing/2014/main" id="{0C987E78-6A08-4E13-AB4B-A94D33490A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866" y="2462783"/>
            <a:ext cx="3124200" cy="39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050291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23E0F-817A-A7CC-B5F5-03219ED59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67C5853-3793-1138-66EF-657A081F2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2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F60EA03-548E-9D94-5308-C8578BD8D5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911352" cy="2416629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Χρησιμοποιήσαμε  </a:t>
            </a:r>
            <a:r>
              <a:rPr lang="en-US" dirty="0"/>
              <a:t>2 </a:t>
            </a:r>
            <a:r>
              <a:rPr lang="el-GR" dirty="0"/>
              <a:t>ειδών </a:t>
            </a:r>
            <a:r>
              <a:rPr lang="en-GB" dirty="0"/>
              <a:t>dynamic routing</a:t>
            </a:r>
            <a:r>
              <a:rPr lang="el-GR" dirty="0"/>
              <a:t> καθώς το </a:t>
            </a:r>
            <a:r>
              <a:rPr lang="en-GB" dirty="0"/>
              <a:t>protocol OLSR </a:t>
            </a:r>
            <a:r>
              <a:rPr lang="el-GR" dirty="0"/>
              <a:t>είναι αρκετά προβλεπτικό κάτι που σημαίνει ότι διατηρεί σε όλες τις χρονικές στιγμές τα </a:t>
            </a:r>
            <a:r>
              <a:rPr lang="en-GB" dirty="0"/>
              <a:t>routing tables</a:t>
            </a:r>
            <a:r>
              <a:rPr lang="el-GR" dirty="0"/>
              <a:t>. Επομένως, δεν υπήρχε κάποια ορατή διαφορά στα αποτελέσματα της χρήσης με την μη-χρήση του </a:t>
            </a:r>
            <a:r>
              <a:rPr lang="en-US" dirty="0"/>
              <a:t>warm-up phase.</a:t>
            </a:r>
            <a:endParaRPr lang="el-GR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Βέβαια, με την χρήση του </a:t>
            </a:r>
            <a:r>
              <a:rPr lang="en-US" altLang="el-GR" dirty="0"/>
              <a:t>AODVN </a:t>
            </a:r>
            <a:r>
              <a:rPr lang="el-GR" altLang="el-GR" dirty="0"/>
              <a:t>τα αποτελέσματα αλλάζουν δραματικά και φαίνεται πράγματι το </a:t>
            </a:r>
            <a:r>
              <a:rPr lang="en-US" altLang="el-GR" dirty="0"/>
              <a:t>warm-up phase </a:t>
            </a:r>
            <a:r>
              <a:rPr lang="el-GR" altLang="el-GR" dirty="0"/>
              <a:t>σε δράση.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986776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D5640-9372-6295-0129-934188953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50BF758-34A8-6D30-B8A4-7E1FA6281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/>
              <a:t>ΑΠΟΤΕΛΕΣΜΑΤΑ ΤΟΥ ΕΡΩΤΗΜΑΤΟΣ 2(</a:t>
            </a:r>
            <a:r>
              <a:rPr lang="en-US" b="1"/>
              <a:t>3</a:t>
            </a:r>
            <a:r>
              <a:rPr lang="el-GR" b="1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8F07E5-1358-7F75-A65F-7BBD09729022}"/>
              </a:ext>
            </a:extLst>
          </p:cNvPr>
          <p:cNvSpPr txBox="1"/>
          <p:nvPr/>
        </p:nvSpPr>
        <p:spPr>
          <a:xfrm>
            <a:off x="9092009" y="2828835"/>
            <a:ext cx="300222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Χρήση του </a:t>
            </a:r>
            <a:r>
              <a:rPr lang="en-US" dirty="0"/>
              <a:t>OLSR </a:t>
            </a:r>
            <a:r>
              <a:rPr lang="el-GR" dirty="0"/>
              <a:t>πρωτοκόλλου </a:t>
            </a:r>
            <a:r>
              <a:rPr lang="en-US" dirty="0"/>
              <a:t>Warm-up phase VS </a:t>
            </a:r>
            <a:r>
              <a:rPr lang="el-GR" dirty="0"/>
              <a:t>Μη-χρήση </a:t>
            </a:r>
            <a:r>
              <a:rPr lang="en-US" dirty="0"/>
              <a:t>Warm-up phase.</a:t>
            </a:r>
            <a:br>
              <a:rPr lang="el-GR" dirty="0"/>
            </a:br>
            <a:endParaRPr lang="en-GB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989FDD-4629-A9A9-4EC3-158B14382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16" y="2240958"/>
            <a:ext cx="4193399" cy="4519100"/>
          </a:xfrm>
          <a:prstGeom prst="rect">
            <a:avLst/>
          </a:prstGeom>
        </p:spPr>
      </p:pic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64F6319-ACE9-D792-D47C-DBE5678E4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862" y="2235869"/>
            <a:ext cx="4193399" cy="452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47219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6CF11-1CC3-9F42-7E4F-1B249347E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CEECF2A2-9FE0-35EA-582E-D48A0B1CC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/>
              <a:t>ΑΠΟΤΕΛΕΣΜΑΤΑ ΤΟΥ ΕΡΩΤΗΜΑΤΟΣ 2(</a:t>
            </a:r>
            <a:r>
              <a:rPr lang="en-US" b="1"/>
              <a:t>3</a:t>
            </a:r>
            <a:r>
              <a:rPr lang="el-GR" b="1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10C20F-846E-940F-1476-0DC231C29BC4}"/>
              </a:ext>
            </a:extLst>
          </p:cNvPr>
          <p:cNvSpPr txBox="1"/>
          <p:nvPr/>
        </p:nvSpPr>
        <p:spPr>
          <a:xfrm>
            <a:off x="9092009" y="2828835"/>
            <a:ext cx="309999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Χρήση του </a:t>
            </a:r>
            <a:r>
              <a:rPr lang="en-US" altLang="el-GR" dirty="0"/>
              <a:t>AODVN </a:t>
            </a:r>
            <a:r>
              <a:rPr lang="el-GR" dirty="0"/>
              <a:t>πρωτοκόλλου</a:t>
            </a:r>
            <a:r>
              <a:rPr lang="en-US" dirty="0"/>
              <a:t> Warm-up phase VS </a:t>
            </a:r>
            <a:r>
              <a:rPr lang="el-GR" dirty="0"/>
              <a:t>Μη-χρήση </a:t>
            </a:r>
            <a:r>
              <a:rPr lang="en-US" dirty="0"/>
              <a:t>Warm-up phase.</a:t>
            </a:r>
            <a:br>
              <a:rPr lang="el-GR" dirty="0"/>
            </a:b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053565-1D0F-6815-AC59-260B29A53F9A}"/>
              </a:ext>
            </a:extLst>
          </p:cNvPr>
          <p:cNvSpPr txBox="1"/>
          <p:nvPr/>
        </p:nvSpPr>
        <p:spPr>
          <a:xfrm>
            <a:off x="2179608" y="2700068"/>
            <a:ext cx="4894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 </a:t>
            </a:r>
            <a:r>
              <a:rPr lang="en-US" b="1" dirty="0" err="1"/>
              <a:t>periptwseis</a:t>
            </a:r>
            <a:r>
              <a:rPr lang="en-US" b="1" dirty="0"/>
              <a:t> </a:t>
            </a:r>
            <a:r>
              <a:rPr lang="en-US" b="1" dirty="0" err="1"/>
              <a:t>xrhshs</a:t>
            </a:r>
            <a:r>
              <a:rPr lang="en-US" b="1" dirty="0"/>
              <a:t> </a:t>
            </a:r>
            <a:r>
              <a:rPr lang="en-US" b="1" dirty="0" err="1"/>
              <a:t>gia</a:t>
            </a:r>
            <a:r>
              <a:rPr lang="en-US" b="1" dirty="0"/>
              <a:t> to </a:t>
            </a:r>
            <a:r>
              <a:rPr lang="en-US" altLang="el-GR" b="1" dirty="0"/>
              <a:t>AODVN!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761849159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65791-9F55-09CB-C866-3B1699FE2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FC7F9E96-BEAE-B353-9BEE-8896293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7940" y="585741"/>
            <a:ext cx="11167872" cy="1499616"/>
          </a:xfrm>
        </p:spPr>
        <p:txBody>
          <a:bodyPr/>
          <a:lstStyle/>
          <a:p>
            <a:r>
              <a:rPr lang="el-GR" b="1" dirty="0"/>
              <a:t>ΑΠΟΤΕΛΕΣΜΑΤΑ ΤΟΥ ΕΡΩΤΗΜΑΤΟΣ 2(</a:t>
            </a:r>
            <a:r>
              <a:rPr lang="en-US" b="1" dirty="0"/>
              <a:t>4</a:t>
            </a:r>
            <a:r>
              <a:rPr lang="el-GR" b="1" dirty="0"/>
              <a:t>)</a:t>
            </a:r>
            <a:endParaRPr lang="el-GR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67213A-454A-54C2-C324-820384A49FE3}"/>
              </a:ext>
            </a:extLst>
          </p:cNvPr>
          <p:cNvSpPr txBox="1"/>
          <p:nvPr/>
        </p:nvSpPr>
        <p:spPr>
          <a:xfrm>
            <a:off x="9204609" y="2015312"/>
            <a:ext cx="3415782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dirty="0"/>
              <a:t>Περίπτωση όπου:</a:t>
            </a:r>
            <a:br>
              <a:rPr lang="el-GR" dirty="0"/>
            </a:br>
            <a:endParaRPr lang="en-GB" dirty="0"/>
          </a:p>
          <a:p>
            <a:r>
              <a:rPr lang="el-GR" dirty="0"/>
              <a:t>Χειρισμός αποτυχίας σύνδεσης. </a:t>
            </a:r>
            <a:br>
              <a:rPr lang="el-GR" dirty="0"/>
            </a:br>
            <a:r>
              <a:rPr lang="el-GR" dirty="0"/>
              <a:t> Δηλαδή, </a:t>
            </a:r>
            <a:br>
              <a:rPr lang="en-US" dirty="0"/>
            </a:br>
            <a:r>
              <a:rPr lang="en-GB" dirty="0"/>
              <a:t>How a network reacts </a:t>
            </a:r>
            <a:br>
              <a:rPr lang="en-GB" dirty="0"/>
            </a:br>
            <a:r>
              <a:rPr lang="en-GB" dirty="0"/>
              <a:t>to link failures</a:t>
            </a:r>
          </a:p>
          <a:p>
            <a:r>
              <a:rPr lang="en-GB" dirty="0"/>
              <a:t>How routing reconverges</a:t>
            </a:r>
          </a:p>
          <a:p>
            <a:r>
              <a:rPr lang="en-GB" dirty="0"/>
              <a:t>How throughput collapses and </a:t>
            </a:r>
            <a:br>
              <a:rPr lang="en-GB" dirty="0"/>
            </a:br>
            <a:r>
              <a:rPr lang="en-GB" dirty="0"/>
              <a:t>then recovers</a:t>
            </a:r>
          </a:p>
          <a:p>
            <a:br>
              <a:rPr lang="el-GR" dirty="0"/>
            </a:br>
            <a:endParaRPr lang="en-GB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EFDCF45-9009-91B9-F004-1CE34F237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3" y="2085357"/>
            <a:ext cx="4506191" cy="472321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6FB2B53-CE98-3CFB-7A00-4D520A26A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839" y="2085357"/>
            <a:ext cx="4555770" cy="472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990915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anchor="ctr">
            <a:normAutofit/>
          </a:bodyPr>
          <a:lstStyle/>
          <a:p>
            <a:r>
              <a:rPr lang="en-US" b="1" dirty="0"/>
              <a:t>GitHub</a:t>
            </a:r>
            <a:r>
              <a:rPr lang="el-GR" b="1" dirty="0"/>
              <a:t> </a:t>
            </a:r>
            <a:r>
              <a:rPr lang="en-US" b="1" dirty="0"/>
              <a:t>link</a:t>
            </a:r>
            <a:endParaRPr lang="el-GR" b="1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6E9FFE-28CA-03E3-8840-E040B54316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059" y="2079813"/>
            <a:ext cx="6539402" cy="3939988"/>
          </a:xfrm>
          <a:prstGeom prst="rect">
            <a:avLst/>
          </a:prstGeom>
          <a:noFill/>
        </p:spPr>
      </p:pic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014037" cy="3762294"/>
          </a:xfrm>
        </p:spPr>
        <p:txBody>
          <a:bodyPr>
            <a:normAutofit/>
          </a:bodyPr>
          <a:lstStyle/>
          <a:p>
            <a:r>
              <a:rPr lang="el-GR" sz="1800" dirty="0"/>
              <a:t>Τα αρχεία του κώδικα καθώς και η</a:t>
            </a:r>
            <a:r>
              <a:rPr lang="en-US" sz="1800" dirty="0"/>
              <a:t> </a:t>
            </a:r>
            <a:r>
              <a:rPr lang="el-GR" sz="1800" dirty="0"/>
              <a:t>παρουσίαση βρίσκονται στο εξής </a:t>
            </a:r>
            <a:r>
              <a:rPr lang="en-US" sz="1800" dirty="0"/>
              <a:t>link: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l-GR" dirty="0"/>
            </a:br>
            <a:endParaRPr lang="el-GR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8" tooltip="https://ns3-code.com/how-to-begin-implement-network-failover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https://ns3-code.com/how-to-begin-implement-network-failover-in-ns3/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https://ns3-code.com/how-to-begin-implement-dynamic-routing-in-ns3/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</a:t>
            </a: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10" tooltip="https://networksimulationtools.com/how-to-run-netanim-in-ns3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https://networksimulationtools.com/how-to-run-netanim-in-ns3/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88A2F88-55C5-4ED1-9541-807C65424763}">
  <ds:schemaRefs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elements/1.1/"/>
    <ds:schemaRef ds:uri="http://www.w3.org/XML/1998/namespace"/>
    <ds:schemaRef ds:uri="71af3243-3dd4-4a8d-8c0d-dd76da1f02a5"/>
    <ds:schemaRef ds:uri="16c05727-aa75-4e4a-9b5f-8a80a1165891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843</TotalTime>
  <Words>968</Words>
  <Application>Microsoft Office PowerPoint</Application>
  <PresentationFormat>Ευρεία οθόνη</PresentationFormat>
  <Paragraphs>91</Paragraphs>
  <Slides>17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5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17</vt:i4>
      </vt:variant>
    </vt:vector>
  </HeadingPairs>
  <TitlesOfParts>
    <vt:vector size="23" baseType="lpstr">
      <vt:lpstr>Arial</vt:lpstr>
      <vt:lpstr>Calibri</vt:lpstr>
      <vt:lpstr>Tw Cen MT</vt:lpstr>
      <vt:lpstr>Wingdings</vt:lpstr>
      <vt:lpstr>Wingdings 3</vt:lpstr>
      <vt:lpstr>Ολοκλήρωμα</vt:lpstr>
      <vt:lpstr>ΠΡΟΣΟΜΟΙΩΣΗ ΔΙΚΤΥΟΥ ΜΕ NS-3</vt:lpstr>
      <vt:lpstr>Το Κυριο θεμα της εργασιασ</vt:lpstr>
      <vt:lpstr>ΒΗΜΑΤΑ ΥΛΟΠΟΙΗΣΗΣ ΤΗΣ ΕΡΓΑΣΙΑΣ (1)</vt:lpstr>
      <vt:lpstr>ΒΗΜΑΤΑ ΥΛΟΠΟΙΗΣΗΣ ΤΗΣ ΕΡΓΑΣΙΑΣ (2)</vt:lpstr>
      <vt:lpstr>Δεδομενα του ΕΡΩΤΗΜΑτοσ 1</vt:lpstr>
      <vt:lpstr>Παρουσίαση του PowerPoint</vt:lpstr>
      <vt:lpstr>αποτελεσματα του ερωτηματοσ 1 </vt:lpstr>
      <vt:lpstr>ΔΕΔΟΜΕΝΑ ΤΟυ ΕΡΩΤΗΜΑτοσ 2</vt:lpstr>
      <vt:lpstr>ΥΛΟΠΟΙΗΣΗ ΤΟΥ ΕΡΩΤΗΜΑΤΟΣ 2</vt:lpstr>
      <vt:lpstr>ΑΠΟΤΕΛΕΣΜΑΤΑ ΤΟΥ ΕΡΩΤΗΜΑΤΟΣ 2(1)</vt:lpstr>
      <vt:lpstr>Παρουσίαση του PowerPoint</vt:lpstr>
      <vt:lpstr>ΑΠΟΤΕΛΕΣΜΑΤΑ ΤΟΥ ΕΡΩΤΗΜΑΤΟΣ 2(2)</vt:lpstr>
      <vt:lpstr>ΑΠΟΤΕΛΕΣΜΑΤΑ ΤΟΥ ΕΡΩΤΗΜΑΤΟΣ 2(3)</vt:lpstr>
      <vt:lpstr>ΑΠΟΤΕΛΕΣΜΑΤΑ ΤΟΥ ΕΡΩΤΗΜΑΤΟΣ 2(3)</vt:lpstr>
      <vt:lpstr>ΑΠΟΤΕΛΕΣΜΑΤΑ ΤΟΥ ΕΡΩΤΗΜΑΤΟΣ 2(4)</vt:lpstr>
      <vt:lpstr>GitHub link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210</cp:revision>
  <dcterms:created xsi:type="dcterms:W3CDTF">2025-10-19T19:42:56Z</dcterms:created>
  <dcterms:modified xsi:type="dcterms:W3CDTF">2025-11-20T07:53:30Z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