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93" r:id="rId14"/>
    <p:sldId id="294" r:id="rId15"/>
    <p:sldId id="296" r:id="rId16"/>
    <p:sldId id="295" r:id="rId17"/>
    <p:sldId id="288" r:id="rId18"/>
    <p:sldId id="281" r:id="rId19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95" autoAdjust="0"/>
  </p:normalViewPr>
  <p:slideViewPr>
    <p:cSldViewPr snapToGrid="0">
      <p:cViewPr varScale="1">
        <p:scale>
          <a:sx n="76" d="100"/>
          <a:sy n="76" d="100"/>
        </p:scale>
        <p:origin x="38" y="1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19/11/2025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 dirty="0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 dirty="0"/>
              <a:t>Κάντε κλικ στο εικονίδιο για να προσθέσετε εικόνα</a:t>
            </a:r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19/11/2025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-60366" y="0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/>
              <a:t>GitHub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Draw.io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Δεδομενα του ΕΡΩΤΗΜΑτοσ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Υλοποιηση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ΤΟυ ΕΡΩΤΗΜΑτοσ 2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94425-F47D-8652-2A48-D2A9D02F106D}"/>
              </a:ext>
            </a:extLst>
          </p:cNvPr>
          <p:cNvSpPr txBox="1"/>
          <p:nvPr/>
        </p:nvSpPr>
        <p:spPr>
          <a:xfrm>
            <a:off x="723201" y="1867351"/>
            <a:ext cx="11097088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Επιλέξαμε την δυναμική δρομολόγηση OLSR (Optimized Link State </a:t>
            </a:r>
            <a:r>
              <a:rPr lang="el-GR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Routing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). Το OLSR ανταποκρίνεται γρήγορα σε αλλαγές της τοπολογίας και υποστηρίζεται πλήρως στο περιβάλλον του ns-3.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Επιπλέον,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συμπεριλάβαμε τις εξής βιβλιοθήκες: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module 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olsr-helper.h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ns3/applications-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module.h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b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internet-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module.h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 stack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αποστολή, λήψη και επεξεργασία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packet sink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που λαμβάνει εισερχόμενα πακέτα και χρησιμοποιείται για τη μέτρηση της δικτυακής κίνησης και της επιτυχούς παράδοσης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warm up phase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είναι μια χρονική περίοδος κατά την οποία οι μετρήσεις αγνοούνται σκόπιμα, ώστε να δοθεί χρόνος στο σύστημα να σταθεροποιήσει τους πίνακες δρομολόγησης, τις ουρές και τα πρότυπα κίνησης πριν ξεκινήσει η συλλογή ακριβών δεδομένων απόδοσης.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24975"/>
            <a:ext cx="3669102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62AF1-DEAC-ACCB-2EB0-FFEC8680A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7D6E0E0-263A-1B94-E1DA-4278AC92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</a:t>
            </a:r>
            <a:r>
              <a:rPr lang="en-US" b="1" dirty="0"/>
              <a:t>(1)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7D1A746-4021-C534-26B8-E34D2DC5F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09882" y="2232599"/>
            <a:ext cx="5477436" cy="4039660"/>
          </a:xfrm>
        </p:spPr>
        <p:txBody>
          <a:bodyPr>
            <a:normAutofit/>
          </a:bodyPr>
          <a:lstStyle/>
          <a:p>
            <a:pPr algn="just"/>
            <a:r>
              <a:rPr lang="el-GR" dirty="0"/>
              <a:t>Με </a:t>
            </a:r>
            <a:r>
              <a:rPr lang="en-US" dirty="0"/>
              <a:t>delay = 5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l-GR" dirty="0"/>
              <a:t>στα </a:t>
            </a:r>
            <a:r>
              <a:rPr lang="en-US" dirty="0"/>
              <a:t>node devices 0–1 </a:t>
            </a:r>
            <a:r>
              <a:rPr lang="el-GR" dirty="0"/>
              <a:t>και </a:t>
            </a:r>
            <a:r>
              <a:rPr lang="en-US" dirty="0"/>
              <a:t>double </a:t>
            </a:r>
            <a:r>
              <a:rPr lang="en-US" b="1" dirty="0" err="1"/>
              <a:t>failDownAt</a:t>
            </a:r>
            <a:r>
              <a:rPr lang="en-US" b="1" dirty="0"/>
              <a:t> = 2.0 s</a:t>
            </a:r>
            <a:r>
              <a:rPr lang="en-US" dirty="0"/>
              <a:t>, </a:t>
            </a:r>
            <a:r>
              <a:rPr lang="en-US" b="1" dirty="0"/>
              <a:t>double </a:t>
            </a:r>
            <a:r>
              <a:rPr lang="en-US" b="1" dirty="0" err="1"/>
              <a:t>failUpAt</a:t>
            </a:r>
            <a:r>
              <a:rPr lang="en-US" b="1" dirty="0"/>
              <a:t> = 3.0 s</a:t>
            </a:r>
            <a:r>
              <a:rPr lang="en-US" dirty="0"/>
              <a:t>,</a:t>
            </a:r>
            <a:r>
              <a:rPr lang="el-GR" dirty="0"/>
              <a:t>έχουμε:</a:t>
            </a:r>
          </a:p>
          <a:p>
            <a:pPr algn="just"/>
            <a:r>
              <a:rPr lang="en-US" dirty="0"/>
              <a:t>4.800s → pre-failure: </a:t>
            </a:r>
            <a:r>
              <a:rPr lang="el-GR" dirty="0"/>
              <a:t>πριν το </a:t>
            </a:r>
            <a:r>
              <a:rPr lang="en-US" dirty="0"/>
              <a:t>link 0–1 </a:t>
            </a:r>
            <a:r>
              <a:rPr lang="el-GR" dirty="0"/>
              <a:t>κατεβεί.</a:t>
            </a:r>
          </a:p>
          <a:p>
            <a:pPr algn="just"/>
            <a:r>
              <a:rPr lang="el-GR" dirty="0"/>
              <a:t>5.400</a:t>
            </a:r>
            <a:r>
              <a:rPr lang="en-US" dirty="0"/>
              <a:t>s → during-failure: </a:t>
            </a:r>
            <a:r>
              <a:rPr lang="el-GR" dirty="0"/>
              <a:t>το </a:t>
            </a:r>
            <a:r>
              <a:rPr lang="en-US" dirty="0"/>
              <a:t>link 0–1 </a:t>
            </a:r>
            <a:r>
              <a:rPr lang="el-GR" dirty="0"/>
              <a:t>είναι κάτω.</a:t>
            </a:r>
          </a:p>
          <a:p>
            <a:pPr algn="just"/>
            <a:r>
              <a:rPr lang="el-GR" dirty="0"/>
              <a:t>9.400</a:t>
            </a:r>
            <a:r>
              <a:rPr lang="en-US" dirty="0"/>
              <a:t>s → post-recovery: </a:t>
            </a:r>
            <a:r>
              <a:rPr lang="el-GR" dirty="0"/>
              <a:t>το </a:t>
            </a:r>
            <a:r>
              <a:rPr lang="en-US" dirty="0"/>
              <a:t>link </a:t>
            </a:r>
            <a:r>
              <a:rPr lang="el-GR" dirty="0"/>
              <a:t>έχει επανέλθει.</a:t>
            </a:r>
          </a:p>
          <a:p>
            <a:pPr algn="just"/>
            <a:r>
              <a:rPr lang="el-GR" dirty="0"/>
              <a:t>12.000</a:t>
            </a:r>
            <a:r>
              <a:rPr lang="en-US" dirty="0"/>
              <a:t>s → final: </a:t>
            </a:r>
            <a:r>
              <a:rPr lang="el-GR" dirty="0"/>
              <a:t>συνολική επίδοση όλης της προσομοίωσης.</a:t>
            </a:r>
            <a:endParaRPr lang="en-US" dirty="0"/>
          </a:p>
        </p:txBody>
      </p:sp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DF5E7B91-521C-840F-200F-34F250DCA13C}"/>
              </a:ext>
            </a:extLst>
          </p:cNvPr>
          <p:cNvSpPr/>
          <p:nvPr/>
        </p:nvSpPr>
        <p:spPr>
          <a:xfrm>
            <a:off x="7099738" y="3849839"/>
            <a:ext cx="42593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l-GR" dirty="0">
              <a:solidFill>
                <a:srgbClr val="FF0000"/>
              </a:solidFill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3CBD2085-F5C7-4A66-A0A1-1D99C6A1F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95" y="2232598"/>
            <a:ext cx="4476070" cy="433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76069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3E0F-817A-A7CC-B5F5-03219ED59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7C5853-3793-1138-66EF-657A081F2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2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F60EA03-548E-9D94-5308-C8578BD8D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911352" cy="2416629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Χρήση του </a:t>
            </a:r>
            <a:r>
              <a:rPr lang="en-US" dirty="0"/>
              <a:t>warm-up phase</a:t>
            </a:r>
            <a:r>
              <a:rPr lang="el-GR" dirty="0"/>
              <a:t> στην περίπτωση αυτού του πειράματος δεν έχει κάποια παρατηρήσιμη διαφορά καθώς:</a:t>
            </a:r>
            <a:br>
              <a:rPr lang="el-GR" dirty="0"/>
            </a:br>
            <a:r>
              <a:rPr lang="el-GR" dirty="0"/>
              <a:t>	</a:t>
            </a:r>
            <a:br>
              <a:rPr lang="el-GR" dirty="0"/>
            </a:br>
            <a:r>
              <a:rPr lang="el-GR" dirty="0"/>
              <a:t>	Χρησιμοποιήσαμε το </a:t>
            </a:r>
            <a:r>
              <a:rPr lang="en-GB" dirty="0"/>
              <a:t>dynamic routing protocol OLSR </a:t>
            </a:r>
            <a:r>
              <a:rPr lang="el-GR" dirty="0"/>
              <a:t>που είναι αρκετά προβλεπτικό κάτι που σημαίνει ότι διατηρεί σε όλες τις χρονικές στιγμές τα </a:t>
            </a:r>
            <a:r>
              <a:rPr lang="en-GB" dirty="0"/>
              <a:t>routing tables</a:t>
            </a:r>
            <a:r>
              <a:rPr lang="el-GR" dirty="0"/>
              <a:t>. Επομένως, μπορεί να είναι και πιο γρήγορο και από το </a:t>
            </a:r>
            <a:r>
              <a:rPr lang="en-GB" dirty="0"/>
              <a:t>warm-up phase </a:t>
            </a:r>
            <a:r>
              <a:rPr lang="el-GR" dirty="0"/>
              <a:t>που έχουμε μοντελοποιήσει.</a:t>
            </a:r>
            <a:br>
              <a:rPr lang="el-GR" dirty="0"/>
            </a:br>
            <a:endParaRPr lang="el-G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986776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D5640-9372-6295-0129-934188953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50BF758-34A8-6D30-B8A4-7E1FA6281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/>
              <a:t>ΑΠΟΤΕΛΕΣΜΑΤΑ ΤΟΥ ΕΡΩΤΗΜΑΤΟΣ 2(</a:t>
            </a:r>
            <a:r>
              <a:rPr lang="en-US" b="1"/>
              <a:t>3</a:t>
            </a:r>
            <a:r>
              <a:rPr lang="el-GR" b="1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8F07E5-1358-7F75-A65F-7BBD09729022}"/>
              </a:ext>
            </a:extLst>
          </p:cNvPr>
          <p:cNvSpPr txBox="1"/>
          <p:nvPr/>
        </p:nvSpPr>
        <p:spPr>
          <a:xfrm>
            <a:off x="9092008" y="2846925"/>
            <a:ext cx="321195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dirty="0"/>
              <a:t>Γίνεται χρήση του </a:t>
            </a:r>
            <a:r>
              <a:rPr lang="en-US" dirty="0"/>
              <a:t>Warm-up phase VS </a:t>
            </a:r>
            <a:r>
              <a:rPr lang="el-GR" dirty="0"/>
              <a:t>Μη-χρήση</a:t>
            </a:r>
            <a:br>
              <a:rPr lang="el-GR" dirty="0"/>
            </a:br>
            <a:r>
              <a:rPr lang="en-US" dirty="0"/>
              <a:t>Warm-up phase.</a:t>
            </a:r>
            <a:br>
              <a:rPr lang="el-GR" dirty="0"/>
            </a:br>
            <a:r>
              <a:rPr lang="el-GR" dirty="0"/>
              <a:t>με τις αντίστοιχες τιμές:</a:t>
            </a:r>
            <a:br>
              <a:rPr lang="en-US" dirty="0"/>
            </a:br>
            <a:r>
              <a:rPr lang="en-US" dirty="0"/>
              <a:t> 	</a:t>
            </a:r>
            <a:r>
              <a:rPr lang="el-GR" dirty="0"/>
              <a:t>(Παρατηρούμε για τους λόγους που προαναφέραμε ότι δεν υπάρχει διαφορά </a:t>
            </a:r>
            <a:br>
              <a:rPr lang="el-GR" dirty="0"/>
            </a:br>
            <a:r>
              <a:rPr lang="el-GR" dirty="0"/>
              <a:t>ανάμεσα στις 2 περιπτώσεις.)</a:t>
            </a:r>
            <a:endParaRPr lang="en-GB" dirty="0"/>
          </a:p>
          <a:p>
            <a:br>
              <a:rPr lang="el-GR" dirty="0"/>
            </a:br>
            <a:endParaRPr lang="en-GB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989FDD-4629-A9A9-4EC3-158B14382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16" y="2240958"/>
            <a:ext cx="4193399" cy="4519100"/>
          </a:xfrm>
          <a:prstGeom prst="rect">
            <a:avLst/>
          </a:prstGeom>
        </p:spPr>
      </p:pic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64F6319-ACE9-D792-D47C-DBE5678E4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3862" y="2235869"/>
            <a:ext cx="4193399" cy="452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47219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5791-9F55-09CB-C866-3B1699FE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7F9E96-BEAE-B353-9BEE-8896293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4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67213A-454A-54C2-C324-820384A49FE3}"/>
              </a:ext>
            </a:extLst>
          </p:cNvPr>
          <p:cNvSpPr txBox="1"/>
          <p:nvPr/>
        </p:nvSpPr>
        <p:spPr>
          <a:xfrm>
            <a:off x="9204609" y="2015312"/>
            <a:ext cx="34157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Περίπτωση όπου:</a:t>
            </a:r>
            <a:br>
              <a:rPr lang="el-GR" dirty="0"/>
            </a:br>
            <a:endParaRPr lang="en-GB" dirty="0"/>
          </a:p>
          <a:p>
            <a:r>
              <a:rPr lang="el-GR" dirty="0"/>
              <a:t>Χειρισμός αποτυχίας σύνδεσης. </a:t>
            </a:r>
            <a:br>
              <a:rPr lang="el-GR" dirty="0"/>
            </a:br>
            <a:r>
              <a:rPr lang="el-GR" dirty="0"/>
              <a:t> Δηλαδή, </a:t>
            </a:r>
            <a:br>
              <a:rPr lang="en-US" dirty="0"/>
            </a:br>
            <a:r>
              <a:rPr lang="en-GB" dirty="0"/>
              <a:t>How a network reacts </a:t>
            </a:r>
            <a:br>
              <a:rPr lang="en-GB" dirty="0"/>
            </a:br>
            <a:r>
              <a:rPr lang="en-GB" dirty="0"/>
              <a:t>to link failures</a:t>
            </a:r>
          </a:p>
          <a:p>
            <a:r>
              <a:rPr lang="en-GB" dirty="0"/>
              <a:t>How routing reconverges</a:t>
            </a:r>
          </a:p>
          <a:p>
            <a:r>
              <a:rPr lang="en-GB" dirty="0"/>
              <a:t>How throughput collapses and </a:t>
            </a:r>
            <a:br>
              <a:rPr lang="en-GB" dirty="0"/>
            </a:br>
            <a:r>
              <a:rPr lang="en-GB" dirty="0"/>
              <a:t>then recovers</a:t>
            </a:r>
          </a:p>
          <a:p>
            <a:br>
              <a:rPr lang="el-GR" dirty="0"/>
            </a:br>
            <a:endParaRPr lang="en-GB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EFDCF45-9009-91B9-F004-1CE34F237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3" y="2085357"/>
            <a:ext cx="4506191" cy="472321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FB2B53-CE98-3CFB-7A00-4D520A26A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839" y="2085357"/>
            <a:ext cx="4555770" cy="472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99091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anchor="ctr">
            <a:normAutofit/>
          </a:bodyPr>
          <a:lstStyle/>
          <a:p>
            <a:r>
              <a:rPr lang="en-US" b="1" dirty="0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E9FFE-28CA-03E3-8840-E040B5431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059" y="2079813"/>
            <a:ext cx="6539402" cy="3939988"/>
          </a:xfrm>
          <a:prstGeom prst="rect">
            <a:avLst/>
          </a:prstGeom>
          <a:noFill/>
        </p:spPr>
      </p:pic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014037" cy="3762294"/>
          </a:xfrm>
        </p:spPr>
        <p:txBody>
          <a:bodyPr>
            <a:normAutofit/>
          </a:bodyPr>
          <a:lstStyle/>
          <a:p>
            <a:r>
              <a:rPr lang="el-GR" sz="1800" dirty="0"/>
              <a:t>Τα αρχεία του κώδικα καθώς και η</a:t>
            </a:r>
            <a:r>
              <a:rPr lang="en-US" sz="1800" dirty="0"/>
              <a:t> </a:t>
            </a:r>
            <a:r>
              <a:rPr lang="el-GR" sz="1800" dirty="0"/>
              <a:t>παρουσίαση βρίσκονται στο εξής </a:t>
            </a:r>
            <a:r>
              <a:rPr lang="en-US" sz="1800" dirty="0"/>
              <a:t>link: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l-GR" dirty="0"/>
            </a:br>
            <a:endParaRPr lang="el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8" tooltip="https://ns3-code.com/how-to-begin-implement-network-failover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https://ns3-code.com/how-to-begin-implement-network-failover-in-ns3/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https://ns3-code.com/how-to-begin-implement-dynamic-routing-in-ns3/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https://networksimulationtools.com/how-to-run-netanim-in-ns3/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www.w3.org/XML/1998/namespace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16c05727-aa75-4e4a-9b5f-8a80a1165891"/>
    <ds:schemaRef ds:uri="http://schemas.microsoft.com/office/infopath/2007/PartnerControls"/>
    <ds:schemaRef ds:uri="71af3243-3dd4-4a8d-8c0d-dd76da1f02a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679</TotalTime>
  <Words>959</Words>
  <Application>Microsoft Office PowerPoint</Application>
  <PresentationFormat>Widescreen</PresentationFormat>
  <Paragraphs>88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PowerPoint Presentation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ΕΡΩΤΗΜΑΤΟΣ 2(2)</vt:lpstr>
      <vt:lpstr>ΑΠΟΤΕΛΕΣΜΑΤΑ ΤΟΥ ΕΡΩΤΗΜΑΤΟΣ 2(3)</vt:lpstr>
      <vt:lpstr>ΑΠΟΤΕΛΕΣΜΑΤΑ ΤΟΥ ΕΡΩΤΗΜΑΤΟΣ 2(4)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kostas gillis</cp:lastModifiedBy>
  <cp:revision>196</cp:revision>
  <dcterms:created xsi:type="dcterms:W3CDTF">2025-10-19T19:42:56Z</dcterms:created>
  <dcterms:modified xsi:type="dcterms:W3CDTF">2025-11-19T13:55:23Z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