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56" r:id="rId5"/>
    <p:sldId id="277" r:id="rId6"/>
    <p:sldId id="279" r:id="rId7"/>
    <p:sldId id="282" r:id="rId8"/>
    <p:sldId id="284" r:id="rId9"/>
    <p:sldId id="283" r:id="rId10"/>
    <p:sldId id="278" r:id="rId11"/>
    <p:sldId id="290" r:id="rId12"/>
    <p:sldId id="287" r:id="rId13"/>
    <p:sldId id="293" r:id="rId14"/>
    <p:sldId id="294" r:id="rId15"/>
    <p:sldId id="295" r:id="rId16"/>
    <p:sldId id="288" r:id="rId17"/>
    <p:sldId id="281" r:id="rId18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6395" autoAdjust="0"/>
  </p:normalViewPr>
  <p:slideViewPr>
    <p:cSldViewPr snapToGrid="0">
      <p:cViewPr varScale="1">
        <p:scale>
          <a:sx n="85" d="100"/>
          <a:sy n="85" d="100"/>
        </p:scale>
        <p:origin x="58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18/11/2025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 dirty="0"/>
              <a:t>Κάντε κλικ για να επεξεργαστείτε τον υπότιτλο του υποδείγματος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18/11/2025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ns3-code.com/how-to-begin-implement-network-failover-in-ns3/" TargetMode="External"/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10" Type="http://schemas.openxmlformats.org/officeDocument/2006/relationships/hyperlink" Target="https://networksimulationtools.com/how-to-run-netanim-in-ns3/" TargetMode="External"/><Relationship Id="rId4" Type="http://schemas.openxmlformats.org/officeDocument/2006/relationships/hyperlink" Target="https://www.nsnam.org/docs/tutorial/html/" TargetMode="External"/><Relationship Id="rId9" Type="http://schemas.openxmlformats.org/officeDocument/2006/relationships/hyperlink" Target="https://ns3-code.com/how-to-begin-implement-dynamic-routing-in-ns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-60366" y="0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Το Κυριο θεμα της εργασιασ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Προσομοίωση δικτύου με την χρήση του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simulator NS-3.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Κύριοι στόχοι της εργασίας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: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destination</a:t>
            </a:r>
            <a:r>
              <a:rPr lang="en-GB" dirty="0"/>
              <a:t> and waiting for the destination to send it back</a:t>
            </a:r>
            <a:r>
              <a:rPr lang="el-GR" dirty="0"/>
              <a:t>» ).</a:t>
            </a: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</a:p>
          <a:p>
            <a:pPr marL="173736" lvl="1" indent="0" algn="just">
              <a:buNone/>
            </a:pPr>
            <a:endParaRPr lang="el-GR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(1)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516" y="1900996"/>
            <a:ext cx="10051148" cy="254488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l-GR" sz="2000" dirty="0"/>
              <a:t>Χρησιμοποιήσαμε τα εξής εργαλεία για την υλοποίηση της άσκησης :</a:t>
            </a:r>
            <a:endParaRPr lang="en-US" sz="2000" dirty="0"/>
          </a:p>
          <a:p>
            <a:pPr marL="0" indent="0">
              <a:buNone/>
            </a:pPr>
            <a:br>
              <a:rPr lang="el-GR" sz="2000" dirty="0"/>
            </a:br>
            <a:endParaRPr lang="el-GR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VMware Workstation Pro</a:t>
            </a:r>
            <a:r>
              <a:rPr lang="el-GR" sz="2000" dirty="0"/>
              <a:t> για το </a:t>
            </a:r>
            <a:r>
              <a:rPr lang="en-US" sz="2000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Discord </a:t>
            </a:r>
            <a:r>
              <a:rPr lang="el-GR" sz="2000" dirty="0"/>
              <a:t>και </a:t>
            </a:r>
            <a:r>
              <a:rPr lang="en-US" sz="2000" dirty="0"/>
              <a:t>GitHub </a:t>
            </a:r>
            <a:r>
              <a:rPr lang="el-GR" sz="2000" dirty="0"/>
              <a:t>για την επικοινωνία και τον συγχρονισμό των μελών της ομάδας.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Draw.io </a:t>
            </a:r>
            <a:r>
              <a:rPr lang="el-GR" sz="2000" dirty="0"/>
              <a:t>για την υλοποίηση σχεδιαγραμμάτων/τοπολογίας</a:t>
            </a:r>
            <a:r>
              <a:rPr lang="el-G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828" y="4559485"/>
            <a:ext cx="2010569" cy="2010569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79448"/>
            <a:ext cx="2119364" cy="2119364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994" y="4857097"/>
            <a:ext cx="2319248" cy="164171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932" y="4857097"/>
            <a:ext cx="2347674" cy="1320567"/>
          </a:xfrm>
          <a:prstGeom prst="rect">
            <a:avLst/>
          </a:prstGeom>
        </p:spPr>
      </p:pic>
      <p:pic>
        <p:nvPicPr>
          <p:cNvPr id="4" name="Εικόνα 3">
            <a:extLst>
              <a:ext uri="{FF2B5EF4-FFF2-40B4-BE49-F238E27FC236}">
                <a16:creationId xmlns:a16="http://schemas.microsoft.com/office/drawing/2014/main" id="{2A35B6A1-721A-4FBA-8F36-F670825F9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722" y="4330949"/>
            <a:ext cx="2347674" cy="228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0835080" cy="1278615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</a:t>
            </a:r>
            <a:r>
              <a:rPr lang="el-GR" sz="4800" b="1" dirty="0"/>
              <a:t>2</a:t>
            </a:r>
            <a:r>
              <a:rPr lang="en-US" sz="4800" b="1" dirty="0"/>
              <a:t>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" y="2512468"/>
            <a:ext cx="6567466" cy="3771791"/>
          </a:xfrm>
        </p:spPr>
        <p:txBody>
          <a:bodyPr>
            <a:no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Ως γλώσσα προγραμματισμού επιλέχθηκε η </a:t>
            </a:r>
            <a:r>
              <a:rPr lang="en-US" dirty="0"/>
              <a:t>C++.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  <a:p>
            <a:pPr marL="0" indent="0" algn="just">
              <a:buNone/>
            </a:pPr>
            <a:endParaRPr lang="el-GR" dirty="0"/>
          </a:p>
          <a:p>
            <a:pPr marL="0" indent="0">
              <a:buNone/>
            </a:pP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Δεδομενα του ΕΡΩΤΗΜΑτοσ 1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033" y="2317531"/>
            <a:ext cx="11105199" cy="34794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το πρώτο ερώτημα της εργασίας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1</a:t>
            </a:r>
            <a:r>
              <a:rPr lang="en-US" sz="2000" dirty="0"/>
              <a:t>.</a:t>
            </a:r>
            <a:r>
              <a:rPr lang="el-GR" sz="2000" dirty="0"/>
              <a:t>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2</a:t>
            </a:r>
            <a:r>
              <a:rPr lang="en-US" sz="2000" dirty="0"/>
              <a:t>.</a:t>
            </a:r>
            <a:r>
              <a:rPr lang="el-GR" sz="2000" dirty="0"/>
              <a:t> </a:t>
            </a:r>
            <a:r>
              <a:rPr lang="en-US" sz="2000" dirty="0"/>
              <a:t>Y</a:t>
            </a:r>
            <a:r>
              <a:rPr lang="el-GR" sz="2000" dirty="0"/>
              <a:t>λοποιήθηκαν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3.</a:t>
            </a:r>
            <a:r>
              <a:rPr lang="en-US" sz="2000" dirty="0"/>
              <a:t>T</a:t>
            </a:r>
            <a:r>
              <a:rPr lang="el-GR" sz="2000" dirty="0"/>
              <a:t>έλος, εκτελέστηκε η προσομοίωση και καταγράφτηκαν τα δεδομένα ροής με χρήση του </a:t>
            </a:r>
            <a:r>
              <a:rPr lang="en-US" sz="2000" dirty="0"/>
              <a:t>module 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627529"/>
            <a:ext cx="9453318" cy="11236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/>
              <a:t>Υλοποιηση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Έγινε χρήση των </a:t>
            </a:r>
            <a:r>
              <a:rPr lang="en-US" dirty="0"/>
              <a:t>module: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= 11.0s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  <p:pic>
        <p:nvPicPr>
          <p:cNvPr id="2" name="Εικόνα 1">
            <a:extLst>
              <a:ext uri="{FF2B5EF4-FFF2-40B4-BE49-F238E27FC236}">
                <a16:creationId xmlns:a16="http://schemas.microsoft.com/office/drawing/2014/main" id="{72465A12-DE92-430F-83D8-A8CA456E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84" y="4396609"/>
            <a:ext cx="47053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34898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 marL="0" indent="0">
              <a:buNone/>
            </a:pPr>
            <a:endParaRPr lang="el-GR" u="sng" dirty="0"/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C8A6D00-8650-44C1-ADBF-B2BBD782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093" y="870452"/>
            <a:ext cx="9720072" cy="653003"/>
          </a:xfrm>
        </p:spPr>
        <p:txBody>
          <a:bodyPr>
            <a:normAutofit fontScale="90000"/>
          </a:bodyPr>
          <a:lstStyle/>
          <a:p>
            <a:r>
              <a:rPr lang="el-GR" b="1" dirty="0"/>
              <a:t>ΔΕΔΟΜΕΝΑ ΤΟυ ΕΡΩΤΗΜΑτοσ 2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94425-F47D-8652-2A48-D2A9D02F106D}"/>
              </a:ext>
            </a:extLst>
          </p:cNvPr>
          <p:cNvSpPr txBox="1"/>
          <p:nvPr/>
        </p:nvSpPr>
        <p:spPr>
          <a:xfrm>
            <a:off x="723201" y="1867351"/>
            <a:ext cx="11097088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Επιλέξαμε την δυναμική δρομολόγηση OLSR (Optimized Link State </a:t>
            </a:r>
            <a:r>
              <a:rPr lang="el-GR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Routing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). Το OLSR ανταποκρίνεται γρήγορα σε αλλαγές της τοπολογίας και υποστηρίζεται πλήρως στο περιβάλλον του ns-3.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Επιπλέον,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συμπεριλάβαμε τις εξής βιβλιοθήκες: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module </a:t>
            </a:r>
            <a:r>
              <a:rPr lang="en-US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olsr-helper.h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, ns3/applications-</a:t>
            </a:r>
            <a:r>
              <a:rPr lang="en-US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module.h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b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internet-</a:t>
            </a:r>
            <a:r>
              <a:rPr lang="en-US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module.h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l-GR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internet stack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παρέχει τα βασικά επίπεδα πρωτοκόλλων δικτύου που επιτρέπουν την επικοινωνία μεταξύ των κόμβων και λειτουργεί ως σύστημα λογισμικού που υποστηρίζει την αποστολή, λήψη και επεξεργασία πακέτων.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packet sink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που λαμβάνει εισερχόμενα πακέτα και χρησιμοποιείται για τη μέτρηση της δικτυακής κίνησης και της επιτυχούς παράδοσης πακέτων.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warm up phase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είναι μια χρονική περίοδος κατά την οποία οι μετρήσεις αγνοούνται σκόπιμα, ώστε να δοθεί χρόνος στο σύστημα να σταθεροποιήσει τους πίνακες δρομολόγησης, τις ουρές και τα πρότυπα κίνησης πριν ξεκινήσει η συλλογή ακριβών δεδομένων απόδοσης.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58405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40B5DCF-D7F8-4FA1-B6A2-C54F072B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ΥΛΟΠΟΙΗΣΗ ΤΟΥ ΕΡΩΤΗΜΑΤΟΣ 2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26EC1D-ADB3-40C8-9BDF-B44BD50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466" y="2249294"/>
            <a:ext cx="9720073" cy="4023360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Όσον αφορά το δεύτερο ερώτημα της εργασίας, η τοπολογία που δημιουργήθηκε είναι η εξής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l-GR" dirty="0"/>
          </a:p>
        </p:txBody>
      </p:sp>
      <p:sp>
        <p:nvSpPr>
          <p:cNvPr id="5" name="AutoShape 4" descr="image.png">
            <a:extLst>
              <a:ext uri="{FF2B5EF4-FFF2-40B4-BE49-F238E27FC236}">
                <a16:creationId xmlns:a16="http://schemas.microsoft.com/office/drawing/2014/main" id="{9EC8DA17-04F4-4836-B00D-8C2179B2E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107478B-F89B-47FA-B8F9-EAC2BCD55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024975"/>
            <a:ext cx="3669102" cy="324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5880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62AF1-DEAC-ACCB-2EB0-FFEC8680A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7D6E0E0-263A-1B94-E1DA-4278AC92A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</a:t>
            </a:r>
            <a:r>
              <a:rPr lang="en-US" b="1" dirty="0"/>
              <a:t>(1)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7D1A746-4021-C534-26B8-E34D2DC5FB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09882" y="2232599"/>
            <a:ext cx="5477436" cy="4039660"/>
          </a:xfrm>
        </p:spPr>
        <p:txBody>
          <a:bodyPr>
            <a:normAutofit/>
          </a:bodyPr>
          <a:lstStyle/>
          <a:p>
            <a:pPr algn="just"/>
            <a:r>
              <a:rPr lang="el-GR" dirty="0"/>
              <a:t>Με </a:t>
            </a:r>
            <a:r>
              <a:rPr lang="en-US" dirty="0"/>
              <a:t>delay = 5 </a:t>
            </a:r>
            <a:r>
              <a:rPr lang="en-US" dirty="0" err="1"/>
              <a:t>ms</a:t>
            </a:r>
            <a:r>
              <a:rPr lang="en-US" dirty="0"/>
              <a:t> </a:t>
            </a:r>
            <a:r>
              <a:rPr lang="el-GR" dirty="0"/>
              <a:t>στα </a:t>
            </a:r>
            <a:r>
              <a:rPr lang="en-US" dirty="0"/>
              <a:t>node devices 0–1 </a:t>
            </a:r>
            <a:r>
              <a:rPr lang="el-GR" dirty="0"/>
              <a:t>και </a:t>
            </a:r>
            <a:r>
              <a:rPr lang="en-US" dirty="0"/>
              <a:t>double </a:t>
            </a:r>
            <a:r>
              <a:rPr lang="en-US" b="1" dirty="0" err="1"/>
              <a:t>failDownAt</a:t>
            </a:r>
            <a:r>
              <a:rPr lang="en-US" b="1" dirty="0"/>
              <a:t> = 2.0 s</a:t>
            </a:r>
            <a:r>
              <a:rPr lang="en-US" dirty="0"/>
              <a:t>, </a:t>
            </a:r>
            <a:r>
              <a:rPr lang="en-US" b="1" dirty="0"/>
              <a:t>double </a:t>
            </a:r>
            <a:r>
              <a:rPr lang="en-US" b="1" dirty="0" err="1"/>
              <a:t>failUpAt</a:t>
            </a:r>
            <a:r>
              <a:rPr lang="en-US" b="1" dirty="0"/>
              <a:t> = 3.0 s</a:t>
            </a:r>
            <a:r>
              <a:rPr lang="en-US" dirty="0"/>
              <a:t>,</a:t>
            </a:r>
            <a:r>
              <a:rPr lang="el-GR" dirty="0"/>
              <a:t>έχουμε:</a:t>
            </a:r>
          </a:p>
          <a:p>
            <a:pPr algn="just"/>
            <a:r>
              <a:rPr lang="en-US" dirty="0"/>
              <a:t>4.800s → pre-failure: </a:t>
            </a:r>
            <a:r>
              <a:rPr lang="el-GR" dirty="0"/>
              <a:t>πριν το </a:t>
            </a:r>
            <a:r>
              <a:rPr lang="en-US" dirty="0"/>
              <a:t>link 0–1 </a:t>
            </a:r>
            <a:r>
              <a:rPr lang="el-GR" dirty="0"/>
              <a:t>κατεβεί.</a:t>
            </a:r>
          </a:p>
          <a:p>
            <a:pPr algn="just"/>
            <a:r>
              <a:rPr lang="el-GR" dirty="0"/>
              <a:t>5.400</a:t>
            </a:r>
            <a:r>
              <a:rPr lang="en-US" dirty="0"/>
              <a:t>s → during-failure: </a:t>
            </a:r>
            <a:r>
              <a:rPr lang="el-GR" dirty="0"/>
              <a:t>το </a:t>
            </a:r>
            <a:r>
              <a:rPr lang="en-US" dirty="0"/>
              <a:t>link 0–1 </a:t>
            </a:r>
            <a:r>
              <a:rPr lang="el-GR" dirty="0"/>
              <a:t>είναι κάτω.</a:t>
            </a:r>
          </a:p>
          <a:p>
            <a:pPr algn="just"/>
            <a:r>
              <a:rPr lang="el-GR" dirty="0"/>
              <a:t>9.400</a:t>
            </a:r>
            <a:r>
              <a:rPr lang="en-US" dirty="0"/>
              <a:t>s → post-recovery: </a:t>
            </a:r>
            <a:r>
              <a:rPr lang="el-GR" dirty="0"/>
              <a:t>το </a:t>
            </a:r>
            <a:r>
              <a:rPr lang="en-US" dirty="0"/>
              <a:t>link </a:t>
            </a:r>
            <a:r>
              <a:rPr lang="el-GR" dirty="0"/>
              <a:t>έχει επανέλθει.</a:t>
            </a:r>
          </a:p>
          <a:p>
            <a:pPr algn="just"/>
            <a:r>
              <a:rPr lang="el-GR" dirty="0"/>
              <a:t>12.000</a:t>
            </a:r>
            <a:r>
              <a:rPr lang="en-US" dirty="0"/>
              <a:t>s → final: </a:t>
            </a:r>
            <a:r>
              <a:rPr lang="el-GR" dirty="0"/>
              <a:t>συνολική επίδοση όλης της προσομοίωσης.</a:t>
            </a:r>
            <a:endParaRPr lang="en-US" dirty="0"/>
          </a:p>
        </p:txBody>
      </p:sp>
      <p:sp>
        <p:nvSpPr>
          <p:cNvPr id="6" name="Ορθογώνιο 5">
            <a:extLst>
              <a:ext uri="{FF2B5EF4-FFF2-40B4-BE49-F238E27FC236}">
                <a16:creationId xmlns:a16="http://schemas.microsoft.com/office/drawing/2014/main" id="{DF5E7B91-521C-840F-200F-34F250DCA13C}"/>
              </a:ext>
            </a:extLst>
          </p:cNvPr>
          <p:cNvSpPr/>
          <p:nvPr/>
        </p:nvSpPr>
        <p:spPr>
          <a:xfrm>
            <a:off x="7099738" y="3849839"/>
            <a:ext cx="42593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endParaRPr lang="el-GR" dirty="0">
              <a:solidFill>
                <a:srgbClr val="FF0000"/>
              </a:solidFill>
            </a:endParaRPr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3CBD2085-F5C7-4A66-A0A1-1D99C6A1FF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95" y="2232598"/>
            <a:ext cx="4476070" cy="4334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760690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23E0F-817A-A7CC-B5F5-03219ED59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67C5853-3793-1138-66EF-657A081F2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2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F60EA03-548E-9D94-5308-C8578BD8D5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Χρήση του </a:t>
            </a:r>
            <a:r>
              <a:rPr lang="en-US" dirty="0"/>
              <a:t>warm-up phase!</a:t>
            </a:r>
            <a:endParaRPr lang="el-GR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8366C-622C-7125-D484-05F4642D4D20}"/>
              </a:ext>
            </a:extLst>
          </p:cNvPr>
          <p:cNvSpPr txBox="1"/>
          <p:nvPr/>
        </p:nvSpPr>
        <p:spPr>
          <a:xfrm>
            <a:off x="3288494" y="4244195"/>
            <a:ext cx="56150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Screen shot for showing what we have done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863986776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65791-9F55-09CB-C866-3B1699FE2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FC7F9E96-BEAE-B353-9BEE-88962939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3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08114C50-3F0F-9504-F66D-9FAB2B7084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050039" cy="961697"/>
          </a:xfrm>
        </p:spPr>
        <p:txBody>
          <a:bodyPr>
            <a:normAutofit/>
          </a:bodyPr>
          <a:lstStyle/>
          <a:p>
            <a:r>
              <a:rPr lang="el-GR" dirty="0"/>
              <a:t>Χρήση του </a:t>
            </a:r>
            <a:r>
              <a:rPr lang="en-US" dirty="0"/>
              <a:t>warm-up phase! </a:t>
            </a:r>
            <a:r>
              <a:rPr lang="el-GR" dirty="0"/>
              <a:t>Σε κάποιο άλλο </a:t>
            </a:r>
            <a:r>
              <a:rPr lang="en-US" dirty="0"/>
              <a:t>Instance!</a:t>
            </a:r>
            <a:endParaRPr lang="el-GR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F7718D-C5F6-1E2D-1546-669E78D251C3}"/>
              </a:ext>
            </a:extLst>
          </p:cNvPr>
          <p:cNvSpPr txBox="1"/>
          <p:nvPr/>
        </p:nvSpPr>
        <p:spPr>
          <a:xfrm>
            <a:off x="3288494" y="4244195"/>
            <a:ext cx="561501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Screen shot for showing what we have done</a:t>
            </a:r>
            <a:r>
              <a:rPr lang="en-US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464990915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C00DAD0-3F5C-4917-A7D5-A3D10C314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anchor="ctr">
            <a:normAutofit/>
          </a:bodyPr>
          <a:lstStyle/>
          <a:p>
            <a:r>
              <a:rPr lang="en-US" b="1" dirty="0"/>
              <a:t>GitHub</a:t>
            </a:r>
            <a:r>
              <a:rPr lang="el-GR" b="1" dirty="0"/>
              <a:t> </a:t>
            </a:r>
            <a:r>
              <a:rPr lang="en-US" b="1" dirty="0"/>
              <a:t>link</a:t>
            </a:r>
            <a:endParaRPr lang="el-GR" b="1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6E9FFE-28CA-03E3-8840-E040B5431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059" y="2079813"/>
            <a:ext cx="6539402" cy="3939988"/>
          </a:xfrm>
          <a:prstGeom prst="rect">
            <a:avLst/>
          </a:prstGeom>
          <a:noFill/>
        </p:spPr>
      </p:pic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FF4638-58AE-4F9F-BEB5-E0E22CA065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014037" cy="3762294"/>
          </a:xfrm>
        </p:spPr>
        <p:txBody>
          <a:bodyPr>
            <a:normAutofit/>
          </a:bodyPr>
          <a:lstStyle/>
          <a:p>
            <a:r>
              <a:rPr lang="el-GR" sz="1800" dirty="0"/>
              <a:t>Τα αρχεία του κώδικα καθώς και η</a:t>
            </a:r>
            <a:r>
              <a:rPr lang="en-US" sz="1800" dirty="0"/>
              <a:t> </a:t>
            </a:r>
            <a:r>
              <a:rPr lang="el-GR" sz="1800" dirty="0"/>
              <a:t>παρουσίαση βρίσκονται στο εξής </a:t>
            </a:r>
            <a:r>
              <a:rPr lang="en-US" sz="1800" dirty="0"/>
              <a:t>link: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l-GR" dirty="0"/>
            </a:br>
            <a:endParaRPr lang="el-G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767610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47055"/>
          </a:xfrm>
        </p:spPr>
        <p:txBody>
          <a:bodyPr>
            <a:normAutofit fontScale="25000" lnSpcReduction="20000"/>
          </a:bodyPr>
          <a:lstStyle/>
          <a:p>
            <a:r>
              <a:rPr lang="el-GR" sz="4800" b="1" dirty="0"/>
              <a:t>Για το </a:t>
            </a:r>
            <a:r>
              <a:rPr lang="en-US" sz="4800" b="1" dirty="0"/>
              <a:t>setup </a:t>
            </a:r>
            <a:r>
              <a:rPr lang="el-GR" sz="4800" b="1" dirty="0"/>
              <a:t>της εργασίας και το ερώτημα 1</a:t>
            </a:r>
            <a:r>
              <a:rPr lang="en-US" sz="4800" b="1" dirty="0"/>
              <a:t>: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Για το ερώτημα 2</a:t>
            </a:r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l-GR" sz="48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8" tooltip="https://ns3-code.com/how-to-begin-implement-network-failover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https://ns3-code.com/how-to-begin-implement-network-failover-in-ns3/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https://ns3-code.com/how-to-begin-implement-dynamic-routing-in-ns3/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</a:t>
            </a: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https://networksimulationtools.com/how-to-run-netanim-in-ns3/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88A2F88-55C5-4ED1-9541-807C65424763}">
  <ds:schemaRefs>
    <ds:schemaRef ds:uri="http://schemas.microsoft.com/office/2006/metadata/properties"/>
    <ds:schemaRef ds:uri="http://www.w3.org/XML/1998/namespace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16c05727-aa75-4e4a-9b5f-8a80a1165891"/>
    <ds:schemaRef ds:uri="http://schemas.microsoft.com/office/infopath/2007/PartnerControls"/>
    <ds:schemaRef ds:uri="71af3243-3dd4-4a8d-8c0d-dd76da1f02a5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554</TotalTime>
  <Words>854</Words>
  <Application>Microsoft Office PowerPoint</Application>
  <PresentationFormat>Ευρεία οθόνη</PresentationFormat>
  <Paragraphs>83</Paragraphs>
  <Slides>14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14</vt:i4>
      </vt:variant>
    </vt:vector>
  </HeadingPairs>
  <TitlesOfParts>
    <vt:vector size="20" baseType="lpstr">
      <vt:lpstr>Arial</vt:lpstr>
      <vt:lpstr>Calibri</vt:lpstr>
      <vt:lpstr>Tw Cen MT</vt:lpstr>
      <vt:lpstr>Wingdings</vt:lpstr>
      <vt:lpstr>Wingdings 3</vt:lpstr>
      <vt:lpstr>Ολοκλήρωμα</vt:lpstr>
      <vt:lpstr>ΠΡΟΣΟΜΟΙΩΣΗ ΔΙΚΤΥΟΥ ΜΕ NS-3</vt:lpstr>
      <vt:lpstr>Το Κυριο θεμα της εργασιασ</vt:lpstr>
      <vt:lpstr>ΒΗΜΑΤΑ ΥΛΟΠΟΙΗΣΗΣ ΤΗΣ ΕΡΓΑΣΙΑΣ (1)</vt:lpstr>
      <vt:lpstr>ΒΗΜΑΤΑ ΥΛΟΠΟΙΗΣΗΣ ΤΗΣ ΕΡΓΑΣΙΑΣ (2)</vt:lpstr>
      <vt:lpstr>Δεδομενα του ΕΡΩΤΗΜΑτοσ 1</vt:lpstr>
      <vt:lpstr>Παρουσίαση του PowerPoint</vt:lpstr>
      <vt:lpstr>αποτελεσματα του ερωτηματοσ 1 </vt:lpstr>
      <vt:lpstr>ΔΕΔΟΜΕΝΑ ΤΟυ ΕΡΩΤΗΜΑτοσ 2</vt:lpstr>
      <vt:lpstr>ΥΛΟΠΟΙΗΣΗ ΤΟΥ ΕΡΩΤΗΜΑΤΟΣ 2</vt:lpstr>
      <vt:lpstr>ΑΠΟΤΕΛΕΣΜΑΤΑ ΤΟΥ ΕΡΩΤΗΜΑΤΟΣ 2(1)</vt:lpstr>
      <vt:lpstr>ΑΠΟΤΕΛΕΣΜΑΤΑ ΤΟΥ ΕΡΩΤΗΜΑΤΟΣ 2(2)</vt:lpstr>
      <vt:lpstr>ΑΠΟΤΕΛΕΣΜΑΤΑ ΤΟΥ ΕΡΩΤΗΜΑΤΟΣ 2(3)</vt:lpstr>
      <vt:lpstr>GitHub link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Georgia</cp:lastModifiedBy>
  <cp:revision>188</cp:revision>
  <dcterms:created xsi:type="dcterms:W3CDTF">2025-10-19T19:42:56Z</dcterms:created>
  <dcterms:modified xsi:type="dcterms:W3CDTF">2025-11-18T16:05:33Z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